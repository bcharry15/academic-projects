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2.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3.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1127eeb4ff64bbe" /><Relationship Type="http://schemas.openxmlformats.org/officeDocument/2006/relationships/extended-properties" Target="/docProps/app.xml" Id="Rf029f707f26a423a" /><Relationship Type="http://schemas.openxmlformats.org/officeDocument/2006/relationships/officeDocument" Target="/ppt/presentation.xml" Id="Rde24b5dd708d4106" /></Relationships>
</file>

<file path=ppt/presentation.xml><?xml version="1.0" encoding="utf-8"?>
<p:presentation xmlns:p="http://schemas.openxmlformats.org/presentationml/2006/main">
  <p:sldMasterIdLst>
    <p:sldMasterId xmlns:r="http://schemas.openxmlformats.org/officeDocument/2006/relationships" id="2147483648" r:id="R5d52e6ec8cc64785"/>
  </p:sldMasterIdLst>
  <p:notesMasterIdLst>
    <p:notesMasterId xmlns:r="http://schemas.openxmlformats.org/officeDocument/2006/relationships" r:id="R4d926e8312f44aa4"/>
  </p:notesMasterIdLst>
  <p:sldIdLst>
    <p:sldId xmlns:r="http://schemas.openxmlformats.org/officeDocument/2006/relationships" id="256" r:id="Re82544ba14284f08"/>
    <p:sldId xmlns:r="http://schemas.openxmlformats.org/officeDocument/2006/relationships" id="257" r:id="Rd89e3c9aa52b4dd7"/>
    <p:sldId xmlns:r="http://schemas.openxmlformats.org/officeDocument/2006/relationships" id="258" r:id="Rf5af07efef7d4fa8"/>
    <p:sldId xmlns:r="http://schemas.openxmlformats.org/officeDocument/2006/relationships" id="259" r:id="R3cb53af66bc94e9c"/>
    <p:sldId xmlns:r="http://schemas.openxmlformats.org/officeDocument/2006/relationships" id="260" r:id="R68d2f6c2a0ce41a0"/>
    <p:sldId xmlns:r="http://schemas.openxmlformats.org/officeDocument/2006/relationships" id="261" r:id="R6f46fd420f4b4ec4"/>
    <p:sldId xmlns:r="http://schemas.openxmlformats.org/officeDocument/2006/relationships" id="262" r:id="R80f44392199c4ff9"/>
    <p:sldId xmlns:r="http://schemas.openxmlformats.org/officeDocument/2006/relationships" id="263" r:id="R333576613900488c"/>
    <p:sldId xmlns:r="http://schemas.openxmlformats.org/officeDocument/2006/relationships" id="264" r:id="Rcdd42985dff6410e"/>
    <p:sldId xmlns:r="http://schemas.openxmlformats.org/officeDocument/2006/relationships" id="265" r:id="R51f235f863ed4ea8"/>
    <p:sldId xmlns:r="http://schemas.openxmlformats.org/officeDocument/2006/relationships" id="266" r:id="R28751c56a54a4b0c"/>
    <p:sldId xmlns:r="http://schemas.openxmlformats.org/officeDocument/2006/relationships" id="267" r:id="R88ffc4d866034207"/>
    <p:sldId xmlns:r="http://schemas.openxmlformats.org/officeDocument/2006/relationships" id="268" r:id="R80806654acd94940"/>
    <p:sldId xmlns:r="http://schemas.openxmlformats.org/officeDocument/2006/relationships" id="269" r:id="R41a307e5b5ac4ed8"/>
    <p:sldId xmlns:r="http://schemas.openxmlformats.org/officeDocument/2006/relationships" id="270" r:id="R00a7c978b6054677"/>
    <p:sldId xmlns:r="http://schemas.openxmlformats.org/officeDocument/2006/relationships" id="271" r:id="R028f5b78248b4f22"/>
    <p:sldId xmlns:r="http://schemas.openxmlformats.org/officeDocument/2006/relationships" id="272" r:id="R499242452af14d70"/>
    <p:sldId xmlns:r="http://schemas.openxmlformats.org/officeDocument/2006/relationships" id="273" r:id="Ra9db912ed19c436e"/>
    <p:sldId xmlns:r="http://schemas.openxmlformats.org/officeDocument/2006/relationships" id="274" r:id="Raf2d8a0ce07c4ee7"/>
    <p:sldId xmlns:r="http://schemas.openxmlformats.org/officeDocument/2006/relationships" id="275" r:id="Rd75564f2e3cb4de0"/>
    <p:sldId xmlns:r="http://schemas.openxmlformats.org/officeDocument/2006/relationships" id="276" r:id="Rf567211fd1014c5c"/>
    <p:sldId xmlns:r="http://schemas.openxmlformats.org/officeDocument/2006/relationships" id="277" r:id="R498dd161deb44be5"/>
    <p:sldId xmlns:r="http://schemas.openxmlformats.org/officeDocument/2006/relationships" id="278" r:id="R2a05146e2a714ec7"/>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9235e9958fe54efb" /><Relationship Type="http://schemas.openxmlformats.org/officeDocument/2006/relationships/slideMaster" Target="/ppt/slideMasters/slideMaster1.xml" Id="R5d52e6ec8cc64785" /><Relationship Type="http://schemas.openxmlformats.org/officeDocument/2006/relationships/notesMaster" Target="/ppt/notesMasters/notesMaster1.xml" Id="R4d926e8312f44aa4" /><Relationship Type="http://schemas.openxmlformats.org/officeDocument/2006/relationships/presProps" Target="/ppt/presProps.xml" Id="R31112d6fb9ef423b" /><Relationship Type="http://schemas.openxmlformats.org/officeDocument/2006/relationships/viewProps" Target="/ppt/viewProps.xml" Id="R9742c213dc084129" /><Relationship Type="http://schemas.openxmlformats.org/officeDocument/2006/relationships/tableStyles" Target="/ppt/tableStyles.xml" Id="R422e9d91992f48a5" /><Relationship Type="http://schemas.openxmlformats.org/officeDocument/2006/relationships/slide" Target="/ppt/slides/slide1.xml" Id="Re82544ba14284f08" /><Relationship Type="http://schemas.openxmlformats.org/officeDocument/2006/relationships/slide" Target="/ppt/slides/slide2.xml" Id="Rd89e3c9aa52b4dd7" /><Relationship Type="http://schemas.openxmlformats.org/officeDocument/2006/relationships/slide" Target="/ppt/slides/slide3.xml" Id="Rf5af07efef7d4fa8" /><Relationship Type="http://schemas.openxmlformats.org/officeDocument/2006/relationships/slide" Target="/ppt/slides/slide4.xml" Id="R3cb53af66bc94e9c" /><Relationship Type="http://schemas.openxmlformats.org/officeDocument/2006/relationships/slide" Target="/ppt/slides/slide5.xml" Id="R68d2f6c2a0ce41a0" /><Relationship Type="http://schemas.openxmlformats.org/officeDocument/2006/relationships/slide" Target="/ppt/slides/slide6.xml" Id="R6f46fd420f4b4ec4" /><Relationship Type="http://schemas.openxmlformats.org/officeDocument/2006/relationships/slide" Target="/ppt/slides/slide7.xml" Id="R80f44392199c4ff9" /><Relationship Type="http://schemas.openxmlformats.org/officeDocument/2006/relationships/slide" Target="/ppt/slides/slide8.xml" Id="R333576613900488c" /><Relationship Type="http://schemas.openxmlformats.org/officeDocument/2006/relationships/slide" Target="/ppt/slides/slide9.xml" Id="Rcdd42985dff6410e" /><Relationship Type="http://schemas.openxmlformats.org/officeDocument/2006/relationships/slide" Target="/ppt/slides/slide10.xml" Id="R51f235f863ed4ea8" /><Relationship Type="http://schemas.openxmlformats.org/officeDocument/2006/relationships/slide" Target="/ppt/slides/slide11.xml" Id="R28751c56a54a4b0c" /><Relationship Type="http://schemas.openxmlformats.org/officeDocument/2006/relationships/slide" Target="/ppt/slides/slide12.xml" Id="R88ffc4d866034207" /><Relationship Type="http://schemas.openxmlformats.org/officeDocument/2006/relationships/slide" Target="/ppt/slides/slide13.xml" Id="R80806654acd94940" /><Relationship Type="http://schemas.openxmlformats.org/officeDocument/2006/relationships/slide" Target="/ppt/slides/slide14.xml" Id="R41a307e5b5ac4ed8" /><Relationship Type="http://schemas.openxmlformats.org/officeDocument/2006/relationships/slide" Target="/ppt/slides/slide15.xml" Id="R00a7c978b6054677" /><Relationship Type="http://schemas.openxmlformats.org/officeDocument/2006/relationships/slide" Target="/ppt/slides/slide16.xml" Id="R028f5b78248b4f22" /><Relationship Type="http://schemas.openxmlformats.org/officeDocument/2006/relationships/slide" Target="/ppt/slides/slide17.xml" Id="R499242452af14d70" /><Relationship Type="http://schemas.openxmlformats.org/officeDocument/2006/relationships/slide" Target="/ppt/slides/slide18.xml" Id="Ra9db912ed19c436e" /><Relationship Type="http://schemas.openxmlformats.org/officeDocument/2006/relationships/slide" Target="/ppt/slides/slide19.xml" Id="Raf2d8a0ce07c4ee7" /><Relationship Type="http://schemas.openxmlformats.org/officeDocument/2006/relationships/slide" Target="/ppt/slides/slide20.xml" Id="Rd75564f2e3cb4de0" /><Relationship Type="http://schemas.openxmlformats.org/officeDocument/2006/relationships/slide" Target="/ppt/slides/slide21.xml" Id="Rf567211fd1014c5c" /><Relationship Type="http://schemas.openxmlformats.org/officeDocument/2006/relationships/slide" Target="/ppt/slides/slide22.xml" Id="R498dd161deb44be5" /><Relationship Type="http://schemas.openxmlformats.org/officeDocument/2006/relationships/slide" Target="/ppt/slides/slide23.xml" Id="R2a05146e2a714e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8c90a2eee5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d84187887742d0" /><Relationship Type="http://schemas.openxmlformats.org/officeDocument/2006/relationships/notesMaster" Target="/ppt/notesMasters/notesMaster1.xml" Id="R6bcd6cf6654a40b2"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b3ad4dc9104935" /><Relationship Type="http://schemas.openxmlformats.org/officeDocument/2006/relationships/notesMaster" Target="/ppt/notesMasters/notesMaster1.xml" Id="R2dd519236f1540f5"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fc3bf31a874c4c" /><Relationship Type="http://schemas.openxmlformats.org/officeDocument/2006/relationships/notesMaster" Target="/ppt/notesMasters/notesMaster1.xml" Id="R00aae0f9e74746b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468979a12b4957" /><Relationship Type="http://schemas.openxmlformats.org/officeDocument/2006/relationships/notesMaster" Target="/ppt/notesMasters/notesMaster1.xml" Id="R8b53504745f141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1358bd2901a14907" /><Relationship Type="http://schemas.openxmlformats.org/officeDocument/2006/relationships/notesMaster" Target="/ppt/notesMasters/notesMaster1.xml" Id="R082cb3ee8af54d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889dcdf6a734df1" /><Relationship Type="http://schemas.openxmlformats.org/officeDocument/2006/relationships/notesMaster" Target="/ppt/notesMasters/notesMaster1.xml" Id="R68979b51055b4b46"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af59deef5240c1" /><Relationship Type="http://schemas.openxmlformats.org/officeDocument/2006/relationships/notesMaster" Target="/ppt/notesMasters/notesMaster1.xml" Id="Rb285340101254dfa" /></Relationships>
</file>

<file path=ppt/notesSlides/_rels/notesSlide8.xml.rels>&#65279;<?xml version="1.0" encoding="utf-8"?><Relationships xmlns="http://schemas.openxmlformats.org/package/2006/relationships"><Relationship Type="http://schemas.openxmlformats.org/officeDocument/2006/relationships/slide" Target="/ppt/slides/slide8.xml" Id="R8b87e8d7483c418b" /><Relationship Type="http://schemas.openxmlformats.org/officeDocument/2006/relationships/notesMaster" Target="/ppt/notesMasters/notesMaster1.xml" Id="R05f4c8f100c94cf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e82690557643a6" /><Relationship Type="http://schemas.openxmlformats.org/officeDocument/2006/relationships/notesMaster" Target="/ppt/notesMasters/notesMaster1.xml" Id="R77aebe12cf9d4ec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2bd7d5e6e74558" /><Relationship Type="http://schemas.openxmlformats.org/officeDocument/2006/relationships/notesMaster" Target="/ppt/notesMasters/notesMaster1.xml" Id="Rf29fe8e3fc9e495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3b2fb9394c34510" /><Relationship Type="http://schemas.openxmlformats.org/officeDocument/2006/relationships/notesMaster" Target="/ppt/notesMasters/notesMaster1.xml" Id="R0654f0e0c1c04f3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8e70b9fa1aa4067" /><Relationship Type="http://schemas.openxmlformats.org/officeDocument/2006/relationships/notesMaster" Target="/ppt/notesMasters/notesMaster1.xml" Id="R066113d6fb1143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3de90d0695d4ca7" /><Relationship Type="http://schemas.openxmlformats.org/officeDocument/2006/relationships/notesMaster" Target="/ppt/notesMasters/notesMaster1.xml" Id="R7b5bbccc06c645b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d49d304d9849da" /><Relationship Type="http://schemas.openxmlformats.org/officeDocument/2006/relationships/notesMaster" Target="/ppt/notesMasters/notesMaster1.xml" Id="R1e1b5e83983544f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b9f30820de44b8" /><Relationship Type="http://schemas.openxmlformats.org/officeDocument/2006/relationships/notesMaster" Target="/ppt/notesMasters/notesMaster1.xml" Id="R664719ee147646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966c5df250b40de" /><Relationship Type="http://schemas.openxmlformats.org/officeDocument/2006/relationships/notesMaster" Target="/ppt/notesMasters/notesMaster1.xml" Id="Rd3f2e3aa37ce4d1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46bbc1bd81f443b" /><Relationship Type="http://schemas.openxmlformats.org/officeDocument/2006/relationships/notesMaster" Target="/ppt/notesMasters/notesMaster1.xml" Id="Rba7e22c88ca3420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2a00f5ce5b43d9" /><Relationship Type="http://schemas.openxmlformats.org/officeDocument/2006/relationships/notesMaster" Target="/ppt/notesMasters/notesMaster1.xml" Id="Rcea866789e504c32"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d695ad77a804066" /><Relationship Type="http://schemas.openxmlformats.org/officeDocument/2006/relationships/notesMaster" Target="/ppt/notesMasters/notesMaster1.xml" Id="Rbfb8bdf199b843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e551a34b12a438a" /><Relationship Type="http://schemas.openxmlformats.org/officeDocument/2006/relationships/notesMaster" Target="/ppt/notesMasters/notesMaster1.xml" Id="R8c0e87476be5480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11f8b22e1814093" /><Relationship Type="http://schemas.openxmlformats.org/officeDocument/2006/relationships/notesMaster" Target="/ppt/notesMasters/notesMaster1.xml" Id="Rd4f4204260bb407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839715362ac4d89" /><Relationship Type="http://schemas.openxmlformats.org/officeDocument/2006/relationships/notesMaster" Target="/ppt/notesMasters/notesMaster1.xml" Id="Rdad1cf7883c6427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b29f0972f19484e" /><Relationship Type="http://schemas.openxmlformats.org/officeDocument/2006/relationships/notesMaster" Target="/ppt/notesMasters/notesMaster1.xml" Id="Re892980735de45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Presentamos dos proyectos independientes en Colab que trabajan con ChestMNIST: una RNA que recibe características HOG y una CNN que aprende características de las imágenes. Integrantes según ambos notebooks: Brayan Charry, Julian Narvaez y Jhoiner Puentes.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0–1; ChestMNIST_CNN_TensorFlow(1).ipynb, celdas 0–1. El proyecto estudia etiquetas registradas en el dataset. Una imagen puede tener varias positivas, por eso hablamos de clasificación multietiqueta. El alcance es académico.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 1; ChestMNIST_CNN_TensorFlow(1).ipynb, celda 1. El objetivo común es comparar los enfoques sobre las mismas particiones. Recall: proporción de positivos registrados que detectamos. Precisión: proporción de predicciones positivas correctas. F1 combina ambas. AUC utiliza probabilidades y no depende del umbral.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ChestMNIST_CNN_TensorFlow(1).ipynb, celdas 7 y 11; ChestMNIST_RNA_HOG(2).ipynb, celdas 7 y 9. URL de procedencia incluida en los notebooks: https://medmnist.com/. Cada imagen tiene 784 píxeles, conservados espacialmente en CNN. La variable objetivo es un vector de 14 indicadores binarios. Las etiquetas no son clases mutuamente excluyentes.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13–15. La auditoría se ejecutó en el notebook CNN sobre los mismos conjuntos usados por ambos proyectos. Valores observados de píxel: 0 a 253. No hubo valores no finitos, fuera de rango, etiquetas inválidas ni imágenes constantes. Duplicados adicionales por partición: 16, 5 y 2. Huellas compartidas: train-val 2, train-test 0 y val-test 1. Coincidencia de píxeles no demuestra identidad de pacientes. Se conservaron las particiones oficiales.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 11. Porcentajes de positivos en entrenamiento: infiltration 17,73%; effusion 11,80%; atelectasis 10,19%; hernia 0,18%. El gráfico muestra estas cuatro etiquetas como ejemplos, no toda la distribución. En prueba hay 11.928 imágenes sin etiquetas positivas, 6.259 con una y 4.246 con varias. Predecir siempre ausencia logra exactitud binaria 0,9474 y recall 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10–14. Imagen extraída de la salida de la celda 12. Normalización float32/255 antes de HOG. Se usan 9 orientaciones, celdas 7×7, bloques 2×2 y L2-Hys. La visualización representa gradientes, no diagnósticos ni atención del modelo. HOG es una transformación fija por imagen que no aprende de las etiquetas.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14 y 16. Una imagen de 28×28 contiene 4×4 celdas de 7×7. Los bloques solapados de 2×2 se ubican en 3×3 posiciones. Cada bloque tiene 2×2×9=36 componentes. Nueve bloques producen 324 características. Aplicamos exactamente los mismos parámetros a train, val y test. HOG de prueba prepara la entrada y no ajusta los pesos. No se implementaron PCA, sobremuestreo ni StandardScaler.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16–20. expand_dims añade la dimensión de canal sin cambiar píxeles. VGG y ResNet reciben 28×28×1 y escalan por 1/255 internamente. MobileNetV2 redimensiona a 32×32 y repite el canal gris, sin añadir información de color ni nuevos detalles, luego aplica x/127,5−1. No se aplicaron HOG, CLAHE, aumento de datos ni balanceo.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17–21. Implementación MLPClassifier siguiendo Retina_RNA. Una configuración, semilla 42. Entrada 324, capas ocultas (64,16,10), salida 14 con activación logística para multilabel, ReLU en capas ocultas, Adam, tasa inicial 0,001, alpha 1e−6, tol 1e−4 y max_iter 2000. Los parámetros learning_rate='adaptive' y momentum=0.9 del código heredado solo afectan al solver SGD, no a Adam. No se usó early_stopping de validación.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21–23. Gráfica original extraída de celda 23. Se alcanzaron 473 iteraciones y loss final 2,1654708714. Adam considera cada iteración una pasada por los datos. La detención se debe a falta de mejora de la pérdida de entrenamiento según tol, con n_iter_no_change por defecto 10. La gráfica es solo de entrenamiento y no basta para diagnosticar sobreajuste. La magnitud de loss no se compara directamente con la de TensorFlow porque las reducciones difieren.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19–22. Arquitecturas adaptadas del notebook BreastMNIST_2_CNN_CLAHE.ipynb, no afirmamos que todas estén en las guías docentes originales. VGG y ResNet compactas se entrenan desde cero. MobileNetV2 utiliza ImageNet y adaptación al dominio. Parámetros totales: VGG 296478; ResNet 309934; MobileNetV2 2275918. Las 14 salidas sigmoid permiten varias etiquetas positivas sin argmax.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23–26. Tres arquitecturas por tres semillas: nueve ejecuciones, no nueve arquitecturas. Una semilla fija procesos pseudoaleatorios y facilita reproducibilidad y evaluación de variación. Una época recorre todas las imágenes de train en lotes de 32. Hasta 20 épocas iniciales, 10 adicionales para MobileNetV2 con tasa 1e−5. Descongelamos las últimas 30 capas excepto BatchNormalization. EarlyStopping val_auc_macro, mode max, patience5 y restore_best_weights. ReduceLROnPlateau paciencia2, factor0.5. Adam inicial 1e−3 y binary_crossentropy.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26–28. AUC macro media: VGG .7669 sd .0037; ResNet .7492 sd .0053; MobileNetV2 .6753 sd .0031. Primero se seleccionó la arquitectura por media de tres semillas; dentro de ella, la semilla con mayor AUC. VGG semilla 2026 alcanzó .771024. La comparación descriptiva no determina qué componente causa las diferencias y no demuestra significación estadística.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ChestMNIST_CNN_TensorFlow(1).ipynb, celdas 29–31. Imagen original de la celda 30. VGG semilla2026 completó20épocas y su mejor val_auc_macro TensorFlow está en época20, .7561. roc_auc_score calculado después sobre las probabilidades entrega .7710. TensorFlow aproxima AUC por umbrales, por eso no coinciden exactamente. Pérdidas bajan y AUC suben, sin señal clara de sobreajuste en estas20épocas. No es prueba de ausencia general de sobreajuste.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26–28; ChestMNIST_CNN_TensorFlow(1).ipynb, celdas 34–36. Se buscó por etiqueta el umbral más alto de .50 a .01 (paso .01) con recall&gt;=.80. Si ninguno cumple, se utiliza .01 y se informa. La meta es exploratoria del notebook de referencia y no un criterio clínico. 9/14 etiquetas RNA y 11/14 CNN alcanzaron meta en validación. La AUC se calcula con probabilidades y no cambia por umbral. Usamos umbrales fijos en prueba.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celdas 29 y 38; ChestMNIST_CNN_TensorFlow(1).ipynb, celda 37. Mismas22433imágenes de prueba. Precisión,recall,F1 usan umbrales ajustados por modelo con la misma regla sobre validación. AUC usa probabilidades. RNA: una configuración y una semilla. CNN seleccionada de nueve ejecuciones. No es una búsqueda equivalente ni permite superioridad universal de CNN. Macro promedia14etiquetas con igual peso. Micro agrega conteos de decisiones por etiqueta.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celda29; ChestMNIST_CNN_TensorFlow(1).ipynb, celda37. Valores con umbrales ajustados. CNN mejora las tres métricas mostradas pero ambas precisiones son inferiores a.10. Recallalto con precisiónbaja implica numerosas falsas alarmas. Comparación descriptiva de estas ejecuciones. Las métricas son proporciones0a1.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celda29; ChestMNIST_CNN_TensorFlow(1).ipynb, celda37. Conteos sobre16510etiquetaspositivasdeprueba, no pacientes. Con umbral.5 RNA TP744 FP1509 FN15766 y CNN TP612 FP444 FN15898. Ajustados RNA TP13526 FP158519 FN2984 y CNN TP13852 FP128237 FN2658. Se muestran conteos ajustados. Hernia detecta1de42 en ambos modelos, recall.0238. El recallglobal no garantiza buen recall por etiqueta.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ChestMNIST_RNA_HOG(2).ipynb, celda36; ChestMNIST_CNN_TensorFlow(1).ipynb, celdas46–48. RNA exporta un paquete joblib con modelo, config HOG, normalización, etiquetas, umbrales y versiones. Recalcula HOG de una imagen y verifica probabilidades con assert_allclose. CNN exporta .keras y JSON y verifica probabilidades tras recarga. Es persistencia y demostración académica, sin servicio productivo ni validación clínica.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ChestMNIST_RNA_HOG(2).ipynb, celdas1,35,37–39; ChestMNIST_CNN_TensorFlow(1).ipynb, celda45. La CNN supera la RNA en las cinco métricas con umbrales ajustados, no en todas las métricas a umbral.5. Comparación limitada por1vs9ejecuciones, resolución28×28, frecuenciasdesequilibradas, coincidenciasdepíxeles, seleccionesrepetidasenvalidación y faltadevalidaciónexterna. RNA ya había consultado prueba en una versión anterior, lo que limita la independencia del proceso de evaluación ampliada. No se realizaron nuevos entrenamientos para construir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de la presentación: ChestMNIST_RNA_HOG(2).ipynb y ChestMNIST_CNN_TensorFlow(1).ipynb, archivos aportados por el equipo. Procedencia adicional declarada en los notebooks: Retina_RNA.ipynb, Retina_CNN_II_2026.ipynb, BreastMNIST_2_CNN_CLAHE.ipynb y BreastMNIST_final-FINAL.ipynb. Sitio del dataset: https://medmnist.com/. Las gráficas HOG y curvas proceden de salidas guardadas, no de una nueva ejecución. Los gráficos nativos utilizan los valores reportados en los notebooks.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y preguntas. Podemos explicar la diferencia central: RNA recibe características HOG fijas y CNN aprende características mediante sus filtros. Las conclusiones se limitan a las configuraciones y datos evaluados.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a95430ba9f48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fc17240a3b4f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c7c3555f3c47f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69ba3648fc34e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3af6790b88f4dc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d3c4ad81bcb4fb6"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1460e499979452a"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a863cb6c8c847d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e4c3095333724ed4"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65255f6eb334a8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3296f56e5274da0" /></Relationships>
</file>

<file path=ppt/slideLayouts/slideLayout1.xml><?xml version="1.0" encoding="utf-8"?>
<p:sldLayout xmlns:p="http://schemas.openxmlformats.org/presentationml/2006/main" type="title" preserve="1">
  <p:cSld name="Diapositiva de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0C0466C6-D91C-612D-DA31-9E70D744FADA}"/>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Haga clic para modificar el estilo de título del patrón</a:t>
            </a:r>
          </a:p>
        </p:txBody>
      </p:sp>
      <p:sp>
        <p:nvSpPr>
          <p:cNvPr id="3" name="Subtítulo 2">
            <a:extLst xmlns:a="http://schemas.openxmlformats.org/drawingml/2006/main">
              <a:ext uri="{FF2B5EF4-FFF2-40B4-BE49-F238E27FC236}">
                <a16:creationId xmlns:a16="http://schemas.microsoft.com/office/drawing/2014/main" id="{E36CD3D7-66B5-7A01-561D-959D48193647}"/>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Haga clic para modificar el estilo de subtítulo del patrón</a:t>
            </a:r>
          </a:p>
        </p:txBody>
      </p:sp>
      <p:sp>
        <p:nvSpPr>
          <p:cNvPr id="4" name="Marcador de fecha 3">
            <a:extLst xmlns:a="http://schemas.openxmlformats.org/drawingml/2006/main">
              <a:ext uri="{FF2B5EF4-FFF2-40B4-BE49-F238E27FC236}">
                <a16:creationId xmlns:a16="http://schemas.microsoft.com/office/drawing/2014/main" id="{4566A04E-ABEF-3601-42E9-9B477D0B2E1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A7C89636-8607-E245-7ECA-8B404826E9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B6DA640A-1483-A175-E2F8-B21F00EFC1F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2.xml><?xml version="1.0" encoding="utf-8"?>
<p:sldLayout xmlns:p="http://schemas.openxmlformats.org/presentationml/2006/main" type="obj" preserve="1">
  <p:cSld name="Título y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2E2D482-88F1-6717-4507-1DE895ECA57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F1D43E56-1659-8101-3D89-60600B4C0136}"/>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1B7DD31E-3985-01D7-0E5F-F66C24894B4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03C0CCE0-F676-AD11-9EA0-68258B2EEEC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DC72DC9F-3C1D-47DC-41F5-F6AE302792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3.xml><?xml version="1.0" encoding="utf-8"?>
<p:sldLayout xmlns:p="http://schemas.openxmlformats.org/presentationml/2006/main" type="secHead" preserve="1">
  <p:cSld name="Encabezado de sec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96AD8C90-560A-3629-A0D4-D6E8C44C7EF6}"/>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29138E69-8963-2191-B74D-B295CE6F3A56}"/>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xmlns:a="http://schemas.openxmlformats.org/drawingml/2006/main">
            <a:pPr lvl="0">
              <a:buNone/>
            </a:pPr>
            <a:r>
              <a:t>Haga clic para modificar los estilos de texto del patrón</a:t>
            </a:r>
          </a:p>
        </p:txBody>
      </p:sp>
      <p:sp>
        <p:nvSpPr>
          <p:cNvPr id="4" name="Marcador de fecha 3">
            <a:extLst xmlns:a="http://schemas.openxmlformats.org/drawingml/2006/main">
              <a:ext uri="{FF2B5EF4-FFF2-40B4-BE49-F238E27FC236}">
                <a16:creationId xmlns:a16="http://schemas.microsoft.com/office/drawing/2014/main" id="{103BF81C-82F0-ABCA-4411-C9CD9BF8AD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616153DF-4EB7-8F85-F619-B1A8C4ECAF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080E5481-19BA-D126-98F1-EDE7542F85C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4.xml><?xml version="1.0" encoding="utf-8"?>
<p:sldLayout xmlns:p="http://schemas.openxmlformats.org/presentationml/2006/main" type="twoObj" preserve="1">
  <p:cSld name="Dos objetos">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21CFEAAB-E2D6-B04D-F21A-A7FDB53B780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ADD809E2-B9AF-2CC2-3873-A4B1DAB10F4D}"/>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contenido 3">
            <a:extLst xmlns:a="http://schemas.openxmlformats.org/drawingml/2006/main">
              <a:ext uri="{FF2B5EF4-FFF2-40B4-BE49-F238E27FC236}">
                <a16:creationId xmlns:a16="http://schemas.microsoft.com/office/drawing/2014/main" id="{A63127D2-49B9-6F49-74BB-C98192025062}"/>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5" name="Marcador de fecha 4">
            <a:extLst xmlns:a="http://schemas.openxmlformats.org/drawingml/2006/main">
              <a:ext uri="{FF2B5EF4-FFF2-40B4-BE49-F238E27FC236}">
                <a16:creationId xmlns:a16="http://schemas.microsoft.com/office/drawing/2014/main" id="{A60A90FD-A1AE-B7F6-81CB-17798777B7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6" name="Marcador de pie de página 5">
            <a:extLst xmlns:a="http://schemas.openxmlformats.org/drawingml/2006/main">
              <a:ext uri="{FF2B5EF4-FFF2-40B4-BE49-F238E27FC236}">
                <a16:creationId xmlns:a16="http://schemas.microsoft.com/office/drawing/2014/main" id="{D778F9F5-0A1E-A896-2C1A-AE9CD73069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CD6A06C3-7D3A-4ED7-59A8-01C9CFF3A11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5.xml><?xml version="1.0" encoding="utf-8"?>
<p:sldLayout xmlns:p="http://schemas.openxmlformats.org/presentationml/2006/main" type="twoTxTwoObj" preserve="1">
  <p:cSld name="Comparación">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C86E5E4-7599-22FB-83D9-5A3212762CC0}"/>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836F06F6-6079-87FD-923F-A8DBB0BF0AC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4" name="Marcador de contenido 3">
            <a:extLst xmlns:a="http://schemas.openxmlformats.org/drawingml/2006/main">
              <a:ext uri="{FF2B5EF4-FFF2-40B4-BE49-F238E27FC236}">
                <a16:creationId xmlns:a16="http://schemas.microsoft.com/office/drawing/2014/main" id="{37E1C3B8-3FB7-57C0-92C0-AD7DA2D1C421}"/>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5" name="Marcador de texto 4">
            <a:extLst xmlns:a="http://schemas.openxmlformats.org/drawingml/2006/main">
              <a:ext uri="{FF2B5EF4-FFF2-40B4-BE49-F238E27FC236}">
                <a16:creationId xmlns:a16="http://schemas.microsoft.com/office/drawing/2014/main" id="{E6734399-EEE2-0BDB-3597-6E0EA6B1C273}"/>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Haga clic para modificar los estilos de texto del patrón</a:t>
            </a:r>
          </a:p>
        </p:txBody>
      </p:sp>
      <p:sp>
        <p:nvSpPr>
          <p:cNvPr id="6" name="Marcador de contenido 5">
            <a:extLst xmlns:a="http://schemas.openxmlformats.org/drawingml/2006/main">
              <a:ext uri="{FF2B5EF4-FFF2-40B4-BE49-F238E27FC236}">
                <a16:creationId xmlns:a16="http://schemas.microsoft.com/office/drawing/2014/main" id="{115EE561-E076-283F-19C9-16E995E5DA06}"/>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7" name="Marcador de fecha 6">
            <a:extLst xmlns:a="http://schemas.openxmlformats.org/drawingml/2006/main">
              <a:ext uri="{FF2B5EF4-FFF2-40B4-BE49-F238E27FC236}">
                <a16:creationId xmlns:a16="http://schemas.microsoft.com/office/drawing/2014/main" id="{5BD6D0E1-46F0-417B-BBFA-8FE7878A2F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8" name="Marcador de pie de página 7">
            <a:extLst xmlns:a="http://schemas.openxmlformats.org/drawingml/2006/main">
              <a:ext uri="{FF2B5EF4-FFF2-40B4-BE49-F238E27FC236}">
                <a16:creationId xmlns:a16="http://schemas.microsoft.com/office/drawing/2014/main" id="{A0CA9F49-6797-27A1-E809-F10A247A341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Marcador de número de diapositiva 8">
            <a:extLst xmlns:a="http://schemas.openxmlformats.org/drawingml/2006/main">
              <a:ext uri="{FF2B5EF4-FFF2-40B4-BE49-F238E27FC236}">
                <a16:creationId xmlns:a16="http://schemas.microsoft.com/office/drawing/2014/main" id="{351381D6-1B43-9D34-6E2B-108FB648A0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6.xml><?xml version="1.0" encoding="utf-8"?>
<p:sldLayout xmlns:p="http://schemas.openxmlformats.org/presentationml/2006/main" type="titleOnly" preserve="1">
  <p:cSld name="Solo el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4AE74EC2-1ED8-A8BE-7D66-107A23C562A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fecha 2">
            <a:extLst xmlns:a="http://schemas.openxmlformats.org/drawingml/2006/main">
              <a:ext uri="{FF2B5EF4-FFF2-40B4-BE49-F238E27FC236}">
                <a16:creationId xmlns:a16="http://schemas.microsoft.com/office/drawing/2014/main" id="{1D7DCC2C-4B63-4FB8-9322-4A64CB4BD4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4" name="Marcador de pie de página 3">
            <a:extLst xmlns:a="http://schemas.openxmlformats.org/drawingml/2006/main">
              <a:ext uri="{FF2B5EF4-FFF2-40B4-BE49-F238E27FC236}">
                <a16:creationId xmlns:a16="http://schemas.microsoft.com/office/drawing/2014/main" id="{47E22530-1FC8-B14B-0E1E-CEA3D630FEE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Marcador de número de diapositiva 4">
            <a:extLst xmlns:a="http://schemas.openxmlformats.org/drawingml/2006/main">
              <a:ext uri="{FF2B5EF4-FFF2-40B4-BE49-F238E27FC236}">
                <a16:creationId xmlns:a16="http://schemas.microsoft.com/office/drawing/2014/main" id="{62E5EA7A-7139-4574-C0F9-E5653C681FC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7.xml><?xml version="1.0" encoding="utf-8"?>
<p:sldLayout xmlns:p="http://schemas.openxmlformats.org/presentationml/2006/main" type="blank" preserve="1">
  <p:cSld name="En blanco">
    <p:spTree>
      <p:nvGrpSpPr>
        <p:cNvPr id="1" name=""/>
        <p:cNvGrpSpPr/>
        <p:nvPr/>
      </p:nvGrpSpPr>
      <p:grpSpPr>
        <a:xfrm xmlns:a="http://schemas.openxmlformats.org/drawingml/2006/main"/>
      </p:grpSpPr>
      <p:sp>
        <p:nvSpPr>
          <p:cNvPr id="2" name="Marcador de fecha 1">
            <a:extLst xmlns:a="http://schemas.openxmlformats.org/drawingml/2006/main">
              <a:ext uri="{FF2B5EF4-FFF2-40B4-BE49-F238E27FC236}">
                <a16:creationId xmlns:a16="http://schemas.microsoft.com/office/drawing/2014/main" id="{496332C7-6C6F-7318-1DA3-D4E85FFC71E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3" name="Marcador de pie de página 2">
            <a:extLst xmlns:a="http://schemas.openxmlformats.org/drawingml/2006/main">
              <a:ext uri="{FF2B5EF4-FFF2-40B4-BE49-F238E27FC236}">
                <a16:creationId xmlns:a16="http://schemas.microsoft.com/office/drawing/2014/main" id="{1DFEC246-9AE0-1F5E-E4B7-E80EA35B1A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Marcador de número de diapositiva 3">
            <a:extLst xmlns:a="http://schemas.openxmlformats.org/drawingml/2006/main">
              <a:ext uri="{FF2B5EF4-FFF2-40B4-BE49-F238E27FC236}">
                <a16:creationId xmlns:a16="http://schemas.microsoft.com/office/drawing/2014/main" id="{AC31218E-7297-74DF-6460-D04F62CC1A8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8.xml><?xml version="1.0" encoding="utf-8"?>
<p:sldLayout xmlns:p="http://schemas.openxmlformats.org/presentationml/2006/main" type="objTx" preserve="1">
  <p:cSld name="Contenido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4140EDF-D8B0-6EA9-3600-79C331F0A222}"/>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p>
        </p:txBody>
      </p:sp>
      <p:sp>
        <p:nvSpPr>
          <p:cNvPr id="3" name="Marcador de contenido 2">
            <a:extLst xmlns:a="http://schemas.openxmlformats.org/drawingml/2006/main">
              <a:ext uri="{FF2B5EF4-FFF2-40B4-BE49-F238E27FC236}">
                <a16:creationId xmlns:a16="http://schemas.microsoft.com/office/drawing/2014/main" id="{143412F3-88BC-3976-CE11-CED356736BCF}"/>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texto 3">
            <a:extLst xmlns:a="http://schemas.openxmlformats.org/drawingml/2006/main">
              <a:ext uri="{FF2B5EF4-FFF2-40B4-BE49-F238E27FC236}">
                <a16:creationId xmlns:a16="http://schemas.microsoft.com/office/drawing/2014/main" id="{B20C5784-692F-8C9A-96B5-9C6C828B67B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1865CF43-DB51-7DDD-DBC1-89F22FBF3B7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6" name="Marcador de pie de página 5">
            <a:extLst xmlns:a="http://schemas.openxmlformats.org/drawingml/2006/main">
              <a:ext uri="{FF2B5EF4-FFF2-40B4-BE49-F238E27FC236}">
                <a16:creationId xmlns:a16="http://schemas.microsoft.com/office/drawing/2014/main" id="{2C18DF2A-4A52-511F-887D-751FECB8D36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489AA898-418D-84EB-B1A4-EF383D800B7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9.xml><?xml version="1.0" encoding="utf-8"?>
<p:sldLayout xmlns:p="http://schemas.openxmlformats.org/presentationml/2006/main" type="picTx" preserve="1">
  <p:cSld name="Imagen con título">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1D8D255D-23DB-16FF-6E59-4E8B7BB0CFA5}"/>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Haga clic para modificar el estilo de título del patrón</a:t>
            </a:r>
          </a:p>
        </p:txBody>
      </p:sp>
      <p:sp>
        <p:nvSpPr>
          <p:cNvPr id="3" name="Marcador de posición de imagen 2">
            <a:extLst xmlns:a="http://schemas.openxmlformats.org/drawingml/2006/main">
              <a:ext uri="{FF2B5EF4-FFF2-40B4-BE49-F238E27FC236}">
                <a16:creationId xmlns:a16="http://schemas.microsoft.com/office/drawing/2014/main" id="{EEACFC9F-98E3-3872-EF0E-718C6AAD0D5B}"/>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Marcador de texto 3">
            <a:extLst xmlns:a="http://schemas.openxmlformats.org/drawingml/2006/main">
              <a:ext uri="{FF2B5EF4-FFF2-40B4-BE49-F238E27FC236}">
                <a16:creationId xmlns:a16="http://schemas.microsoft.com/office/drawing/2014/main" id="{DA1FCD44-D0F2-7EE0-983E-1A770EA7B107}"/>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Haga clic para modificar los estilos de texto del patrón</a:t>
            </a:r>
          </a:p>
        </p:txBody>
      </p:sp>
      <p:sp>
        <p:nvSpPr>
          <p:cNvPr id="5" name="Marcador de fecha 4">
            <a:extLst xmlns:a="http://schemas.openxmlformats.org/drawingml/2006/main">
              <a:ext uri="{FF2B5EF4-FFF2-40B4-BE49-F238E27FC236}">
                <a16:creationId xmlns:a16="http://schemas.microsoft.com/office/drawing/2014/main" id="{2A5984F3-2762-30BA-041E-CEE510365B2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6" name="Marcador de pie de página 5">
            <a:extLst xmlns:a="http://schemas.openxmlformats.org/drawingml/2006/main">
              <a:ext uri="{FF2B5EF4-FFF2-40B4-BE49-F238E27FC236}">
                <a16:creationId xmlns:a16="http://schemas.microsoft.com/office/drawing/2014/main" id="{6BFB9C9C-1999-72D6-E7F1-5AF8D2EB71D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Marcador de número de diapositiva 6">
            <a:extLst xmlns:a="http://schemas.openxmlformats.org/drawingml/2006/main">
              <a:ext uri="{FF2B5EF4-FFF2-40B4-BE49-F238E27FC236}">
                <a16:creationId xmlns:a16="http://schemas.microsoft.com/office/drawing/2014/main" id="{DB093609-A228-8DC9-D8BE-C785A4D580E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10.xml><?xml version="1.0" encoding="utf-8"?>
<p:sldLayout xmlns:p="http://schemas.openxmlformats.org/presentationml/2006/main" type="vertTx" preserve="1">
  <p:cSld name="Título y texto vertical">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A6E4860E-4631-00B1-84EE-47A0882EE5D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Haga clic para modificar el estilo de título del patrón</a:t>
            </a:r>
          </a:p>
        </p:txBody>
      </p:sp>
      <p:sp>
        <p:nvSpPr>
          <p:cNvPr id="3" name="Marcador de texto vertical 2">
            <a:extLst xmlns:a="http://schemas.openxmlformats.org/drawingml/2006/main">
              <a:ext uri="{FF2B5EF4-FFF2-40B4-BE49-F238E27FC236}">
                <a16:creationId xmlns:a16="http://schemas.microsoft.com/office/drawing/2014/main" id="{10C4EC56-B0B7-FB8C-9229-852C47FE4D9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DC8BBC8E-447F-B6D6-FE12-BF37EE0CFA2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67EEBC50-F25A-043B-E54D-44514D18818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CBE4EF87-17C1-3FBF-1BDE-38B4C4EEE87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Layouts/slideLayout11.xml><?xml version="1.0" encoding="utf-8"?>
<p:sldLayout xmlns:p="http://schemas.openxmlformats.org/presentationml/2006/main" type="vertTitleAndTx" preserve="1">
  <p:cSld name="Título vertical y texto">
    <p:spTree>
      <p:nvGrpSpPr>
        <p:cNvPr id="1" name=""/>
        <p:cNvGrpSpPr/>
        <p:nvPr/>
      </p:nvGrpSpPr>
      <p:grpSpPr>
        <a:xfrm xmlns:a="http://schemas.openxmlformats.org/drawingml/2006/main"/>
      </p:grpSpPr>
      <p:sp>
        <p:nvSpPr>
          <p:cNvPr id="2" name="Título vertical 1">
            <a:extLst xmlns:a="http://schemas.openxmlformats.org/drawingml/2006/main">
              <a:ext uri="{FF2B5EF4-FFF2-40B4-BE49-F238E27FC236}">
                <a16:creationId xmlns:a16="http://schemas.microsoft.com/office/drawing/2014/main" id="{3EEA9864-C820-6713-3E0A-1A47F92DB688}"/>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Haga clic para modificar el estilo de título del patrón</a:t>
            </a:r>
          </a:p>
        </p:txBody>
      </p:sp>
      <p:sp>
        <p:nvSpPr>
          <p:cNvPr id="3" name="Marcador de texto vertical 2">
            <a:extLst xmlns:a="http://schemas.openxmlformats.org/drawingml/2006/main">
              <a:ext uri="{FF2B5EF4-FFF2-40B4-BE49-F238E27FC236}">
                <a16:creationId xmlns:a16="http://schemas.microsoft.com/office/drawing/2014/main" id="{582EF4C3-B55D-39DD-8B6B-0B53F463176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95150FF3-021C-FBD7-9BD4-3CA04F07C4F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0F6EF010-39D0-4175-3885-7C66710A7CB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4095371A-7C71-061D-DDBB-0EC503FB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FCD7431F-60F5-E745-8494-FFD96EF32E20}"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7175fbf57ae4827" /><Relationship Type="http://schemas.openxmlformats.org/officeDocument/2006/relationships/slideLayout" Target="/ppt/slideLayouts/slideLayout1.xml" Id="Rd3eb1859e10d4035" /><Relationship Type="http://schemas.openxmlformats.org/officeDocument/2006/relationships/slideLayout" Target="/ppt/slideLayouts/slideLayout2.xml" Id="R65db612257994c1e" /><Relationship Type="http://schemas.openxmlformats.org/officeDocument/2006/relationships/slideLayout" Target="/ppt/slideLayouts/slideLayout3.xml" Id="R3d97e842b57d45b7" /><Relationship Type="http://schemas.openxmlformats.org/officeDocument/2006/relationships/slideLayout" Target="/ppt/slideLayouts/slideLayout4.xml" Id="R167a3e1f32454561" /><Relationship Type="http://schemas.openxmlformats.org/officeDocument/2006/relationships/slideLayout" Target="/ppt/slideLayouts/slideLayout5.xml" Id="R669df38ba0bd48a2" /><Relationship Type="http://schemas.openxmlformats.org/officeDocument/2006/relationships/slideLayout" Target="/ppt/slideLayouts/slideLayout6.xml" Id="R9832e3dbdaa44412" /><Relationship Type="http://schemas.openxmlformats.org/officeDocument/2006/relationships/slideLayout" Target="/ppt/slideLayouts/slideLayout7.xml" Id="R8486088c6c4b4bff" /><Relationship Type="http://schemas.openxmlformats.org/officeDocument/2006/relationships/slideLayout" Target="/ppt/slideLayouts/slideLayout8.xml" Id="Re0f8aab03a54448a" /><Relationship Type="http://schemas.openxmlformats.org/officeDocument/2006/relationships/slideLayout" Target="/ppt/slideLayouts/slideLayout9.xml" Id="R37fcce0ed38d4c17" /><Relationship Type="http://schemas.openxmlformats.org/officeDocument/2006/relationships/slideLayout" Target="/ppt/slideLayouts/slideLayout10.xml" Id="R8a367e9a9c2a420f" /><Relationship Type="http://schemas.openxmlformats.org/officeDocument/2006/relationships/slideLayout" Target="/ppt/slideLayouts/slideLayout11.xml" Id="R9720727fd9584a18"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Marcador de título 1">
            <a:extLst xmlns:a="http://schemas.openxmlformats.org/drawingml/2006/main">
              <a:ext uri="{FF2B5EF4-FFF2-40B4-BE49-F238E27FC236}">
                <a16:creationId xmlns:a16="http://schemas.microsoft.com/office/drawing/2014/main" id="{934655F9-7A55-B7B8-8B75-F136D069E6D8}"/>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Haga clic para modificar el estilo de título del patrón</a:t>
            </a:r>
          </a:p>
        </p:txBody>
      </p:sp>
      <p:sp>
        <p:nvSpPr>
          <p:cNvPr id="3" name="Marcador de texto 2">
            <a:extLst xmlns:a="http://schemas.openxmlformats.org/drawingml/2006/main">
              <a:ext uri="{FF2B5EF4-FFF2-40B4-BE49-F238E27FC236}">
                <a16:creationId xmlns:a16="http://schemas.microsoft.com/office/drawing/2014/main" id="{6940F63F-E1AB-2FF3-2E2E-4C60B3779AF9}"/>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Haga clic para modificar los estilos de texto del patrón</a:t>
            </a:r>
          </a:p>
          <a:p xmlns:a="http://schemas.openxmlformats.org/drawingml/2006/main">
            <a:pPr lvl="1">
              <a:buNone/>
            </a:pPr>
            <a:r>
              <a:t>Segundo nivel</a:t>
            </a:r>
          </a:p>
          <a:p xmlns:a="http://schemas.openxmlformats.org/drawingml/2006/main">
            <a:pPr lvl="2">
              <a:buNone/>
            </a:pPr>
            <a:r>
              <a:t>Tercer nivel</a:t>
            </a:r>
          </a:p>
          <a:p xmlns:a="http://schemas.openxmlformats.org/drawingml/2006/main">
            <a:pPr lvl="3">
              <a:buNone/>
            </a:pPr>
            <a:r>
              <a:t>Cuarto nivel</a:t>
            </a:r>
          </a:p>
          <a:p xmlns:a="http://schemas.openxmlformats.org/drawingml/2006/main">
            <a:pPr lvl="4">
              <a:buNone/>
            </a:pPr>
            <a:r>
              <a:t>Quinto nivel</a:t>
            </a:r>
          </a:p>
        </p:txBody>
      </p:sp>
      <p:sp>
        <p:nvSpPr>
          <p:cNvPr id="4" name="Marcador de fecha 3">
            <a:extLst xmlns:a="http://schemas.openxmlformats.org/drawingml/2006/main">
              <a:ext uri="{FF2B5EF4-FFF2-40B4-BE49-F238E27FC236}">
                <a16:creationId xmlns:a16="http://schemas.microsoft.com/office/drawing/2014/main" id="{287F6D55-93D5-4B87-BF01-5334CC51B34D}"/>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82000"/>
                  </a:schemeClr>
                </a:solidFill>
              </a:defRPr>
            </a:lvl1pPr>
          </a:lstStyle>
          <a:p xmlns:a="http://schemas.openxmlformats.org/drawingml/2006/main">
            <a:fld id="{88110A85-4D4F-F042-95AD-B4092DC44AD3}" type="datetimeFigureOut">
              <a:t>01/09/2026</a:t>
            </a:fld>
            <a:endParaRPr/>
          </a:p>
        </p:txBody>
      </p:sp>
      <p:sp>
        <p:nvSpPr>
          <p:cNvPr id="5" name="Marcador de pie de página 4">
            <a:extLst xmlns:a="http://schemas.openxmlformats.org/drawingml/2006/main">
              <a:ext uri="{FF2B5EF4-FFF2-40B4-BE49-F238E27FC236}">
                <a16:creationId xmlns:a16="http://schemas.microsoft.com/office/drawing/2014/main" id="{2768E077-F5F1-A5B0-D94C-4A846BB4A57D}"/>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82000"/>
                  </a:schemeClr>
                </a:solidFill>
              </a:defRPr>
            </a:lvl1pPr>
          </a:lstStyle>
          <a:p xmlns:a="http://schemas.openxmlformats.org/drawingml/2006/main">
            <a:endParaRPr/>
          </a:p>
        </p:txBody>
      </p:sp>
      <p:sp>
        <p:nvSpPr>
          <p:cNvPr id="6" name="Marcador de número de diapositiva 5">
            <a:extLst xmlns:a="http://schemas.openxmlformats.org/drawingml/2006/main">
              <a:ext uri="{FF2B5EF4-FFF2-40B4-BE49-F238E27FC236}">
                <a16:creationId xmlns:a16="http://schemas.microsoft.com/office/drawing/2014/main" id="{1449A032-604E-9B53-BF91-E6A6B9C8169E}"/>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a:fld id="{FCD7431F-60F5-E745-8494-FFD96EF32E20}"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eb1859e10d4035"/>
    <p:sldLayoutId xmlns:r="http://schemas.openxmlformats.org/officeDocument/2006/relationships" id="2147483650" r:id="R65db612257994c1e"/>
    <p:sldLayoutId xmlns:r="http://schemas.openxmlformats.org/officeDocument/2006/relationships" id="2147483651" r:id="R3d97e842b57d45b7"/>
    <p:sldLayoutId xmlns:r="http://schemas.openxmlformats.org/officeDocument/2006/relationships" id="2147483652" r:id="R167a3e1f32454561"/>
    <p:sldLayoutId xmlns:r="http://schemas.openxmlformats.org/officeDocument/2006/relationships" id="2147483653" r:id="R669df38ba0bd48a2"/>
    <p:sldLayoutId xmlns:r="http://schemas.openxmlformats.org/officeDocument/2006/relationships" id="2147483654" r:id="R9832e3dbdaa44412"/>
    <p:sldLayoutId xmlns:r="http://schemas.openxmlformats.org/officeDocument/2006/relationships" id="2147483655" r:id="R8486088c6c4b4bff"/>
    <p:sldLayoutId xmlns:r="http://schemas.openxmlformats.org/officeDocument/2006/relationships" id="2147483656" r:id="Re0f8aab03a54448a"/>
    <p:sldLayoutId xmlns:r="http://schemas.openxmlformats.org/officeDocument/2006/relationships" id="2147483657" r:id="R37fcce0ed38d4c17"/>
    <p:sldLayoutId xmlns:r="http://schemas.openxmlformats.org/officeDocument/2006/relationships" id="2147483658" r:id="R8a367e9a9c2a420f"/>
    <p:sldLayoutId xmlns:r="http://schemas.openxmlformats.org/officeDocument/2006/relationships" id="2147483659" r:id="R9720727fd9584a1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2373e919c0d14500" /><Relationship Type="http://schemas.openxmlformats.org/officeDocument/2006/relationships/image" Target="/ppt/media/image.png" Id="Rf2a0d40a6b54488f" /><Relationship Type="http://schemas.openxmlformats.org/officeDocument/2006/relationships/notesSlide" Target="/ppt/notesSlides/notesSlide1.xml" Id="Rb436d203d83a443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d7c82e29b1b480c" /><Relationship Type="http://schemas.openxmlformats.org/officeDocument/2006/relationships/image" Target="/ppt/media/image.jpeg" Id="R49c89e9587a94805" /><Relationship Type="http://schemas.openxmlformats.org/officeDocument/2006/relationships/notesSlide" Target="/ppt/notesSlides/notesSlide2.xml" Id="Re69cc924e43046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6085278e59d84f07" /><Relationship Type="http://schemas.openxmlformats.org/officeDocument/2006/relationships/image" Target="/ppt/media/image.jpeg" Id="R3d31de0787fa4370" /><Relationship Type="http://schemas.openxmlformats.org/officeDocument/2006/relationships/notesSlide" Target="/ppt/notesSlides/notesSlide3.xml" Id="R3b55877d4b9140e6"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9e14e3e455b449bb" /><Relationship Type="http://schemas.openxmlformats.org/officeDocument/2006/relationships/image" Target="/ppt/media/image2.jpeg" Id="R03648686738f4984" /><Relationship Type="http://schemas.openxmlformats.org/officeDocument/2006/relationships/notesSlide" Target="/ppt/notesSlides/notesSlide4.xml" Id="R3191b9bef97e42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c5da5a69590b4948" /><Relationship Type="http://schemas.openxmlformats.org/officeDocument/2006/relationships/image" Target="/ppt/media/image2.jpeg" Id="R78797e1d91e04bb3" /><Relationship Type="http://schemas.openxmlformats.org/officeDocument/2006/relationships/notesSlide" Target="/ppt/notesSlides/notesSlide5.xml" Id="Ra92b92b0b8854c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5196878dd14b45b3" /><Relationship Type="http://schemas.openxmlformats.org/officeDocument/2006/relationships/image" Target="/ppt/media/image2.jpeg" Id="R832123bce8834e06" /><Relationship Type="http://schemas.openxmlformats.org/officeDocument/2006/relationships/chart" Target="/ppt/slides/charts/chart1.xml" Id="Rb47e06bb7020465a" /><Relationship Type="http://schemas.openxmlformats.org/officeDocument/2006/relationships/notesSlide" Target="/ppt/notesSlides/notesSlide6.xml" Id="R1380da12ff954c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9906393703b6465b" /><Relationship Type="http://schemas.openxmlformats.org/officeDocument/2006/relationships/image" Target="/ppt/media/image3.jpeg" Id="R2763858fda7d45d3" /><Relationship Type="http://schemas.openxmlformats.org/officeDocument/2006/relationships/image" Target="/ppt/media/image2.png" Id="Rfd7d962e2da649be" /><Relationship Type="http://schemas.openxmlformats.org/officeDocument/2006/relationships/notesSlide" Target="/ppt/notesSlides/notesSlide7.xml" Id="Rc2eacb6638b840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7eee69306d94467a" /><Relationship Type="http://schemas.openxmlformats.org/officeDocument/2006/relationships/image" Target="/ppt/media/image3.jpeg" Id="R4c88c8495fb24c7d" /><Relationship Type="http://schemas.openxmlformats.org/officeDocument/2006/relationships/notesSlide" Target="/ppt/notesSlides/notesSlide8.xml" Id="R19b9d4679f7f40be"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2891fc5561e54108" /><Relationship Type="http://schemas.openxmlformats.org/officeDocument/2006/relationships/image" Target="/ppt/media/image3.jpeg" Id="R2a00f9a1da204f56" /><Relationship Type="http://schemas.openxmlformats.org/officeDocument/2006/relationships/notesSlide" Target="/ppt/notesSlides/notesSlide9.xml" Id="Ra6b98bb691dc4fe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6692a33ddf5e4314" /><Relationship Type="http://schemas.openxmlformats.org/officeDocument/2006/relationships/image" Target="/ppt/media/image4.jpeg" Id="Rf951694f7d4449db" /><Relationship Type="http://schemas.openxmlformats.org/officeDocument/2006/relationships/notesSlide" Target="/ppt/notesSlides/notesSlide10.xml" Id="Ra2e6ed6365a840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49c614bd4ea4d9c" /><Relationship Type="http://schemas.openxmlformats.org/officeDocument/2006/relationships/image" Target="/ppt/media/image4.jpeg" Id="R6ee4dedacb8843b2" /><Relationship Type="http://schemas.openxmlformats.org/officeDocument/2006/relationships/image" Target="/ppt/media/image3.png" Id="R828a1d2198954992" /><Relationship Type="http://schemas.openxmlformats.org/officeDocument/2006/relationships/notesSlide" Target="/ppt/notesSlides/notesSlide11.xml" Id="Rac9026c347094bb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21aa9208ff44bd6" /><Relationship Type="http://schemas.openxmlformats.org/officeDocument/2006/relationships/image" Target="/ppt/media/image4.jpeg" Id="R82d7754a92af4ace" /><Relationship Type="http://schemas.openxmlformats.org/officeDocument/2006/relationships/notesSlide" Target="/ppt/notesSlides/notesSlide12.xml" Id="R47b0819eef14473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25ca7c23e1f64935" /><Relationship Type="http://schemas.openxmlformats.org/officeDocument/2006/relationships/image" Target="/ppt/media/image4.jpeg" Id="R31095b95f99042dd" /><Relationship Type="http://schemas.openxmlformats.org/officeDocument/2006/relationships/notesSlide" Target="/ppt/notesSlides/notesSlide13.xml" Id="R9cdd03d2cba3495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83348b7c56ad410f" /><Relationship Type="http://schemas.openxmlformats.org/officeDocument/2006/relationships/image" Target="/ppt/media/image4.jpeg" Id="Rb2dd4406ae2a4d77" /><Relationship Type="http://schemas.openxmlformats.org/officeDocument/2006/relationships/chart" Target="/ppt/slides/charts/chart2.xml" Id="R58333043350c4cee" /><Relationship Type="http://schemas.openxmlformats.org/officeDocument/2006/relationships/notesSlide" Target="/ppt/notesSlides/notesSlide14.xml" Id="R1039ccf3ab72495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69303968f14b461b" /><Relationship Type="http://schemas.openxmlformats.org/officeDocument/2006/relationships/image" Target="/ppt/media/image4.jpeg" Id="R1b2b31e599224122" /><Relationship Type="http://schemas.openxmlformats.org/officeDocument/2006/relationships/image" Target="/ppt/media/image4.png" Id="R17f25b6fba514089" /><Relationship Type="http://schemas.openxmlformats.org/officeDocument/2006/relationships/notesSlide" Target="/ppt/notesSlides/notesSlide15.xml" Id="Rca18a7ad302c47d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59c6376767ae4f73" /><Relationship Type="http://schemas.openxmlformats.org/officeDocument/2006/relationships/image" Target="/ppt/media/image5.jpeg" Id="R6f082dee8b4f43b9" /><Relationship Type="http://schemas.openxmlformats.org/officeDocument/2006/relationships/notesSlide" Target="/ppt/notesSlides/notesSlide16.xml" Id="Rab190deffa9a4b2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de718bad779843f4" /><Relationship Type="http://schemas.openxmlformats.org/officeDocument/2006/relationships/image" Target="/ppt/media/image5.jpeg" Id="R39006bfe9f1941f1" /><Relationship Type="http://schemas.openxmlformats.org/officeDocument/2006/relationships/notesSlide" Target="/ppt/notesSlides/notesSlide17.xml" Id="R9e551e84262c4b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6325040cc197419c" /><Relationship Type="http://schemas.openxmlformats.org/officeDocument/2006/relationships/image" Target="/ppt/media/image5.jpeg" Id="Rfa67741b435a4872" /><Relationship Type="http://schemas.openxmlformats.org/officeDocument/2006/relationships/chart" Target="/ppt/slides/charts/chart3.xml" Id="R74be367587f04a72" /><Relationship Type="http://schemas.openxmlformats.org/officeDocument/2006/relationships/notesSlide" Target="/ppt/notesSlides/notesSlide18.xml" Id="Rcff00436323448f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8f2bd5dbd944382" /><Relationship Type="http://schemas.openxmlformats.org/officeDocument/2006/relationships/image" Target="/ppt/media/image5.jpeg" Id="Rbe0f85b81ccd461a" /><Relationship Type="http://schemas.openxmlformats.org/officeDocument/2006/relationships/notesSlide" Target="/ppt/notesSlides/notesSlide19.xml" Id="Ra66b10e9664947f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a0899d36ed8b4cc1" /><Relationship Type="http://schemas.openxmlformats.org/officeDocument/2006/relationships/image" Target="/ppt/media/image5.jpeg" Id="R4cd6dfabd47a4983" /><Relationship Type="http://schemas.openxmlformats.org/officeDocument/2006/relationships/notesSlide" Target="/ppt/notesSlides/notesSlide20.xml" Id="Rccffb7258881455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40da64ec79e44d8e" /><Relationship Type="http://schemas.openxmlformats.org/officeDocument/2006/relationships/image" Target="/ppt/media/image5.jpeg" Id="R501bf3feea9c4a64" /><Relationship Type="http://schemas.openxmlformats.org/officeDocument/2006/relationships/notesSlide" Target="/ppt/notesSlides/notesSlide21.xml" Id="R4827c6d27e1e439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b7855fd055b849b1" /><Relationship Type="http://schemas.openxmlformats.org/officeDocument/2006/relationships/image" Target="/ppt/media/image5.jpeg" Id="R9f6c01aff0014009" /><Relationship Type="http://schemas.openxmlformats.org/officeDocument/2006/relationships/notesSlide" Target="/ppt/notesSlides/notesSlide22.xml" Id="R573a11ed6c284e6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61269699e5b4b08" /><Relationship Type="http://schemas.openxmlformats.org/officeDocument/2006/relationships/image" Target="/ppt/media/image6.jpeg" Id="Re822179c0a924d65" /><Relationship Type="http://schemas.openxmlformats.org/officeDocument/2006/relationships/notesSlide" Target="/ppt/notesSlides/notesSlide23.xml" Id="Rc85c81b524334a5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Positivos en entrenamiento</c:v>
          </c:tx>
          <c:spPr>
            <a:solidFill xmlns:a="http://schemas.openxmlformats.org/drawingml/2006/main">
              <a:srgbClr val="143393"/>
            </a:solidFill>
          </c:spPr>
          <c:invertIfNegative val="0"/>
          <c:cat>
            <c:strRef>
              <c:f>'Chart Data'!$A$2:$A$5</c:f>
              <c:strCache>
                <c:ptCount val="4"/>
                <c:pt idx="0">
                  <c:v>Infiltration</c:v>
                </c:pt>
                <c:pt idx="1">
                  <c:v>Effusion</c:v>
                </c:pt>
                <c:pt idx="2">
                  <c:v>Atelectasis</c:v>
                </c:pt>
                <c:pt idx="3">
                  <c:v>Hernia</c:v>
                </c:pt>
              </c:strCache>
            </c:strRef>
          </c:cat>
          <c:val>
            <c:numRef>
              <c:f>'Chart Data'!$B$2:$B$5</c:f>
              <c:numCache>
                <c:formatCode>0%</c:formatCode>
                <c:ptCount val="4"/>
                <c:pt idx="0">
                  <c:v>0.1773</c:v>
                </c:pt>
                <c:pt idx="1">
                  <c:v>0.118</c:v>
                </c:pt>
                <c:pt idx="2">
                  <c:v>0.1019</c:v>
                </c:pt>
                <c:pt idx="3">
                  <c:v>0.0018</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latin typeface="Franklin Gothic Book"/>
                  <a:ea typeface="Franklin Gothic Book"/>
                  <a:cs typeface="Franklin Gothic Book"/>
                </a:defRPr>
              </a:pPr>
            </a:p>
          </c:txPr>
          <c:dLblPos val="outEnd"/>
          <c:showLegendKey val="0"/>
          <c:showVal val="0"/>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Franklin Gothic Book"/>
                <a:ea typeface="Franklin Gothic Book"/>
                <a:cs typeface="Franklin Gothic Book"/>
              </a:defRPr>
            </a:pPr>
          </a:p>
        </c:txPr>
        <c:crossAx val="48672768"/>
      </c:catAx>
      <c:valAx>
        <c:axId val="48672768"/>
        <c:scaling>
          <c:orientation val="minMax"/>
          <c:max val="0.2"/>
          <c:min val="0"/>
        </c:scaling>
        <c:delete val="0"/>
        <c:axPos val="l"/>
        <c:majorGridlines>
          <c:spPr>
            <a:ln xmlns:a="http://schemas.openxmlformats.org/drawingml/2006/main" w="9525">
              <a:solidFill>
                <a:srgbClr val="D8E1EF"/>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Franklin Gothic Book"/>
                <a:ea typeface="Franklin Gothic Book"/>
                <a:cs typeface="Franklin Gothic Book"/>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AUC macro media</c:v>
          </c:tx>
          <c:spPr>
            <a:solidFill xmlns:a="http://schemas.openxmlformats.org/drawingml/2006/main">
              <a:srgbClr val="143393"/>
            </a:solidFill>
          </c:spPr>
          <c:invertIfNegative val="0"/>
          <c:cat>
            <c:strRef>
              <c:f>'Chart Data'!$A$2:$A$4</c:f>
              <c:strCache>
                <c:ptCount val="3"/>
                <c:pt idx="0">
                  <c:v>VGG compacta</c:v>
                </c:pt>
                <c:pt idx="1">
                  <c:v>ResNet compacta</c:v>
                </c:pt>
                <c:pt idx="2">
                  <c:v>MobileNetV2</c:v>
                </c:pt>
              </c:strCache>
            </c:strRef>
          </c:cat>
          <c:val>
            <c:numRef>
              <c:f>'Chart Data'!$B$2:$B$4</c:f>
              <c:numCache>
                <c:formatCode>0.00</c:formatCode>
                <c:ptCount val="3"/>
                <c:pt idx="0">
                  <c:v>0.7669</c:v>
                </c:pt>
                <c:pt idx="1">
                  <c:v>0.7492</c:v>
                </c:pt>
                <c:pt idx="2">
                  <c:v>0.6753</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latin typeface="Franklin Gothic Book"/>
                  <a:ea typeface="Franklin Gothic Book"/>
                  <a:cs typeface="Franklin Gothic Book"/>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Franklin Gothic Book"/>
                <a:ea typeface="Franklin Gothic Book"/>
                <a:cs typeface="Franklin Gothic Book"/>
              </a:defRPr>
            </a:pPr>
          </a:p>
        </c:txPr>
        <c:crossAx val="48672768"/>
      </c:catAx>
      <c:valAx>
        <c:axId val="48672768"/>
        <c:scaling>
          <c:orientation val="minMax"/>
          <c:max val="1"/>
          <c:min val="0"/>
        </c:scaling>
        <c:delete val="0"/>
        <c:axPos val="l"/>
        <c:majorGridlines>
          <c:spPr>
            <a:ln xmlns:a="http://schemas.openxmlformats.org/drawingml/2006/main" w="9525">
              <a:solidFill>
                <a:srgbClr val="D8E1E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Franklin Gothic Book"/>
                <a:ea typeface="Franklin Gothic Book"/>
                <a:cs typeface="Franklin Gothic Book"/>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RNA con HOG</c:v>
          </c:tx>
          <c:spPr>
            <a:solidFill xmlns:a="http://schemas.openxmlformats.org/drawingml/2006/main">
              <a:srgbClr val="16A9D4"/>
            </a:solidFill>
          </c:spPr>
          <c:invertIfNegative val="0"/>
          <c:cat>
            <c:strRef>
              <c:f>'Chart Data'!$A$2:$A$4</c:f>
              <c:strCache>
                <c:ptCount val="3"/>
                <c:pt idx="0">
                  <c:v>Precisión micro</c:v>
                </c:pt>
                <c:pt idx="1">
                  <c:v>Recall micro</c:v>
                </c:pt>
                <c:pt idx="2">
                  <c:v>F1 micro</c:v>
                </c:pt>
              </c:strCache>
            </c:strRef>
          </c:cat>
          <c:val>
            <c:numRef>
              <c:f>'Chart Data'!$B$2:$B$4</c:f>
              <c:numCache>
                <c:formatCode>0.00</c:formatCode>
                <c:ptCount val="3"/>
                <c:pt idx="0">
                  <c:v>0.0786</c:v>
                </c:pt>
                <c:pt idx="1">
                  <c:v>0.8193</c:v>
                </c:pt>
                <c:pt idx="2">
                  <c:v>0.1435</c:v>
                </c:pt>
              </c:numCache>
            </c:numRef>
          </c:val>
        </c:ser>
        <c:ser>
          <c:idx val="1"/>
          <c:order val="1"/>
          <c:tx>
            <c:v>CNN: VGG compacta</c:v>
          </c:tx>
          <c:spPr>
            <a:solidFill xmlns:a="http://schemas.openxmlformats.org/drawingml/2006/main">
              <a:srgbClr val="EF721B"/>
            </a:solidFill>
          </c:spPr>
          <c:invertIfNegative val="0"/>
          <c:cat>
            <c:strRef>
              <c:f>'Chart Data'!$C$2:$C$4</c:f>
              <c:strCache>
                <c:ptCount val="3"/>
                <c:pt idx="0">
                  <c:v>Precisión micro</c:v>
                </c:pt>
                <c:pt idx="1">
                  <c:v>Recall micro</c:v>
                </c:pt>
                <c:pt idx="2">
                  <c:v>F1 micro</c:v>
                </c:pt>
              </c:strCache>
            </c:strRef>
          </c:cat>
          <c:val>
            <c:numRef>
              <c:f>'Chart Data'!$D$2:$D$4</c:f>
              <c:numCache>
                <c:formatCode>0.00</c:formatCode>
                <c:ptCount val="3"/>
                <c:pt idx="0">
                  <c:v>0.0975</c:v>
                </c:pt>
                <c:pt idx="1">
                  <c:v>0.839</c:v>
                </c:pt>
                <c:pt idx="2">
                  <c:v>0.1747</c:v>
                </c:pt>
              </c:numCache>
            </c:numRef>
          </c:val>
        </c:ser>
        <c:dLbls>
          <c:numFmt formatCode="0.0000" sourceLinked="0"/>
          <c:txPr>
            <a:bodyPr xmlns:a="http://schemas.openxmlformats.org/drawingml/2006/main" anchorCtr="1"/>
            <a:lstStyle xmlns:a="http://schemas.openxmlformats.org/drawingml/2006/main"/>
            <a:p xmlns:a="http://schemas.openxmlformats.org/drawingml/2006/main">
              <a:pPr>
                <a:defRPr sz="1725">
                  <a:latin typeface="Franklin Gothic Book"/>
                  <a:ea typeface="Franklin Gothic Book"/>
                  <a:cs typeface="Franklin Gothic Book"/>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Franklin Gothic Book"/>
                <a:ea typeface="Franklin Gothic Book"/>
                <a:cs typeface="Franklin Gothic Book"/>
              </a:defRPr>
            </a:pPr>
          </a:p>
        </c:txPr>
        <c:crossAx val="48672768"/>
      </c:catAx>
      <c:valAx>
        <c:axId val="48672768"/>
        <c:scaling>
          <c:orientation val="minMax"/>
          <c:max val="1"/>
          <c:min val="0"/>
        </c:scaling>
        <c:delete val="0"/>
        <c:axPos val="l"/>
        <c:majorGridlines>
          <c:spPr>
            <a:ln xmlns:a="http://schemas.openxmlformats.org/drawingml/2006/main" w="9525">
              <a:solidFill>
                <a:srgbClr val="D8E1EF"/>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Franklin Gothic Book"/>
                <a:ea typeface="Franklin Gothic Book"/>
                <a:cs typeface="Franklin Gothic Book"/>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725">
              <a:latin typeface="Franklin Gothic Book"/>
              <a:ea typeface="Franklin Gothic Book"/>
              <a:cs typeface="Franklin Gothic Book"/>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f2a0d40a6b54488f">
            <a:lum/>
          </a:blip>
          <a:srcRect l="0" t="0" r="0" b="0"/>
          <a:stretch>
            <a:fillRect l="0" t="0" r="0" b="0"/>
          </a:stretch>
        </a:blipFill>
      </p:bgPr>
    </p:bg>
    <p:spTree>
      <p:nvGrpSpPr>
        <p:cNvPr id="1" name=""/>
        <p:cNvGrpSpPr/>
        <p:nvPr/>
      </p:nvGrpSpPr>
      <p:grpSpPr>
        <a:xfrm xmlns:a="http://schemas.openxmlformats.org/drawingml/2006/main"/>
      </p:grpSpPr>
      <p:sp>
        <p:nvSpPr>
          <p:cNvPr id="4" name="CuadroTexto 3">
            <a:extLst xmlns:a="http://schemas.openxmlformats.org/drawingml/2006/main">
              <a:ext uri="{FF2B5EF4-FFF2-40B4-BE49-F238E27FC236}">
                <a16:creationId xmlns:a16="http://schemas.microsoft.com/office/drawing/2014/main" id="{9A565BB0-67FC-F007-2424-319770A9FFED}"/>
              </a:ext>
            </a:extLst>
          </p:cNvPr>
          <p:cNvSpPr>
            <a:spLocks xmlns:a="http://schemas.openxmlformats.org/drawingml/2006/main" noGrp="1"/>
          </p:cNvSpPr>
          <p:nvPr/>
        </p:nvSpPr>
        <p:spPr>
          <a:xfrm xmlns:a="http://schemas.openxmlformats.org/drawingml/2006/main">
            <a:off x="4550188" y="2381250"/>
            <a:ext cx="7002494" cy="1303020"/>
          </a:xfrm>
          <a:prstGeom xmlns:a="http://schemas.openxmlformats.org/drawingml/2006/main" prst="rect">
            <a:avLst/>
          </a:prstGeom>
          <a:noFill xmlns:a="http://schemas.openxmlformats.org/drawingml/2006/main"/>
        </p:spPr>
        <p:txBody>
          <a:bodyPr xmlns:a="http://schemas.openxmlformats.org/drawingml/2006/main" wrap="square" lIns="0" tIns="0" rIns="0" bIns="0" anchor="t">
            <a:spAutoFit/>
          </a:bodyPr>
          <a:lstStyle xmlns:a="http://schemas.openxmlformats.org/drawingml/2006/main">
            <a:defPPr>
              <a:defRPr sz="4275">
                <a:solidFill>
                  <a:srgbClr val="FFFFFF"/>
                </a:solidFill>
                <a:latin typeface="Franklin Gothic Medium"/>
                <a:ea typeface="Franklin Gothic Medium"/>
                <a:cs typeface="Franklin Gothic Medium"/>
              </a:defRPr>
            </a:defPPr>
            <a:lvl1pPr>
              <a:buNone/>
              <a:defRPr sz="4275">
                <a:solidFill>
                  <a:srgbClr val="FFFFFF"/>
                </a:solidFill>
                <a:latin typeface="Franklin Gothic Medium"/>
                <a:ea typeface="Franklin Gothic Medium"/>
                <a:cs typeface="Franklin Gothic Medium"/>
              </a:defRPr>
            </a:lvl1pPr>
            <a:lvl2pPr>
              <a:buNone/>
              <a:defRPr sz="4275">
                <a:solidFill>
                  <a:srgbClr val="FFFFFF"/>
                </a:solidFill>
                <a:latin typeface="Franklin Gothic Medium"/>
                <a:ea typeface="Franklin Gothic Medium"/>
                <a:cs typeface="Franklin Gothic Medium"/>
              </a:defRPr>
            </a:lvl2pPr>
            <a:lvl3pPr>
              <a:buNone/>
              <a:defRPr sz="4275">
                <a:solidFill>
                  <a:srgbClr val="FFFFFF"/>
                </a:solidFill>
                <a:latin typeface="Franklin Gothic Medium"/>
                <a:ea typeface="Franklin Gothic Medium"/>
                <a:cs typeface="Franklin Gothic Medium"/>
              </a:defRPr>
            </a:lvl3pPr>
            <a:lvl4pPr>
              <a:buNone/>
              <a:defRPr sz="4275">
                <a:solidFill>
                  <a:srgbClr val="FFFFFF"/>
                </a:solidFill>
                <a:latin typeface="Franklin Gothic Medium"/>
                <a:ea typeface="Franklin Gothic Medium"/>
                <a:cs typeface="Franklin Gothic Medium"/>
              </a:defRPr>
            </a:lvl4pPr>
            <a:lvl5pPr>
              <a:buNone/>
              <a:defRPr sz="4275">
                <a:solidFill>
                  <a:srgbClr val="FFFFFF"/>
                </a:solidFill>
                <a:latin typeface="Franklin Gothic Medium"/>
                <a:ea typeface="Franklin Gothic Medium"/>
                <a:cs typeface="Franklin Gothic Medium"/>
              </a:defRPr>
            </a:lvl5pPr>
            <a:lvl6pPr>
              <a:buNone/>
              <a:defRPr sz="4275">
                <a:solidFill>
                  <a:srgbClr val="FFFFFF"/>
                </a:solidFill>
                <a:latin typeface="Franklin Gothic Medium"/>
                <a:ea typeface="Franklin Gothic Medium"/>
                <a:cs typeface="Franklin Gothic Medium"/>
              </a:defRPr>
            </a:lvl6pPr>
            <a:lvl7pPr>
              <a:buNone/>
              <a:defRPr sz="4275">
                <a:solidFill>
                  <a:srgbClr val="FFFFFF"/>
                </a:solidFill>
                <a:latin typeface="Franklin Gothic Medium"/>
                <a:ea typeface="Franklin Gothic Medium"/>
                <a:cs typeface="Franklin Gothic Medium"/>
              </a:defRPr>
            </a:lvl7pPr>
            <a:lvl8pPr>
              <a:buNone/>
              <a:defRPr sz="4275">
                <a:solidFill>
                  <a:srgbClr val="FFFFFF"/>
                </a:solidFill>
                <a:latin typeface="Franklin Gothic Medium"/>
                <a:ea typeface="Franklin Gothic Medium"/>
                <a:cs typeface="Franklin Gothic Medium"/>
              </a:defRPr>
            </a:lvl8pPr>
            <a:lvl9pPr>
              <a:buNone/>
              <a:defRPr sz="4275">
                <a:solidFill>
                  <a:srgbClr val="FFFFFF"/>
                </a:solidFill>
                <a:latin typeface="Franklin Gothic Medium"/>
                <a:ea typeface="Franklin Gothic Medium"/>
                <a:cs typeface="Franklin Gothic Medium"/>
              </a:defRPr>
            </a:lvl9pPr>
          </a:lstStyle>
          <a:p xmlns:a="http://schemas.openxmlformats.org/drawingml/2006/main">
            <a:pPr>
              <a:buNone/>
              <a:defRPr sz="4275">
                <a:solidFill>
                  <a:srgbClr val="FFFFFF"/>
                </a:solidFill>
                <a:latin typeface="Franklin Gothic Medium"/>
                <a:ea typeface="Franklin Gothic Medium"/>
                <a:cs typeface="Franklin Gothic Medium"/>
              </a:defRPr>
            </a:pPr>
            <a:r>
              <a:rPr sz="4275">
                <a:solidFill>
                  <a:srgbClr val="FFFFFF"/>
                </a:solidFill>
                <a:latin typeface="Franklin Gothic Medium"/>
                <a:ea typeface="Franklin Gothic Medium"/>
                <a:cs typeface="Franklin Gothic Medium"/>
              </a:rPr>
              <a:t>ChestMNIST</a:t>
            </a:r>
          </a:p>
          <a:p xmlns:a="http://schemas.openxmlformats.org/drawingml/2006/main">
            <a:pPr>
              <a:buNone/>
              <a:defRPr sz="4275">
                <a:solidFill>
                  <a:srgbClr val="FFFFFF"/>
                </a:solidFill>
                <a:latin typeface="Franklin Gothic Medium"/>
                <a:ea typeface="Franklin Gothic Medium"/>
                <a:cs typeface="Franklin Gothic Medium"/>
              </a:defRPr>
            </a:pPr>
            <a:r>
              <a:rPr sz="4275">
                <a:solidFill>
                  <a:srgbClr val="FFFFFF"/>
                </a:solidFill>
                <a:latin typeface="Franklin Gothic Medium"/>
                <a:ea typeface="Franklin Gothic Medium"/>
                <a:cs typeface="Franklin Gothic Medium"/>
              </a:rPr>
              <a:t>RNA con HOG y CNN</a:t>
            </a:r>
          </a:p>
        </p:txBody>
      </p:sp>
      <p:sp>
        <p:nvSpPr>
          <p:cNvPr id="5" name="texto-1">
            <a:extLst xmlns:a="http://schemas.openxmlformats.org/drawingml/2006/main">
              <a:ext uri="{FF2B5EF4-FFF2-40B4-BE49-F238E27FC236}">
                <a16:creationId xmlns:a16="http://schemas.microsoft.com/office/drawing/2014/main" id="{B37A4537-5CFD-4240-9B26-13825AABBC48}"/>
              </a:ext>
            </a:extLst>
          </p:cNvPr>
          <p:cNvSpPr>
            <a:spLocks xmlns:a="http://schemas.openxmlformats.org/drawingml/2006/main" noGrp="1"/>
          </p:cNvSpPr>
          <p:nvPr/>
        </p:nvSpPr>
        <p:spPr>
          <a:xfrm xmlns:a="http://schemas.openxmlformats.org/drawingml/2006/main">
            <a:off x="4552950" y="4095750"/>
            <a:ext cx="685800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FFFFFF"/>
                </a:solidFill>
                <a:latin typeface="Franklin Gothic Book"/>
                <a:ea typeface="Franklin Gothic Book"/>
                <a:cs typeface="Franklin Gothic Book"/>
              </a:defRPr>
            </a:defPPr>
            <a:lvl1pPr>
              <a:buNone/>
              <a:defRPr sz="2175" b="0">
                <a:solidFill>
                  <a:srgbClr val="FFFFFF"/>
                </a:solidFill>
                <a:latin typeface="Franklin Gothic Book"/>
                <a:ea typeface="Franklin Gothic Book"/>
                <a:cs typeface="Franklin Gothic Book"/>
              </a:defRPr>
            </a:lvl1pPr>
            <a:lvl2pPr>
              <a:buNone/>
              <a:defRPr sz="2175" b="0">
                <a:solidFill>
                  <a:srgbClr val="FFFFFF"/>
                </a:solidFill>
                <a:latin typeface="Franklin Gothic Book"/>
                <a:ea typeface="Franklin Gothic Book"/>
                <a:cs typeface="Franklin Gothic Book"/>
              </a:defRPr>
            </a:lvl2pPr>
            <a:lvl3pPr>
              <a:buNone/>
              <a:defRPr sz="2175" b="0">
                <a:solidFill>
                  <a:srgbClr val="FFFFFF"/>
                </a:solidFill>
                <a:latin typeface="Franklin Gothic Book"/>
                <a:ea typeface="Franklin Gothic Book"/>
                <a:cs typeface="Franklin Gothic Book"/>
              </a:defRPr>
            </a:lvl3pPr>
            <a:lvl4pPr>
              <a:buNone/>
              <a:defRPr sz="2175" b="0">
                <a:solidFill>
                  <a:srgbClr val="FFFFFF"/>
                </a:solidFill>
                <a:latin typeface="Franklin Gothic Book"/>
                <a:ea typeface="Franklin Gothic Book"/>
                <a:cs typeface="Franklin Gothic Book"/>
              </a:defRPr>
            </a:lvl4pPr>
            <a:lvl5pPr>
              <a:buNone/>
              <a:defRPr sz="2175" b="0">
                <a:solidFill>
                  <a:srgbClr val="FFFFFF"/>
                </a:solidFill>
                <a:latin typeface="Franklin Gothic Book"/>
                <a:ea typeface="Franklin Gothic Book"/>
                <a:cs typeface="Franklin Gothic Book"/>
              </a:defRPr>
            </a:lvl5pPr>
            <a:lvl6pPr>
              <a:buNone/>
              <a:defRPr sz="2175" b="0">
                <a:solidFill>
                  <a:srgbClr val="FFFFFF"/>
                </a:solidFill>
                <a:latin typeface="Franklin Gothic Book"/>
                <a:ea typeface="Franklin Gothic Book"/>
                <a:cs typeface="Franklin Gothic Book"/>
              </a:defRPr>
            </a:lvl6pPr>
            <a:lvl7pPr>
              <a:buNone/>
              <a:defRPr sz="2175" b="0">
                <a:solidFill>
                  <a:srgbClr val="FFFFFF"/>
                </a:solidFill>
                <a:latin typeface="Franklin Gothic Book"/>
                <a:ea typeface="Franklin Gothic Book"/>
                <a:cs typeface="Franklin Gothic Book"/>
              </a:defRPr>
            </a:lvl7pPr>
            <a:lvl8pPr>
              <a:buNone/>
              <a:defRPr sz="2175" b="0">
                <a:solidFill>
                  <a:srgbClr val="FFFFFF"/>
                </a:solidFill>
                <a:latin typeface="Franklin Gothic Book"/>
                <a:ea typeface="Franklin Gothic Book"/>
                <a:cs typeface="Franklin Gothic Book"/>
              </a:defRPr>
            </a:lvl8pPr>
            <a:lvl9pPr>
              <a:buNone/>
              <a:defRPr sz="2175" b="0">
                <a:solidFill>
                  <a:srgbClr val="FFFFFF"/>
                </a:solidFill>
                <a:latin typeface="Franklin Gothic Book"/>
                <a:ea typeface="Franklin Gothic Book"/>
                <a:cs typeface="Franklin Gothic Book"/>
              </a:defRPr>
            </a:lvl9pPr>
          </a:lstStyle>
          <a:p xmlns:a="http://schemas.openxmlformats.org/drawingml/2006/main">
            <a:pPr>
              <a:buNone/>
              <a:defRPr sz="2175" b="0">
                <a:solidFill>
                  <a:srgbClr val="FFFFFF"/>
                </a:solidFill>
                <a:latin typeface="Franklin Gothic Book"/>
                <a:ea typeface="Franklin Gothic Book"/>
                <a:cs typeface="Franklin Gothic Book"/>
              </a:defRPr>
            </a:pPr>
            <a:r>
              <a:rPr sz="2175" b="0">
                <a:solidFill>
                  <a:srgbClr val="FFFFFF"/>
                </a:solidFill>
                <a:latin typeface="Franklin Gothic Book"/>
                <a:ea typeface="Franklin Gothic Book"/>
                <a:cs typeface="Franklin Gothic Book"/>
              </a:rPr>
              <a:t>Brayan Charry</a:t>
            </a:r>
          </a:p>
          <a:p xmlns:a="http://schemas.openxmlformats.org/drawingml/2006/main">
            <a:pPr>
              <a:buNone/>
              <a:defRPr sz="2175" b="0">
                <a:solidFill>
                  <a:srgbClr val="FFFFFF"/>
                </a:solidFill>
                <a:latin typeface="Franklin Gothic Book"/>
                <a:ea typeface="Franklin Gothic Book"/>
                <a:cs typeface="Franklin Gothic Book"/>
              </a:defRPr>
            </a:pPr>
            <a:r>
              <a:rPr sz="2175" b="0">
                <a:solidFill>
                  <a:srgbClr val="FFFFFF"/>
                </a:solidFill>
                <a:latin typeface="Franklin Gothic Book"/>
                <a:ea typeface="Franklin Gothic Book"/>
                <a:cs typeface="Franklin Gothic Book"/>
              </a:rPr>
              <a:t>Julian Narvaez</a:t>
            </a:r>
          </a:p>
          <a:p xmlns:a="http://schemas.openxmlformats.org/drawingml/2006/main">
            <a:pPr>
              <a:buNone/>
              <a:defRPr sz="2175" b="0">
                <a:solidFill>
                  <a:srgbClr val="FFFFFF"/>
                </a:solidFill>
                <a:latin typeface="Franklin Gothic Book"/>
                <a:ea typeface="Franklin Gothic Book"/>
                <a:cs typeface="Franklin Gothic Book"/>
              </a:defRPr>
            </a:pPr>
            <a:r>
              <a:rPr sz="2175" b="0">
                <a:solidFill>
                  <a:srgbClr val="FFFFFF"/>
                </a:solidFill>
                <a:latin typeface="Franklin Gothic Book"/>
                <a:ea typeface="Franklin Gothic Book"/>
                <a:cs typeface="Franklin Gothic Book"/>
              </a:rPr>
              <a:t>Jhoiner Puentes</a:t>
            </a:r>
          </a:p>
        </p:txBody>
      </p:sp>
      <p:sp>
        <p:nvSpPr>
          <p:cNvPr id="6" name="texto-2">
            <a:extLst xmlns:a="http://schemas.openxmlformats.org/drawingml/2006/main">
              <a:ext uri="{FF2B5EF4-FFF2-40B4-BE49-F238E27FC236}">
                <a16:creationId xmlns:a16="http://schemas.microsoft.com/office/drawing/2014/main" id="{4224E5A1-AFAD-4779-9E1F-8C6F6991A597}"/>
              </a:ext>
            </a:extLst>
          </p:cNvPr>
          <p:cNvSpPr>
            <a:spLocks xmlns:a="http://schemas.openxmlformats.org/drawingml/2006/main" noGrp="1"/>
          </p:cNvSpPr>
          <p:nvPr/>
        </p:nvSpPr>
        <p:spPr>
          <a:xfrm xmlns:a="http://schemas.openxmlformats.org/drawingml/2006/main">
            <a:off x="4552950" y="5619750"/>
            <a:ext cx="6858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FFFFFF"/>
                </a:solidFill>
                <a:latin typeface="Franklin Gothic Book"/>
                <a:ea typeface="Franklin Gothic Book"/>
                <a:cs typeface="Franklin Gothic Book"/>
              </a:defRPr>
            </a:defPPr>
            <a:lvl1pPr>
              <a:buNone/>
              <a:defRPr sz="1800" b="0">
                <a:solidFill>
                  <a:srgbClr val="FFFFFF"/>
                </a:solidFill>
                <a:latin typeface="Franklin Gothic Book"/>
                <a:ea typeface="Franklin Gothic Book"/>
                <a:cs typeface="Franklin Gothic Book"/>
              </a:defRPr>
            </a:lvl1pPr>
            <a:lvl2pPr>
              <a:buNone/>
              <a:defRPr sz="1800" b="0">
                <a:solidFill>
                  <a:srgbClr val="FFFFFF"/>
                </a:solidFill>
                <a:latin typeface="Franklin Gothic Book"/>
                <a:ea typeface="Franklin Gothic Book"/>
                <a:cs typeface="Franklin Gothic Book"/>
              </a:defRPr>
            </a:lvl2pPr>
            <a:lvl3pPr>
              <a:buNone/>
              <a:defRPr sz="1800" b="0">
                <a:solidFill>
                  <a:srgbClr val="FFFFFF"/>
                </a:solidFill>
                <a:latin typeface="Franklin Gothic Book"/>
                <a:ea typeface="Franklin Gothic Book"/>
                <a:cs typeface="Franklin Gothic Book"/>
              </a:defRPr>
            </a:lvl3pPr>
            <a:lvl4pPr>
              <a:buNone/>
              <a:defRPr sz="1800" b="0">
                <a:solidFill>
                  <a:srgbClr val="FFFFFF"/>
                </a:solidFill>
                <a:latin typeface="Franklin Gothic Book"/>
                <a:ea typeface="Franklin Gothic Book"/>
                <a:cs typeface="Franklin Gothic Book"/>
              </a:defRPr>
            </a:lvl4pPr>
            <a:lvl5pPr>
              <a:buNone/>
              <a:defRPr sz="1800" b="0">
                <a:solidFill>
                  <a:srgbClr val="FFFFFF"/>
                </a:solidFill>
                <a:latin typeface="Franklin Gothic Book"/>
                <a:ea typeface="Franklin Gothic Book"/>
                <a:cs typeface="Franklin Gothic Book"/>
              </a:defRPr>
            </a:lvl5pPr>
            <a:lvl6pPr>
              <a:buNone/>
              <a:defRPr sz="1800" b="0">
                <a:solidFill>
                  <a:srgbClr val="FFFFFF"/>
                </a:solidFill>
                <a:latin typeface="Franklin Gothic Book"/>
                <a:ea typeface="Franklin Gothic Book"/>
                <a:cs typeface="Franklin Gothic Book"/>
              </a:defRPr>
            </a:lvl6pPr>
            <a:lvl7pPr>
              <a:buNone/>
              <a:defRPr sz="1800" b="0">
                <a:solidFill>
                  <a:srgbClr val="FFFFFF"/>
                </a:solidFill>
                <a:latin typeface="Franklin Gothic Book"/>
                <a:ea typeface="Franklin Gothic Book"/>
                <a:cs typeface="Franklin Gothic Book"/>
              </a:defRPr>
            </a:lvl7pPr>
            <a:lvl8pPr>
              <a:buNone/>
              <a:defRPr sz="1800" b="0">
                <a:solidFill>
                  <a:srgbClr val="FFFFFF"/>
                </a:solidFill>
                <a:latin typeface="Franklin Gothic Book"/>
                <a:ea typeface="Franklin Gothic Book"/>
                <a:cs typeface="Franklin Gothic Book"/>
              </a:defRPr>
            </a:lvl8pPr>
            <a:lvl9pPr>
              <a:buNone/>
              <a:defRPr sz="1800" b="0">
                <a:solidFill>
                  <a:srgbClr val="FFFFFF"/>
                </a:solidFill>
                <a:latin typeface="Franklin Gothic Book"/>
                <a:ea typeface="Franklin Gothic Book"/>
                <a:cs typeface="Franklin Gothic Book"/>
              </a:defRPr>
            </a:lvl9pPr>
          </a:lstStyle>
          <a:p xmlns:a="http://schemas.openxmlformats.org/drawingml/2006/main">
            <a:pPr>
              <a:buNone/>
              <a:defRPr sz="1800" b="0">
                <a:solidFill>
                  <a:srgbClr val="FFFFFF"/>
                </a:solidFill>
                <a:latin typeface="Franklin Gothic Book"/>
                <a:ea typeface="Franklin Gothic Book"/>
                <a:cs typeface="Franklin Gothic Book"/>
              </a:defRPr>
            </a:pPr>
            <a:r>
              <a:rPr sz="1800" b="0">
                <a:solidFill>
                  <a:srgbClr val="FFFFFF"/>
                </a:solidFill>
                <a:latin typeface="Franklin Gothic Book"/>
                <a:ea typeface="Franklin Gothic Book"/>
                <a:cs typeface="Franklin Gothic Book"/>
              </a:rPr>
              <a:t>Inteligencia Artificial · Metodología CRISP-DM</a:t>
            </a:r>
          </a:p>
        </p:txBody>
      </p:sp>
    </p:spTree>
    <p:extLst>
      <p:ext uri="{BB962C8B-B14F-4D97-AF65-F5344CB8AC3E}">
        <p14:creationId xmlns:p14="http://schemas.microsoft.com/office/powerpoint/2010/main" val="4076259768"/>
      </p:ext>
    </p:extLst>
  </p:cSld>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49c89e9587a94805">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DB701F2F-5522-4E46-708B-73A0AC9AC47D}"/>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1. ENTENDIMIENTO DEL NEGOCIO</a:t>
            </a:r>
          </a:p>
        </p:txBody>
      </p:sp>
      <p:sp>
        <p:nvSpPr>
          <p:cNvPr id="3" name="texto-1">
            <a:extLst xmlns:a="http://schemas.openxmlformats.org/drawingml/2006/main">
              <a:ext uri="{FF2B5EF4-FFF2-40B4-BE49-F238E27FC236}">
                <a16:creationId xmlns:a16="http://schemas.microsoft.com/office/drawing/2014/main" id="{88742D56-4029-4748-9386-373350BE4BD4}"/>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Contexto y problema</a:t>
            </a:r>
          </a:p>
        </p:txBody>
      </p:sp>
      <p:sp>
        <p:nvSpPr>
          <p:cNvPr id="4" name="texto-2">
            <a:extLst xmlns:a="http://schemas.openxmlformats.org/drawingml/2006/main">
              <a:ext uri="{FF2B5EF4-FFF2-40B4-BE49-F238E27FC236}">
                <a16:creationId xmlns:a16="http://schemas.microsoft.com/office/drawing/2014/main" id="{1BEB2AB8-12BD-43F7-90A3-6F7A8876398A}"/>
              </a:ext>
            </a:extLst>
          </p:cNvPr>
          <p:cNvSpPr>
            <a:spLocks xmlns:a="http://schemas.openxmlformats.org/drawingml/2006/main" noGrp="1"/>
          </p:cNvSpPr>
          <p:nvPr/>
        </p:nvSpPr>
        <p:spPr>
          <a:xfrm xmlns:a="http://schemas.openxmlformats.org/drawingml/2006/main">
            <a:off x="1285875" y="30480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Las radiografías pueden presentar varios hallazgos al mismo tiempo.</a:t>
            </a:r>
          </a:p>
        </p:txBody>
      </p:sp>
      <p:sp>
        <p:nvSpPr>
          <p:cNvPr id="5" name="texto-3">
            <a:extLst xmlns:a="http://schemas.openxmlformats.org/drawingml/2006/main">
              <a:ext uri="{FF2B5EF4-FFF2-40B4-BE49-F238E27FC236}">
                <a16:creationId xmlns:a16="http://schemas.microsoft.com/office/drawing/2014/main" id="{DF278F4F-D1F6-4082-8173-839C305D7AD8}"/>
              </a:ext>
            </a:extLst>
          </p:cNvPr>
          <p:cNvSpPr>
            <a:spLocks xmlns:a="http://schemas.openxmlformats.org/drawingml/2006/main" noGrp="1"/>
          </p:cNvSpPr>
          <p:nvPr/>
        </p:nvSpPr>
        <p:spPr>
          <a:xfrm xmlns:a="http://schemas.openxmlformats.org/drawingml/2006/main">
            <a:off x="1285875" y="38862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Estudiamos la identificación de 14 etiquetas con dos enfoques: RNA con HOG y redes convolucionales.</a:t>
            </a:r>
          </a:p>
        </p:txBody>
      </p:sp>
      <p:sp>
        <p:nvSpPr>
          <p:cNvPr id="6" name="texto-4">
            <a:extLst xmlns:a="http://schemas.openxmlformats.org/drawingml/2006/main">
              <a:ext uri="{FF2B5EF4-FFF2-40B4-BE49-F238E27FC236}">
                <a16:creationId xmlns:a16="http://schemas.microsoft.com/office/drawing/2014/main" id="{3D3F2A43-DEDC-4E3F-9BDE-167D37E332A1}"/>
              </a:ext>
            </a:extLst>
          </p:cNvPr>
          <p:cNvSpPr>
            <a:spLocks xmlns:a="http://schemas.openxmlformats.org/drawingml/2006/main" noGrp="1"/>
          </p:cNvSpPr>
          <p:nvPr/>
        </p:nvSpPr>
        <p:spPr>
          <a:xfrm xmlns:a="http://schemas.openxmlformats.org/drawingml/2006/main">
            <a:off x="1285875" y="47244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Evaluamos resultados sobre imágenes de baja resolución. El alcance del proyecto es académico.</a:t>
            </a:r>
          </a:p>
        </p:txBody>
      </p:sp>
    </p:spTree>
    <p:extLst>
      <p:ext uri="{BB962C8B-B14F-4D97-AF65-F5344CB8AC3E}">
        <p14:creationId xmlns:p14="http://schemas.microsoft.com/office/powerpoint/2010/main" val="86128172"/>
      </p:ext>
    </p:extLst>
  </p:cSld>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3d31de0787fa4370">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1. ENTENDIMIENTO DEL NEGOCIO</a:t>
            </a:r>
          </a:p>
        </p:txBody>
      </p:sp>
      <p:sp>
        <p:nvSpPr>
          <p:cNvPr id="3" name="texto-1">
            <a:extLst xmlns:a="http://schemas.openxmlformats.org/drawingml/2006/main">
              <a:ext uri="{FF2B5EF4-FFF2-40B4-BE49-F238E27FC236}">
                <a16:creationId xmlns:a16="http://schemas.microsoft.com/office/drawing/2014/main" id="{3FDA7F90-DC13-40CA-A571-98BBF80086AD}"/>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Objetivo y criterios de evaluación</a:t>
            </a:r>
          </a:p>
        </p:txBody>
      </p:sp>
      <p:sp>
        <p:nvSpPr>
          <p:cNvPr id="4" name="texto-2">
            <a:extLst xmlns:a="http://schemas.openxmlformats.org/drawingml/2006/main">
              <a:ext uri="{FF2B5EF4-FFF2-40B4-BE49-F238E27FC236}">
                <a16:creationId xmlns:a16="http://schemas.microsoft.com/office/drawing/2014/main" id="{8222C047-E42F-4043-BFA0-2A1B14E4605B}"/>
              </a:ext>
            </a:extLst>
          </p:cNvPr>
          <p:cNvSpPr>
            <a:spLocks xmlns:a="http://schemas.openxmlformats.org/drawingml/2006/main" noGrp="1"/>
          </p:cNvSpPr>
          <p:nvPr/>
        </p:nvSpPr>
        <p:spPr>
          <a:xfrm xmlns:a="http://schemas.openxmlformats.org/drawingml/2006/main">
            <a:off x="1285875" y="30480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Comparar la RNA con HOG y la CNN para clasificar las 14 etiquetas de ChestMNIST.</a:t>
            </a:r>
          </a:p>
        </p:txBody>
      </p:sp>
      <p:sp>
        <p:nvSpPr>
          <p:cNvPr id="5" name="texto-3">
            <a:extLst xmlns:a="http://schemas.openxmlformats.org/drawingml/2006/main">
              <a:ext uri="{FF2B5EF4-FFF2-40B4-BE49-F238E27FC236}">
                <a16:creationId xmlns:a16="http://schemas.microsoft.com/office/drawing/2014/main" id="{EF85D65E-4A24-4320-8AB3-27DF09DCD41F}"/>
              </a:ext>
            </a:extLst>
          </p:cNvPr>
          <p:cNvSpPr>
            <a:spLocks xmlns:a="http://schemas.openxmlformats.org/drawingml/2006/main" noGrp="1"/>
          </p:cNvSpPr>
          <p:nvPr/>
        </p:nvSpPr>
        <p:spPr>
          <a:xfrm xmlns:a="http://schemas.openxmlformats.org/drawingml/2006/main">
            <a:off x="1285875" y="38862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Medir capacidad discriminativa con AUC macro y detección con precisión, recall y F1.</a:t>
            </a:r>
          </a:p>
        </p:txBody>
      </p:sp>
      <p:sp>
        <p:nvSpPr>
          <p:cNvPr id="6" name="texto-4">
            <a:extLst xmlns:a="http://schemas.openxmlformats.org/drawingml/2006/main">
              <a:ext uri="{FF2B5EF4-FFF2-40B4-BE49-F238E27FC236}">
                <a16:creationId xmlns:a16="http://schemas.microsoft.com/office/drawing/2014/main" id="{530AAFA0-B743-4A2D-9ED2-F555F5D0E2EB}"/>
              </a:ext>
            </a:extLst>
          </p:cNvPr>
          <p:cNvSpPr>
            <a:spLocks xmlns:a="http://schemas.openxmlformats.org/drawingml/2006/main" noGrp="1"/>
          </p:cNvSpPr>
          <p:nvPr/>
        </p:nvSpPr>
        <p:spPr>
          <a:xfrm xmlns:a="http://schemas.openxmlformats.org/drawingml/2006/main">
            <a:off x="1285875" y="4724400"/>
            <a:ext cx="7715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Interpretar falsos positivos y falsos negativos, además de la exactitud.</a:t>
            </a:r>
          </a:p>
        </p:txBody>
      </p:sp>
    </p:spTree>
    <p:extLst>
      <p:ext uri="{BB962C8B-B14F-4D97-AF65-F5344CB8AC3E}">
        <p14:creationId xmlns:p14="http://schemas.microsoft.com/office/powerpoint/2010/main" val="3737831003"/>
      </p:ext>
    </p:extLst>
  </p:cSld>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03648686738f4984">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2. ENTENDIMIENTO DE LOS DATOS</a:t>
            </a:r>
          </a:p>
        </p:txBody>
      </p:sp>
      <p:sp>
        <p:nvSpPr>
          <p:cNvPr id="3" name="texto-1">
            <a:extLst xmlns:a="http://schemas.openxmlformats.org/drawingml/2006/main">
              <a:ext uri="{FF2B5EF4-FFF2-40B4-BE49-F238E27FC236}">
                <a16:creationId xmlns:a16="http://schemas.microsoft.com/office/drawing/2014/main" id="{FF0418BD-D82E-4BE5-9212-5876C3DFF646}"/>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ChestMNIST y particiones oficiales</a:t>
            </a:r>
          </a:p>
        </p:txBody>
      </p:sp>
      <p:graphicFrame>
        <p:nvGraphicFramePr>
          <p:cNvPr id="4" name="">
            <a:extLst xmlns:a="http://schemas.openxmlformats.org/drawingml/2006/main">
              <a:ext uri="{FF2B5EF4-FFF2-40B4-BE49-F238E27FC236}">
                <a16:creationId xmlns:a16="http://schemas.microsoft.com/office/drawing/2014/main" id="{9D1AC858-1481-4B1F-97C5-DCA6318C38D7}"/>
              </a:ext>
            </a:extLst>
          </p:cNvPr>
          <p:cNvGraphicFramePr/>
          <p:nvPr/>
        </p:nvGraphicFramePr>
        <p:xfrm>
          <a:off xmlns:a="http://schemas.openxmlformats.org/drawingml/2006/main" x="962025" y="2524125"/>
          <a:ext xmlns:a="http://schemas.openxmlformats.org/drawingml/2006/main" cx="10287000" cy="2428875"/>
        </p:xfrm>
        <a:graphic xmlns:a="http://schemas.openxmlformats.org/drawingml/2006/main">
          <a:graphicData uri="http://schemas.openxmlformats.org/drawingml/2006/table">
            <a:tbl>
              <a:tblPr/>
              <a:tblGrid>
                <a:gridCol w="2857500"/>
                <a:gridCol w="2381250"/>
                <a:gridCol w="5048250"/>
              </a:tblGrid>
              <a:tr h="607219">
                <a:tc>
                  <a:txBody>
                    <a:bodyPr lIns="114300" tIns="114300" rIns="114300" bIns="114300"/>
                    <a:lstStyle/>
                    <a:p>
                      <a:r>
                        <a:rPr sz="2100" b="1">
                          <a:solidFill>
                            <a:srgbClr val="FFFFFF"/>
                          </a:solidFill>
                          <a:latin typeface="Franklin Gothic Book"/>
                          <a:ea typeface="Franklin Gothic Book"/>
                          <a:cs typeface="Franklin Gothic Book"/>
                        </a:rPr>
                        <a:t>Partición</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Imágenes</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Uso</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07219">
                <a:tc>
                  <a:txBody>
                    <a:bodyPr lIns="114300" tIns="114300" rIns="114300" bIns="114300"/>
                    <a:lstStyle/>
                    <a:p>
                      <a:r>
                        <a:rPr sz="2100" b="0">
                          <a:solidFill>
                            <a:srgbClr val="252C3B"/>
                          </a:solidFill>
                          <a:latin typeface="Franklin Gothic Book"/>
                          <a:ea typeface="Franklin Gothic Book"/>
                          <a:cs typeface="Franklin Gothic Book"/>
                        </a:rPr>
                        <a:t>Entrenamiento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78.468</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Ajustar los pesos</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07219">
                <a:tc>
                  <a:txBody>
                    <a:bodyPr lIns="114300" tIns="114300" rIns="114300" bIns="114300"/>
                    <a:lstStyle/>
                    <a:p>
                      <a:r>
                        <a:rPr sz="2100" b="0">
                          <a:solidFill>
                            <a:srgbClr val="252C3B"/>
                          </a:solidFill>
                          <a:latin typeface="Franklin Gothic Book"/>
                          <a:ea typeface="Franklin Gothic Book"/>
                          <a:cs typeface="Franklin Gothic Book"/>
                        </a:rPr>
                        <a:t>Validación</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11.219</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Selección y umbrales</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07219">
                <a:tc>
                  <a:txBody>
                    <a:bodyPr lIns="114300" tIns="114300" rIns="114300" bIns="114300"/>
                    <a:lstStyle/>
                    <a:p>
                      <a:r>
                        <a:rPr sz="2100" b="0">
                          <a:solidFill>
                            <a:srgbClr val="252C3B"/>
                          </a:solidFill>
                          <a:latin typeface="Franklin Gothic Book"/>
                          <a:ea typeface="Franklin Gothic Book"/>
                          <a:cs typeface="Franklin Gothic Book"/>
                        </a:rPr>
                        <a:t>Prueba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22.433</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Evaluación final</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F2EDACF3-1F87-4D95-986A-FD2E16F54AD4}"/>
              </a:ext>
            </a:extLst>
          </p:cNvPr>
          <p:cNvSpPr>
            <a:spLocks xmlns:a="http://schemas.openxmlformats.org/drawingml/2006/main" noGrp="1"/>
          </p:cNvSpPr>
          <p:nvPr/>
        </p:nvSpPr>
        <p:spPr>
          <a:xfrm xmlns:a="http://schemas.openxmlformats.org/drawingml/2006/main">
            <a:off x="962025" y="5286375"/>
            <a:ext cx="102870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252C3B"/>
                </a:solidFill>
                <a:latin typeface="Franklin Gothic Book"/>
                <a:ea typeface="Franklin Gothic Book"/>
                <a:cs typeface="Franklin Gothic Book"/>
              </a:defRPr>
            </a:defPPr>
            <a:lvl1pPr>
              <a:buNone/>
              <a:defRPr sz="2250" b="0">
                <a:solidFill>
                  <a:srgbClr val="252C3B"/>
                </a:solidFill>
                <a:latin typeface="Franklin Gothic Book"/>
                <a:ea typeface="Franklin Gothic Book"/>
                <a:cs typeface="Franklin Gothic Book"/>
              </a:defRPr>
            </a:lvl1pPr>
            <a:lvl2pPr>
              <a:buNone/>
              <a:defRPr sz="2250" b="0">
                <a:solidFill>
                  <a:srgbClr val="252C3B"/>
                </a:solidFill>
                <a:latin typeface="Franklin Gothic Book"/>
                <a:ea typeface="Franklin Gothic Book"/>
                <a:cs typeface="Franklin Gothic Book"/>
              </a:defRPr>
            </a:lvl2pPr>
            <a:lvl3pPr>
              <a:buNone/>
              <a:defRPr sz="2250" b="0">
                <a:solidFill>
                  <a:srgbClr val="252C3B"/>
                </a:solidFill>
                <a:latin typeface="Franklin Gothic Book"/>
                <a:ea typeface="Franklin Gothic Book"/>
                <a:cs typeface="Franklin Gothic Book"/>
              </a:defRPr>
            </a:lvl3pPr>
            <a:lvl4pPr>
              <a:buNone/>
              <a:defRPr sz="2250" b="0">
                <a:solidFill>
                  <a:srgbClr val="252C3B"/>
                </a:solidFill>
                <a:latin typeface="Franklin Gothic Book"/>
                <a:ea typeface="Franklin Gothic Book"/>
                <a:cs typeface="Franklin Gothic Book"/>
              </a:defRPr>
            </a:lvl4pPr>
            <a:lvl5pPr>
              <a:buNone/>
              <a:defRPr sz="2250" b="0">
                <a:solidFill>
                  <a:srgbClr val="252C3B"/>
                </a:solidFill>
                <a:latin typeface="Franklin Gothic Book"/>
                <a:ea typeface="Franklin Gothic Book"/>
                <a:cs typeface="Franklin Gothic Book"/>
              </a:defRPr>
            </a:lvl5pPr>
            <a:lvl6pPr>
              <a:buNone/>
              <a:defRPr sz="2250" b="0">
                <a:solidFill>
                  <a:srgbClr val="252C3B"/>
                </a:solidFill>
                <a:latin typeface="Franklin Gothic Book"/>
                <a:ea typeface="Franklin Gothic Book"/>
                <a:cs typeface="Franklin Gothic Book"/>
              </a:defRPr>
            </a:lvl6pPr>
            <a:lvl7pPr>
              <a:buNone/>
              <a:defRPr sz="2250" b="0">
                <a:solidFill>
                  <a:srgbClr val="252C3B"/>
                </a:solidFill>
                <a:latin typeface="Franklin Gothic Book"/>
                <a:ea typeface="Franklin Gothic Book"/>
                <a:cs typeface="Franklin Gothic Book"/>
              </a:defRPr>
            </a:lvl7pPr>
            <a:lvl8pPr>
              <a:buNone/>
              <a:defRPr sz="2250" b="0">
                <a:solidFill>
                  <a:srgbClr val="252C3B"/>
                </a:solidFill>
                <a:latin typeface="Franklin Gothic Book"/>
                <a:ea typeface="Franklin Gothic Book"/>
                <a:cs typeface="Franklin Gothic Book"/>
              </a:defRPr>
            </a:lvl8pPr>
            <a:lvl9pPr>
              <a:buNone/>
              <a:defRPr sz="2250" b="0">
                <a:solidFill>
                  <a:srgbClr val="252C3B"/>
                </a:solidFill>
                <a:latin typeface="Franklin Gothic Book"/>
                <a:ea typeface="Franklin Gothic Book"/>
                <a:cs typeface="Franklin Gothic Book"/>
              </a:defRPr>
            </a:lvl9pPr>
          </a:lstStyle>
          <a:p xmlns:a="http://schemas.openxmlformats.org/drawingml/2006/main">
            <a:pPr>
              <a:buNone/>
              <a:defRPr sz="2250" b="0">
                <a:solidFill>
                  <a:srgbClr val="252C3B"/>
                </a:solidFill>
                <a:latin typeface="Franklin Gothic Book"/>
                <a:ea typeface="Franklin Gothic Book"/>
                <a:cs typeface="Franklin Gothic Book"/>
              </a:defRPr>
            </a:pPr>
            <a:r>
              <a:rPr sz="2250" b="0">
                <a:solidFill>
                  <a:srgbClr val="252C3B"/>
                </a:solidFill>
                <a:latin typeface="Franklin Gothic Book"/>
                <a:ea typeface="Franklin Gothic Book"/>
                <a:cs typeface="Franklin Gothic Book"/>
              </a:rPr>
              <a:t>Imágenes de 28 × 28 en escala de grises. Cada una conserva 14 etiquetas binarias.</a:t>
            </a:r>
          </a:p>
        </p:txBody>
      </p:sp>
      <p:sp>
        <p:nvSpPr>
          <p:cNvPr id="6" name="texto-3">
            <a:extLst xmlns:a="http://schemas.openxmlformats.org/drawingml/2006/main">
              <a:ext uri="{FF2B5EF4-FFF2-40B4-BE49-F238E27FC236}">
                <a16:creationId xmlns:a16="http://schemas.microsoft.com/office/drawing/2014/main" id="{0763A8BE-694A-4295-965B-7704766598CA}"/>
              </a:ext>
            </a:extLst>
          </p:cNvPr>
          <p:cNvSpPr>
            <a:spLocks xmlns:a="http://schemas.openxmlformats.org/drawingml/2006/main" noGrp="1"/>
          </p:cNvSpPr>
          <p:nvPr/>
        </p:nvSpPr>
        <p:spPr>
          <a:xfrm xmlns:a="http://schemas.openxmlformats.org/drawingml/2006/main">
            <a:off x="962025" y="6124575"/>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650" b="0">
                <a:solidFill>
                  <a:srgbClr val="143393"/>
                </a:solidFill>
                <a:latin typeface="Franklin Gothic Book"/>
                <a:ea typeface="Franklin Gothic Book"/>
                <a:cs typeface="Franklin Gothic Book"/>
              </a:defRPr>
            </a:defPPr>
            <a:lvl1pPr>
              <a:buNone/>
              <a:defRPr sz="1650" b="0">
                <a:solidFill>
                  <a:srgbClr val="143393"/>
                </a:solidFill>
                <a:latin typeface="Franklin Gothic Book"/>
                <a:ea typeface="Franklin Gothic Book"/>
                <a:cs typeface="Franklin Gothic Book"/>
              </a:defRPr>
            </a:lvl1pPr>
            <a:lvl2pPr>
              <a:buNone/>
              <a:defRPr sz="1650" b="0">
                <a:solidFill>
                  <a:srgbClr val="143393"/>
                </a:solidFill>
                <a:latin typeface="Franklin Gothic Book"/>
                <a:ea typeface="Franklin Gothic Book"/>
                <a:cs typeface="Franklin Gothic Book"/>
              </a:defRPr>
            </a:lvl2pPr>
            <a:lvl3pPr>
              <a:buNone/>
              <a:defRPr sz="1650" b="0">
                <a:solidFill>
                  <a:srgbClr val="143393"/>
                </a:solidFill>
                <a:latin typeface="Franklin Gothic Book"/>
                <a:ea typeface="Franklin Gothic Book"/>
                <a:cs typeface="Franklin Gothic Book"/>
              </a:defRPr>
            </a:lvl3pPr>
            <a:lvl4pPr>
              <a:buNone/>
              <a:defRPr sz="1650" b="0">
                <a:solidFill>
                  <a:srgbClr val="143393"/>
                </a:solidFill>
                <a:latin typeface="Franklin Gothic Book"/>
                <a:ea typeface="Franklin Gothic Book"/>
                <a:cs typeface="Franklin Gothic Book"/>
              </a:defRPr>
            </a:lvl4pPr>
            <a:lvl5pPr>
              <a:buNone/>
              <a:defRPr sz="1650" b="0">
                <a:solidFill>
                  <a:srgbClr val="143393"/>
                </a:solidFill>
                <a:latin typeface="Franklin Gothic Book"/>
                <a:ea typeface="Franklin Gothic Book"/>
                <a:cs typeface="Franklin Gothic Book"/>
              </a:defRPr>
            </a:lvl5pPr>
            <a:lvl6pPr>
              <a:buNone/>
              <a:defRPr sz="1650" b="0">
                <a:solidFill>
                  <a:srgbClr val="143393"/>
                </a:solidFill>
                <a:latin typeface="Franklin Gothic Book"/>
                <a:ea typeface="Franklin Gothic Book"/>
                <a:cs typeface="Franklin Gothic Book"/>
              </a:defRPr>
            </a:lvl6pPr>
            <a:lvl7pPr>
              <a:buNone/>
              <a:defRPr sz="1650" b="0">
                <a:solidFill>
                  <a:srgbClr val="143393"/>
                </a:solidFill>
                <a:latin typeface="Franklin Gothic Book"/>
                <a:ea typeface="Franklin Gothic Book"/>
                <a:cs typeface="Franklin Gothic Book"/>
              </a:defRPr>
            </a:lvl7pPr>
            <a:lvl8pPr>
              <a:buNone/>
              <a:defRPr sz="1650" b="0">
                <a:solidFill>
                  <a:srgbClr val="143393"/>
                </a:solidFill>
                <a:latin typeface="Franklin Gothic Book"/>
                <a:ea typeface="Franklin Gothic Book"/>
                <a:cs typeface="Franklin Gothic Book"/>
              </a:defRPr>
            </a:lvl8pPr>
            <a:lvl9pPr>
              <a:buNone/>
              <a:defRPr sz="1650" b="0">
                <a:solidFill>
                  <a:srgbClr val="143393"/>
                </a:solidFill>
                <a:latin typeface="Franklin Gothic Book"/>
                <a:ea typeface="Franklin Gothic Book"/>
                <a:cs typeface="Franklin Gothic Book"/>
              </a:defRPr>
            </a:lvl9pPr>
          </a:lstStyle>
          <a:p xmlns:a="http://schemas.openxmlformats.org/drawingml/2006/main">
            <a:pPr>
              <a:buNone/>
              <a:defRPr sz="1650" b="0">
                <a:solidFill>
                  <a:srgbClr val="143393"/>
                </a:solidFill>
                <a:latin typeface="Franklin Gothic Book"/>
                <a:ea typeface="Franklin Gothic Book"/>
                <a:cs typeface="Franklin Gothic Book"/>
              </a:defRPr>
            </a:pPr>
            <a:r>
              <a:rPr sz="1650" b="0">
                <a:solidFill>
                  <a:srgbClr val="143393"/>
                </a:solidFill>
                <a:latin typeface="Franklin Gothic Book"/>
                <a:ea typeface="Franklin Gothic Book"/>
                <a:cs typeface="Franklin Gothic Book"/>
              </a:rPr>
              <a:t>Fuente del dataset: medmnist.com</a:t>
            </a:r>
          </a:p>
        </p:txBody>
      </p:sp>
    </p:spTree>
    <p:extLst>
      <p:ext uri="{BB962C8B-B14F-4D97-AF65-F5344CB8AC3E}">
        <p14:creationId xmlns:p14="http://schemas.microsoft.com/office/powerpoint/2010/main" val="3189128045"/>
      </p:ext>
    </p:extLst>
  </p:cSld>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78797e1d91e04bb3">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CC7988F5-61C5-C9FD-D634-C4C0464423AF}"/>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2. ENTENDIMIENTO DE LOS DATOS</a:t>
            </a:r>
          </a:p>
        </p:txBody>
      </p:sp>
      <p:sp>
        <p:nvSpPr>
          <p:cNvPr id="3" name="texto-1">
            <a:extLst xmlns:a="http://schemas.openxmlformats.org/drawingml/2006/main">
              <a:ext uri="{FF2B5EF4-FFF2-40B4-BE49-F238E27FC236}">
                <a16:creationId xmlns:a16="http://schemas.microsoft.com/office/drawing/2014/main" id="{E109136C-0FAA-42EB-B554-CBBAA82C84DB}"/>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Calidad de las imágenes y etiquetas</a:t>
            </a:r>
          </a:p>
        </p:txBody>
      </p:sp>
      <p:sp>
        <p:nvSpPr>
          <p:cNvPr id="4" name="texto-2">
            <a:extLst xmlns:a="http://schemas.openxmlformats.org/drawingml/2006/main">
              <a:ext uri="{FF2B5EF4-FFF2-40B4-BE49-F238E27FC236}">
                <a16:creationId xmlns:a16="http://schemas.microsoft.com/office/drawing/2014/main" id="{F83EBDC7-6837-48BD-AEF3-537E25EDF1B1}"/>
              </a:ext>
            </a:extLst>
          </p:cNvPr>
          <p:cNvSpPr>
            <a:spLocks xmlns:a="http://schemas.openxmlformats.org/drawingml/2006/main" noGrp="1"/>
          </p:cNvSpPr>
          <p:nvPr/>
        </p:nvSpPr>
        <p:spPr>
          <a:xfrm xmlns:a="http://schemas.openxmlformats.org/drawingml/2006/main">
            <a:off x="962025" y="2524125"/>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La auditoría no encontró píxeles no finitos, valores fuera de rango ni etiquetas inválidas.</a:t>
            </a:r>
          </a:p>
        </p:txBody>
      </p:sp>
      <p:sp>
        <p:nvSpPr>
          <p:cNvPr id="5" name="texto-3">
            <a:extLst xmlns:a="http://schemas.openxmlformats.org/drawingml/2006/main">
              <a:ext uri="{FF2B5EF4-FFF2-40B4-BE49-F238E27FC236}">
                <a16:creationId xmlns:a16="http://schemas.microsoft.com/office/drawing/2014/main" id="{6857E12B-9878-442D-B799-8EF6CCE63D45}"/>
              </a:ext>
            </a:extLst>
          </p:cNvPr>
          <p:cNvSpPr>
            <a:spLocks xmlns:a="http://schemas.openxmlformats.org/drawingml/2006/main" noGrp="1"/>
          </p:cNvSpPr>
          <p:nvPr/>
        </p:nvSpPr>
        <p:spPr>
          <a:xfrm xmlns:a="http://schemas.openxmlformats.org/drawingml/2006/main">
            <a:off x="962025" y="3390900"/>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Copias adicionales idénticas: 16 en entrenamiento, 5 en validación y 2 en prueba.</a:t>
            </a:r>
          </a:p>
        </p:txBody>
      </p:sp>
      <p:sp>
        <p:nvSpPr>
          <p:cNvPr id="6" name="texto-4">
            <a:extLst xmlns:a="http://schemas.openxmlformats.org/drawingml/2006/main">
              <a:ext uri="{FF2B5EF4-FFF2-40B4-BE49-F238E27FC236}">
                <a16:creationId xmlns:a16="http://schemas.microsoft.com/office/drawing/2014/main" id="{3092BBD1-64F8-40A4-86D4-5BFF4651EE2E}"/>
              </a:ext>
            </a:extLst>
          </p:cNvPr>
          <p:cNvSpPr>
            <a:spLocks xmlns:a="http://schemas.openxmlformats.org/drawingml/2006/main" noGrp="1"/>
          </p:cNvSpPr>
          <p:nvPr/>
        </p:nvSpPr>
        <p:spPr>
          <a:xfrm xmlns:a="http://schemas.openxmlformats.org/drawingml/2006/main">
            <a:off x="962025" y="4257675"/>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Hay 2 huellas compartidas entre entrenamiento y validación, y 1 entre validación y prueba.</a:t>
            </a:r>
          </a:p>
        </p:txBody>
      </p:sp>
      <p:sp>
        <p:nvSpPr>
          <p:cNvPr id="7" name="texto-5">
            <a:extLst xmlns:a="http://schemas.openxmlformats.org/drawingml/2006/main">
              <a:ext uri="{FF2B5EF4-FFF2-40B4-BE49-F238E27FC236}">
                <a16:creationId xmlns:a16="http://schemas.microsoft.com/office/drawing/2014/main" id="{AA436B26-79CD-4FC0-A125-24FD05E99160}"/>
              </a:ext>
            </a:extLst>
          </p:cNvPr>
          <p:cNvSpPr>
            <a:spLocks xmlns:a="http://schemas.openxmlformats.org/drawingml/2006/main" noGrp="1"/>
          </p:cNvSpPr>
          <p:nvPr/>
        </p:nvSpPr>
        <p:spPr>
          <a:xfrm xmlns:a="http://schemas.openxmlformats.org/drawingml/2006/main">
            <a:off x="962025" y="5124450"/>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Conservamos las particiones oficiales y documentamos estas coincidencias como limitación.</a:t>
            </a:r>
          </a:p>
        </p:txBody>
      </p:sp>
    </p:spTree>
    <p:extLst>
      <p:ext uri="{BB962C8B-B14F-4D97-AF65-F5344CB8AC3E}">
        <p14:creationId xmlns:p14="http://schemas.microsoft.com/office/powerpoint/2010/main" val="2041171357"/>
      </p:ext>
    </p:extLst>
  </p:cSld>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832123bce8834e06">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F98A213C-1484-ACE0-33F7-B5316756A7FC}"/>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2. ENTENDIMIENTO DE LOS DATOS</a:t>
            </a:r>
          </a:p>
        </p:txBody>
      </p:sp>
      <p:sp>
        <p:nvSpPr>
          <p:cNvPr id="3" name="texto-1">
            <a:extLst xmlns:a="http://schemas.openxmlformats.org/drawingml/2006/main">
              <a:ext uri="{FF2B5EF4-FFF2-40B4-BE49-F238E27FC236}">
                <a16:creationId xmlns:a16="http://schemas.microsoft.com/office/drawing/2014/main" id="{99EBCE3C-0431-4F91-BD8A-E350A0352B04}"/>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Distribución y desbalance de etiquetas</a:t>
            </a:r>
          </a:p>
        </p:txBody>
      </p:sp>
      <p:graphicFrame>
        <p:nvGraphicFramePr>
          <p:cNvPr id="4" name="Chart">
            <a:extLst xmlns:a="http://schemas.openxmlformats.org/drawingml/2006/main">
              <a:ext uri="{FF2B5EF4-FFF2-40B4-BE49-F238E27FC236}">
                <a16:creationId xmlns:a16="http://schemas.microsoft.com/office/drawing/2014/main" id="{E2ACC10C-0D4D-4D3E-9055-03DE7950C83E}"/>
              </a:ext>
            </a:extLst>
          </p:cNvPr>
          <p:cNvGraphicFramePr/>
          <p:nvPr/>
        </p:nvGraphicFramePr>
        <p:xfrm>
          <a:off xmlns:a="http://schemas.openxmlformats.org/drawingml/2006/main" x="962025" y="2524125"/>
          <a:ext xmlns:a="http://schemas.openxmlformats.org/drawingml/2006/main" cx="6762750" cy="3143250"/>
        </p:xfrm>
        <a:graphic xmlns:a="http://schemas.openxmlformats.org/drawingml/2006/main">
          <a:graphicData uri="http://schemas.openxmlformats.org/drawingml/2006/chart">
            <c:chart xmlns:r="http://schemas.openxmlformats.org/officeDocument/2006/relationships" xmlns:c="http://schemas.openxmlformats.org/drawingml/2006/chart" r:id="Rb47e06bb7020465a"/>
          </a:graphicData>
        </a:graphic>
      </p:graphicFrame>
      <p:sp>
        <p:nvSpPr>
          <p:cNvPr id="5" name="texto-2">
            <a:extLst xmlns:a="http://schemas.openxmlformats.org/drawingml/2006/main">
              <a:ext uri="{FF2B5EF4-FFF2-40B4-BE49-F238E27FC236}">
                <a16:creationId xmlns:a16="http://schemas.microsoft.com/office/drawing/2014/main" id="{76660104-3DC8-4EF6-A4EB-3F176219B2C5}"/>
              </a:ext>
            </a:extLst>
          </p:cNvPr>
          <p:cNvSpPr>
            <a:spLocks xmlns:a="http://schemas.openxmlformats.org/drawingml/2006/main" noGrp="1"/>
          </p:cNvSpPr>
          <p:nvPr/>
        </p:nvSpPr>
        <p:spPr>
          <a:xfrm xmlns:a="http://schemas.openxmlformats.org/drawingml/2006/main">
            <a:off x="8143875" y="2714625"/>
            <a:ext cx="300037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43393"/>
                </a:solidFill>
                <a:latin typeface="Franklin Gothic Medium"/>
                <a:ea typeface="Franklin Gothic Medium"/>
                <a:cs typeface="Franklin Gothic Medium"/>
              </a:defRPr>
            </a:defPPr>
            <a:lvl1pPr>
              <a:buNone/>
              <a:defRPr sz="2400" b="1">
                <a:solidFill>
                  <a:srgbClr val="143393"/>
                </a:solidFill>
                <a:latin typeface="Franklin Gothic Medium"/>
                <a:ea typeface="Franklin Gothic Medium"/>
                <a:cs typeface="Franklin Gothic Medium"/>
              </a:defRPr>
            </a:lvl1pPr>
            <a:lvl2pPr>
              <a:buNone/>
              <a:defRPr sz="2400" b="1">
                <a:solidFill>
                  <a:srgbClr val="143393"/>
                </a:solidFill>
                <a:latin typeface="Franklin Gothic Medium"/>
                <a:ea typeface="Franklin Gothic Medium"/>
                <a:cs typeface="Franklin Gothic Medium"/>
              </a:defRPr>
            </a:lvl2pPr>
            <a:lvl3pPr>
              <a:buNone/>
              <a:defRPr sz="2400" b="1">
                <a:solidFill>
                  <a:srgbClr val="143393"/>
                </a:solidFill>
                <a:latin typeface="Franklin Gothic Medium"/>
                <a:ea typeface="Franklin Gothic Medium"/>
                <a:cs typeface="Franklin Gothic Medium"/>
              </a:defRPr>
            </a:lvl3pPr>
            <a:lvl4pPr>
              <a:buNone/>
              <a:defRPr sz="2400" b="1">
                <a:solidFill>
                  <a:srgbClr val="143393"/>
                </a:solidFill>
                <a:latin typeface="Franklin Gothic Medium"/>
                <a:ea typeface="Franklin Gothic Medium"/>
                <a:cs typeface="Franklin Gothic Medium"/>
              </a:defRPr>
            </a:lvl4pPr>
            <a:lvl5pPr>
              <a:buNone/>
              <a:defRPr sz="2400" b="1">
                <a:solidFill>
                  <a:srgbClr val="143393"/>
                </a:solidFill>
                <a:latin typeface="Franklin Gothic Medium"/>
                <a:ea typeface="Franklin Gothic Medium"/>
                <a:cs typeface="Franklin Gothic Medium"/>
              </a:defRPr>
            </a:lvl5pPr>
            <a:lvl6pPr>
              <a:buNone/>
              <a:defRPr sz="2400" b="1">
                <a:solidFill>
                  <a:srgbClr val="143393"/>
                </a:solidFill>
                <a:latin typeface="Franklin Gothic Medium"/>
                <a:ea typeface="Franklin Gothic Medium"/>
                <a:cs typeface="Franklin Gothic Medium"/>
              </a:defRPr>
            </a:lvl6pPr>
            <a:lvl7pPr>
              <a:buNone/>
              <a:defRPr sz="2400" b="1">
                <a:solidFill>
                  <a:srgbClr val="143393"/>
                </a:solidFill>
                <a:latin typeface="Franklin Gothic Medium"/>
                <a:ea typeface="Franklin Gothic Medium"/>
                <a:cs typeface="Franklin Gothic Medium"/>
              </a:defRPr>
            </a:lvl7pPr>
            <a:lvl8pPr>
              <a:buNone/>
              <a:defRPr sz="2400" b="1">
                <a:solidFill>
                  <a:srgbClr val="143393"/>
                </a:solidFill>
                <a:latin typeface="Franklin Gothic Medium"/>
                <a:ea typeface="Franklin Gothic Medium"/>
                <a:cs typeface="Franklin Gothic Medium"/>
              </a:defRPr>
            </a:lvl8pPr>
            <a:lvl9pPr>
              <a:buNone/>
              <a:defRPr sz="2400" b="1">
                <a:solidFill>
                  <a:srgbClr val="143393"/>
                </a:solidFill>
                <a:latin typeface="Franklin Gothic Medium"/>
                <a:ea typeface="Franklin Gothic Medium"/>
                <a:cs typeface="Franklin Gothic Medium"/>
              </a:defRPr>
            </a:lvl9pPr>
          </a:lstStyle>
          <a:p xmlns:a="http://schemas.openxmlformats.org/drawingml/2006/main">
            <a:pPr>
              <a:buNone/>
              <a:defRPr sz="2400" b="1">
                <a:solidFill>
                  <a:srgbClr val="143393"/>
                </a:solidFill>
                <a:latin typeface="Franklin Gothic Medium"/>
                <a:ea typeface="Franklin Gothic Medium"/>
                <a:cs typeface="Franklin Gothic Medium"/>
              </a:defRPr>
            </a:pPr>
            <a:r>
              <a:rPr sz="2400" b="1">
                <a:solidFill>
                  <a:srgbClr val="143393"/>
                </a:solidFill>
                <a:latin typeface="Franklin Gothic Medium"/>
                <a:ea typeface="Franklin Gothic Medium"/>
                <a:cs typeface="Franklin Gothic Medium"/>
              </a:rPr>
              <a:t>Frecuencias muy distintas entre etiquetas</a:t>
            </a:r>
          </a:p>
        </p:txBody>
      </p:sp>
      <p:sp>
        <p:nvSpPr>
          <p:cNvPr id="6" name="texto-3">
            <a:extLst xmlns:a="http://schemas.openxmlformats.org/drawingml/2006/main">
              <a:ext uri="{FF2B5EF4-FFF2-40B4-BE49-F238E27FC236}">
                <a16:creationId xmlns:a16="http://schemas.microsoft.com/office/drawing/2014/main" id="{90FDC053-3842-42CC-A3AD-DF438D9D0F6A}"/>
              </a:ext>
            </a:extLst>
          </p:cNvPr>
          <p:cNvSpPr>
            <a:spLocks xmlns:a="http://schemas.openxmlformats.org/drawingml/2006/main" noGrp="1"/>
          </p:cNvSpPr>
          <p:nvPr/>
        </p:nvSpPr>
        <p:spPr>
          <a:xfrm xmlns:a="http://schemas.openxmlformats.org/drawingml/2006/main">
            <a:off x="8143875" y="3857625"/>
            <a:ext cx="3000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52C3B"/>
                </a:solidFill>
                <a:latin typeface="Franklin Gothic Book"/>
                <a:ea typeface="Franklin Gothic Book"/>
                <a:cs typeface="Franklin Gothic Book"/>
              </a:defRPr>
            </a:defPPr>
            <a:lvl1pPr>
              <a:buNone/>
              <a:defRPr sz="2100" b="0">
                <a:solidFill>
                  <a:srgbClr val="252C3B"/>
                </a:solidFill>
                <a:latin typeface="Franklin Gothic Book"/>
                <a:ea typeface="Franklin Gothic Book"/>
                <a:cs typeface="Franklin Gothic Book"/>
              </a:defRPr>
            </a:lvl1pPr>
            <a:lvl2pPr>
              <a:buNone/>
              <a:defRPr sz="2100" b="0">
                <a:solidFill>
                  <a:srgbClr val="252C3B"/>
                </a:solidFill>
                <a:latin typeface="Franklin Gothic Book"/>
                <a:ea typeface="Franklin Gothic Book"/>
                <a:cs typeface="Franklin Gothic Book"/>
              </a:defRPr>
            </a:lvl2pPr>
            <a:lvl3pPr>
              <a:buNone/>
              <a:defRPr sz="2100" b="0">
                <a:solidFill>
                  <a:srgbClr val="252C3B"/>
                </a:solidFill>
                <a:latin typeface="Franklin Gothic Book"/>
                <a:ea typeface="Franklin Gothic Book"/>
                <a:cs typeface="Franklin Gothic Book"/>
              </a:defRPr>
            </a:lvl3pPr>
            <a:lvl4pPr>
              <a:buNone/>
              <a:defRPr sz="2100" b="0">
                <a:solidFill>
                  <a:srgbClr val="252C3B"/>
                </a:solidFill>
                <a:latin typeface="Franklin Gothic Book"/>
                <a:ea typeface="Franklin Gothic Book"/>
                <a:cs typeface="Franklin Gothic Book"/>
              </a:defRPr>
            </a:lvl4pPr>
            <a:lvl5pPr>
              <a:buNone/>
              <a:defRPr sz="2100" b="0">
                <a:solidFill>
                  <a:srgbClr val="252C3B"/>
                </a:solidFill>
                <a:latin typeface="Franklin Gothic Book"/>
                <a:ea typeface="Franklin Gothic Book"/>
                <a:cs typeface="Franklin Gothic Book"/>
              </a:defRPr>
            </a:lvl5pPr>
            <a:lvl6pPr>
              <a:buNone/>
              <a:defRPr sz="2100" b="0">
                <a:solidFill>
                  <a:srgbClr val="252C3B"/>
                </a:solidFill>
                <a:latin typeface="Franklin Gothic Book"/>
                <a:ea typeface="Franklin Gothic Book"/>
                <a:cs typeface="Franklin Gothic Book"/>
              </a:defRPr>
            </a:lvl6pPr>
            <a:lvl7pPr>
              <a:buNone/>
              <a:defRPr sz="2100" b="0">
                <a:solidFill>
                  <a:srgbClr val="252C3B"/>
                </a:solidFill>
                <a:latin typeface="Franklin Gothic Book"/>
                <a:ea typeface="Franklin Gothic Book"/>
                <a:cs typeface="Franklin Gothic Book"/>
              </a:defRPr>
            </a:lvl7pPr>
            <a:lvl8pPr>
              <a:buNone/>
              <a:defRPr sz="2100" b="0">
                <a:solidFill>
                  <a:srgbClr val="252C3B"/>
                </a:solidFill>
                <a:latin typeface="Franklin Gothic Book"/>
                <a:ea typeface="Franklin Gothic Book"/>
                <a:cs typeface="Franklin Gothic Book"/>
              </a:defRPr>
            </a:lvl8pPr>
            <a:lvl9pPr>
              <a:buNone/>
              <a:defRPr sz="2100" b="0">
                <a:solidFill>
                  <a:srgbClr val="252C3B"/>
                </a:solidFill>
                <a:latin typeface="Franklin Gothic Book"/>
                <a:ea typeface="Franklin Gothic Book"/>
                <a:cs typeface="Franklin Gothic Book"/>
              </a:defRPr>
            </a:lvl9pPr>
          </a:lstStyle>
          <a:p xmlns:a="http://schemas.openxmlformats.org/drawingml/2006/main">
            <a:pPr>
              <a:buNone/>
              <a:defRPr sz="2100" b="0">
                <a:solidFill>
                  <a:srgbClr val="252C3B"/>
                </a:solidFill>
                <a:latin typeface="Franklin Gothic Book"/>
                <a:ea typeface="Franklin Gothic Book"/>
                <a:cs typeface="Franklin Gothic Book"/>
              </a:defRPr>
            </a:pPr>
            <a:r>
              <a:rPr sz="2100" b="0">
                <a:solidFill>
                  <a:srgbClr val="252C3B"/>
                </a:solidFill>
                <a:latin typeface="Franklin Gothic Book"/>
                <a:ea typeface="Franklin Gothic Book"/>
                <a:cs typeface="Franklin Gothic Book"/>
              </a:rPr>
              <a:t>En prueba, 11.928 imágenes no tienen etiquetas positivas registradas.</a:t>
            </a:r>
          </a:p>
        </p:txBody>
      </p:sp>
      <p:sp>
        <p:nvSpPr>
          <p:cNvPr id="7" name="texto-4">
            <a:extLst xmlns:a="http://schemas.openxmlformats.org/drawingml/2006/main">
              <a:ext uri="{FF2B5EF4-FFF2-40B4-BE49-F238E27FC236}">
                <a16:creationId xmlns:a16="http://schemas.microsoft.com/office/drawing/2014/main" id="{4F60DB99-DB48-4824-AD0E-9B3397ECA122}"/>
              </a:ext>
            </a:extLst>
          </p:cNvPr>
          <p:cNvSpPr>
            <a:spLocks xmlns:a="http://schemas.openxmlformats.org/drawingml/2006/main" noGrp="1"/>
          </p:cNvSpPr>
          <p:nvPr/>
        </p:nvSpPr>
        <p:spPr>
          <a:xfrm xmlns:a="http://schemas.openxmlformats.org/drawingml/2006/main">
            <a:off x="962025" y="5905500"/>
            <a:ext cx="10287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252C3B"/>
                </a:solidFill>
                <a:latin typeface="Franklin Gothic Book"/>
                <a:ea typeface="Franklin Gothic Book"/>
                <a:cs typeface="Franklin Gothic Book"/>
              </a:defRPr>
            </a:defPPr>
            <a:lvl1pPr>
              <a:buNone/>
              <a:defRPr sz="1950" b="0">
                <a:solidFill>
                  <a:srgbClr val="252C3B"/>
                </a:solidFill>
                <a:latin typeface="Franklin Gothic Book"/>
                <a:ea typeface="Franklin Gothic Book"/>
                <a:cs typeface="Franklin Gothic Book"/>
              </a:defRPr>
            </a:lvl1pPr>
            <a:lvl2pPr>
              <a:buNone/>
              <a:defRPr sz="1950" b="0">
                <a:solidFill>
                  <a:srgbClr val="252C3B"/>
                </a:solidFill>
                <a:latin typeface="Franklin Gothic Book"/>
                <a:ea typeface="Franklin Gothic Book"/>
                <a:cs typeface="Franklin Gothic Book"/>
              </a:defRPr>
            </a:lvl2pPr>
            <a:lvl3pPr>
              <a:buNone/>
              <a:defRPr sz="1950" b="0">
                <a:solidFill>
                  <a:srgbClr val="252C3B"/>
                </a:solidFill>
                <a:latin typeface="Franklin Gothic Book"/>
                <a:ea typeface="Franklin Gothic Book"/>
                <a:cs typeface="Franklin Gothic Book"/>
              </a:defRPr>
            </a:lvl3pPr>
            <a:lvl4pPr>
              <a:buNone/>
              <a:defRPr sz="1950" b="0">
                <a:solidFill>
                  <a:srgbClr val="252C3B"/>
                </a:solidFill>
                <a:latin typeface="Franklin Gothic Book"/>
                <a:ea typeface="Franklin Gothic Book"/>
                <a:cs typeface="Franklin Gothic Book"/>
              </a:defRPr>
            </a:lvl4pPr>
            <a:lvl5pPr>
              <a:buNone/>
              <a:defRPr sz="1950" b="0">
                <a:solidFill>
                  <a:srgbClr val="252C3B"/>
                </a:solidFill>
                <a:latin typeface="Franklin Gothic Book"/>
                <a:ea typeface="Franklin Gothic Book"/>
                <a:cs typeface="Franklin Gothic Book"/>
              </a:defRPr>
            </a:lvl5pPr>
            <a:lvl6pPr>
              <a:buNone/>
              <a:defRPr sz="1950" b="0">
                <a:solidFill>
                  <a:srgbClr val="252C3B"/>
                </a:solidFill>
                <a:latin typeface="Franklin Gothic Book"/>
                <a:ea typeface="Franklin Gothic Book"/>
                <a:cs typeface="Franklin Gothic Book"/>
              </a:defRPr>
            </a:lvl6pPr>
            <a:lvl7pPr>
              <a:buNone/>
              <a:defRPr sz="1950" b="0">
                <a:solidFill>
                  <a:srgbClr val="252C3B"/>
                </a:solidFill>
                <a:latin typeface="Franklin Gothic Book"/>
                <a:ea typeface="Franklin Gothic Book"/>
                <a:cs typeface="Franklin Gothic Book"/>
              </a:defRPr>
            </a:lvl7pPr>
            <a:lvl8pPr>
              <a:buNone/>
              <a:defRPr sz="1950" b="0">
                <a:solidFill>
                  <a:srgbClr val="252C3B"/>
                </a:solidFill>
                <a:latin typeface="Franklin Gothic Book"/>
                <a:ea typeface="Franklin Gothic Book"/>
                <a:cs typeface="Franklin Gothic Book"/>
              </a:defRPr>
            </a:lvl8pPr>
            <a:lvl9pPr>
              <a:buNone/>
              <a:defRPr sz="1950" b="0">
                <a:solidFill>
                  <a:srgbClr val="252C3B"/>
                </a:solidFill>
                <a:latin typeface="Franklin Gothic Book"/>
                <a:ea typeface="Franklin Gothic Book"/>
                <a:cs typeface="Franklin Gothic Book"/>
              </a:defRPr>
            </a:lvl9pPr>
          </a:lstStyle>
          <a:p xmlns:a="http://schemas.openxmlformats.org/drawingml/2006/main">
            <a:pPr>
              <a:buNone/>
              <a:defRPr sz="1950" b="0">
                <a:solidFill>
                  <a:srgbClr val="252C3B"/>
                </a:solidFill>
                <a:latin typeface="Franklin Gothic Book"/>
                <a:ea typeface="Franklin Gothic Book"/>
                <a:cs typeface="Franklin Gothic Book"/>
              </a:defRPr>
            </a:pPr>
            <a:r>
              <a:rPr sz="1950" b="0">
                <a:solidFill>
                  <a:srgbClr val="252C3B"/>
                </a:solidFill>
                <a:latin typeface="Franklin Gothic Book"/>
                <a:ea typeface="Franklin Gothic Book"/>
                <a:cs typeface="Franklin Gothic Book"/>
              </a:rPr>
              <a:t>La línea base de siempre ausencia alcanza 94,74 % de exactitud binaria, pero recall cero.</a:t>
            </a:r>
          </a:p>
        </p:txBody>
      </p:sp>
    </p:spTree>
    <p:extLst>
      <p:ext uri="{BB962C8B-B14F-4D97-AF65-F5344CB8AC3E}">
        <p14:creationId xmlns:p14="http://schemas.microsoft.com/office/powerpoint/2010/main" val="4203897296"/>
      </p:ext>
    </p:extLst>
  </p:cSld>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2763858fda7d45d3">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3. PREPARACIÓN DE LOS DATOS</a:t>
            </a:r>
          </a:p>
        </p:txBody>
      </p:sp>
      <p:sp>
        <p:nvSpPr>
          <p:cNvPr id="3" name="texto-1">
            <a:extLst xmlns:a="http://schemas.openxmlformats.org/drawingml/2006/main">
              <a:ext uri="{FF2B5EF4-FFF2-40B4-BE49-F238E27FC236}">
                <a16:creationId xmlns:a16="http://schemas.microsoft.com/office/drawing/2014/main" id="{3BE0570F-04FD-405C-969A-D8386B126E06}"/>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RNA: extracción de características HOG</a:t>
            </a:r>
          </a:p>
        </p:txBody>
      </p:sp>
      <p:pic>
        <p:nvPicPr>
          <p:cNvPr id="4" name="">
            <a:extLst xmlns:a="http://schemas.openxmlformats.org/drawingml/2006/main">
              <a:ext uri="{FF2B5EF4-FFF2-40B4-BE49-F238E27FC236}">
                <a16:creationId xmlns:a16="http://schemas.microsoft.com/office/drawing/2014/main" id="{FE6567A8-C913-4B51-850D-E79AE005D962}"/>
              </a:ext>
            </a:extLst>
          </p:cNvPr>
          <p:cNvPicPr>
            <a:picLocks xmlns:a="http://schemas.openxmlformats.org/drawingml/2006/main" noChangeAspect="1"/>
          </p:cNvPicPr>
          <p:nvPr/>
        </p:nvPicPr>
        <p:blipFill>
          <a:blip xmlns:r="http://schemas.openxmlformats.org/officeDocument/2006/relationships" xmlns:a="http://schemas.openxmlformats.org/drawingml/2006/main" r:embed="Rfd7d962e2da649be"/>
          <a:stretch xmlns:a="http://schemas.openxmlformats.org/drawingml/2006/main"/>
        </p:blipFill>
        <p:spPr>
          <a:xfrm xmlns:a="http://schemas.openxmlformats.org/drawingml/2006/main">
            <a:off x="1090601" y="2476500"/>
            <a:ext cx="5838849" cy="3048000"/>
          </a:xfrm>
          <a:prstGeom xmlns:a="http://schemas.openxmlformats.org/drawingml/2006/main" prst="rect">
            <a:avLst/>
          </a:prstGeom>
        </p:spPr>
      </p:pic>
      <p:sp>
        <p:nvSpPr>
          <p:cNvPr id="5" name="texto-2">
            <a:extLst xmlns:a="http://schemas.openxmlformats.org/drawingml/2006/main">
              <a:ext uri="{FF2B5EF4-FFF2-40B4-BE49-F238E27FC236}">
                <a16:creationId xmlns:a16="http://schemas.microsoft.com/office/drawing/2014/main" id="{7E9EA366-1905-46DC-A43D-B2367265AE02}"/>
              </a:ext>
            </a:extLst>
          </p:cNvPr>
          <p:cNvSpPr>
            <a:spLocks xmlns:a="http://schemas.openxmlformats.org/drawingml/2006/main" noGrp="1"/>
          </p:cNvSpPr>
          <p:nvPr/>
        </p:nvSpPr>
        <p:spPr>
          <a:xfrm xmlns:a="http://schemas.openxmlformats.org/drawingml/2006/main">
            <a:off x="7524750" y="2667000"/>
            <a:ext cx="37147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9 orientaciones</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Celdas de 7 × 7 píxeles</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Bloques de 2 × 2 celdas</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Normalización L2-Hys</a:t>
            </a:r>
          </a:p>
        </p:txBody>
      </p:sp>
      <p:sp>
        <p:nvSpPr>
          <p:cNvPr id="6" name="texto-3">
            <a:extLst xmlns:a="http://schemas.openxmlformats.org/drawingml/2006/main">
              <a:ext uri="{FF2B5EF4-FFF2-40B4-BE49-F238E27FC236}">
                <a16:creationId xmlns:a16="http://schemas.microsoft.com/office/drawing/2014/main" id="{9FB67783-FC5C-4C1C-930E-4FD880ED00D1}"/>
              </a:ext>
            </a:extLst>
          </p:cNvPr>
          <p:cNvSpPr>
            <a:spLocks xmlns:a="http://schemas.openxmlformats.org/drawingml/2006/main" noGrp="1"/>
          </p:cNvSpPr>
          <p:nvPr/>
        </p:nvSpPr>
        <p:spPr>
          <a:xfrm xmlns:a="http://schemas.openxmlformats.org/drawingml/2006/main">
            <a:off x="962025" y="58102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43393"/>
                </a:solidFill>
                <a:latin typeface="Franklin Gothic Medium"/>
                <a:ea typeface="Franklin Gothic Medium"/>
                <a:cs typeface="Franklin Gothic Medium"/>
              </a:defRPr>
            </a:defPPr>
            <a:lvl1pPr>
              <a:buNone/>
              <a:defRPr sz="2400" b="1">
                <a:solidFill>
                  <a:srgbClr val="143393"/>
                </a:solidFill>
                <a:latin typeface="Franklin Gothic Medium"/>
                <a:ea typeface="Franklin Gothic Medium"/>
                <a:cs typeface="Franklin Gothic Medium"/>
              </a:defRPr>
            </a:lvl1pPr>
            <a:lvl2pPr>
              <a:buNone/>
              <a:defRPr sz="2400" b="1">
                <a:solidFill>
                  <a:srgbClr val="143393"/>
                </a:solidFill>
                <a:latin typeface="Franklin Gothic Medium"/>
                <a:ea typeface="Franklin Gothic Medium"/>
                <a:cs typeface="Franklin Gothic Medium"/>
              </a:defRPr>
            </a:lvl2pPr>
            <a:lvl3pPr>
              <a:buNone/>
              <a:defRPr sz="2400" b="1">
                <a:solidFill>
                  <a:srgbClr val="143393"/>
                </a:solidFill>
                <a:latin typeface="Franklin Gothic Medium"/>
                <a:ea typeface="Franklin Gothic Medium"/>
                <a:cs typeface="Franklin Gothic Medium"/>
              </a:defRPr>
            </a:lvl3pPr>
            <a:lvl4pPr>
              <a:buNone/>
              <a:defRPr sz="2400" b="1">
                <a:solidFill>
                  <a:srgbClr val="143393"/>
                </a:solidFill>
                <a:latin typeface="Franklin Gothic Medium"/>
                <a:ea typeface="Franklin Gothic Medium"/>
                <a:cs typeface="Franklin Gothic Medium"/>
              </a:defRPr>
            </a:lvl4pPr>
            <a:lvl5pPr>
              <a:buNone/>
              <a:defRPr sz="2400" b="1">
                <a:solidFill>
                  <a:srgbClr val="143393"/>
                </a:solidFill>
                <a:latin typeface="Franklin Gothic Medium"/>
                <a:ea typeface="Franklin Gothic Medium"/>
                <a:cs typeface="Franklin Gothic Medium"/>
              </a:defRPr>
            </a:lvl5pPr>
            <a:lvl6pPr>
              <a:buNone/>
              <a:defRPr sz="2400" b="1">
                <a:solidFill>
                  <a:srgbClr val="143393"/>
                </a:solidFill>
                <a:latin typeface="Franklin Gothic Medium"/>
                <a:ea typeface="Franklin Gothic Medium"/>
                <a:cs typeface="Franklin Gothic Medium"/>
              </a:defRPr>
            </a:lvl6pPr>
            <a:lvl7pPr>
              <a:buNone/>
              <a:defRPr sz="2400" b="1">
                <a:solidFill>
                  <a:srgbClr val="143393"/>
                </a:solidFill>
                <a:latin typeface="Franklin Gothic Medium"/>
                <a:ea typeface="Franklin Gothic Medium"/>
                <a:cs typeface="Franklin Gothic Medium"/>
              </a:defRPr>
            </a:lvl7pPr>
            <a:lvl8pPr>
              <a:buNone/>
              <a:defRPr sz="2400" b="1">
                <a:solidFill>
                  <a:srgbClr val="143393"/>
                </a:solidFill>
                <a:latin typeface="Franklin Gothic Medium"/>
                <a:ea typeface="Franklin Gothic Medium"/>
                <a:cs typeface="Franklin Gothic Medium"/>
              </a:defRPr>
            </a:lvl8pPr>
            <a:lvl9pPr>
              <a:buNone/>
              <a:defRPr sz="2400" b="1">
                <a:solidFill>
                  <a:srgbClr val="143393"/>
                </a:solidFill>
                <a:latin typeface="Franklin Gothic Medium"/>
                <a:ea typeface="Franklin Gothic Medium"/>
                <a:cs typeface="Franklin Gothic Medium"/>
              </a:defRPr>
            </a:lvl9pPr>
          </a:lstStyle>
          <a:p xmlns:a="http://schemas.openxmlformats.org/drawingml/2006/main">
            <a:pPr>
              <a:buNone/>
              <a:defRPr sz="2400" b="1">
                <a:solidFill>
                  <a:srgbClr val="143393"/>
                </a:solidFill>
                <a:latin typeface="Franklin Gothic Medium"/>
                <a:ea typeface="Franklin Gothic Medium"/>
                <a:cs typeface="Franklin Gothic Medium"/>
              </a:defRPr>
            </a:pPr>
            <a:r>
              <a:rPr sz="2400" b="1">
                <a:solidFill>
                  <a:srgbClr val="143393"/>
                </a:solidFill>
                <a:latin typeface="Franklin Gothic Medium"/>
                <a:ea typeface="Franklin Gothic Medium"/>
                <a:cs typeface="Franklin Gothic Medium"/>
              </a:rPr>
              <a:t>Cada radiografía se convierte en un vector de 324 características.</a:t>
            </a:r>
          </a:p>
        </p:txBody>
      </p:sp>
    </p:spTree>
    <p:extLst>
      <p:ext uri="{BB962C8B-B14F-4D97-AF65-F5344CB8AC3E}">
        <p14:creationId xmlns:p14="http://schemas.microsoft.com/office/powerpoint/2010/main" val="667464790"/>
      </p:ext>
    </p:extLst>
  </p:cSld>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4c88c8495fb24c7d">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3. PREPARACIÓN DE LOS DATOS</a:t>
            </a:r>
          </a:p>
        </p:txBody>
      </p:sp>
      <p:sp>
        <p:nvSpPr>
          <p:cNvPr id="3" name="texto-1">
            <a:extLst xmlns:a="http://schemas.openxmlformats.org/drawingml/2006/main">
              <a:ext uri="{FF2B5EF4-FFF2-40B4-BE49-F238E27FC236}">
                <a16:creationId xmlns:a16="http://schemas.microsoft.com/office/drawing/2014/main" id="{9C9B03AE-5F87-4132-A23E-2F4B0B29E29B}"/>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RNA: construcción de las entradas</a:t>
            </a:r>
          </a:p>
        </p:txBody>
      </p:sp>
      <p:graphicFrame>
        <p:nvGraphicFramePr>
          <p:cNvPr id="4" name="">
            <a:extLst xmlns:a="http://schemas.openxmlformats.org/drawingml/2006/main">
              <a:ext uri="{FF2B5EF4-FFF2-40B4-BE49-F238E27FC236}">
                <a16:creationId xmlns:a16="http://schemas.microsoft.com/office/drawing/2014/main" id="{2B7C504F-D091-4AE9-A4C8-969371E69291}"/>
              </a:ext>
            </a:extLst>
          </p:cNvPr>
          <p:cNvGraphicFramePr/>
          <p:nvPr/>
        </p:nvGraphicFramePr>
        <p:xfrm>
          <a:off xmlns:a="http://schemas.openxmlformats.org/drawingml/2006/main" x="962025" y="2524125"/>
          <a:ext xmlns:a="http://schemas.openxmlformats.org/drawingml/2006/main" cx="10287000" cy="2667000"/>
        </p:xfrm>
        <a:graphic xmlns:a="http://schemas.openxmlformats.org/drawingml/2006/main">
          <a:graphicData uri="http://schemas.openxmlformats.org/drawingml/2006/table">
            <a:tbl>
              <a:tblPr/>
              <a:tblGrid>
                <a:gridCol w="2857500"/>
                <a:gridCol w="3810000"/>
                <a:gridCol w="3619500"/>
              </a:tblGrid>
              <a:tr h="666750">
                <a:tc>
                  <a:txBody>
                    <a:bodyPr lIns="114300" tIns="114300" rIns="114300" bIns="114300"/>
                    <a:lstStyle/>
                    <a:p>
                      <a:r>
                        <a:rPr sz="2025" b="1">
                          <a:solidFill>
                            <a:srgbClr val="FFFFFF"/>
                          </a:solidFill>
                          <a:latin typeface="Franklin Gothic Book"/>
                          <a:ea typeface="Franklin Gothic Book"/>
                          <a:cs typeface="Franklin Gothic Book"/>
                        </a:rPr>
                        <a:t>Conjunto</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025" b="1">
                          <a:solidFill>
                            <a:srgbClr val="FFFFFF"/>
                          </a:solidFill>
                          <a:latin typeface="Franklin Gothic Book"/>
                          <a:ea typeface="Franklin Gothic Book"/>
                          <a:cs typeface="Franklin Gothic Book"/>
                        </a:rPr>
                        <a:t>Matriz de características</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025" b="1">
                          <a:solidFill>
                            <a:srgbClr val="FFFFFF"/>
                          </a:solidFill>
                          <a:latin typeface="Franklin Gothic Book"/>
                          <a:ea typeface="Franklin Gothic Book"/>
                          <a:cs typeface="Franklin Gothic Book"/>
                        </a:rPr>
                        <a:t>Matriz de etiquetas</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66750">
                <a:tc>
                  <a:txBody>
                    <a:bodyPr lIns="114300" tIns="114300" rIns="114300" bIns="114300"/>
                    <a:lstStyle/>
                    <a:p>
                      <a:r>
                        <a:rPr sz="2025" b="0">
                          <a:solidFill>
                            <a:srgbClr val="252C3B"/>
                          </a:solidFill>
                          <a:latin typeface="Franklin Gothic Book"/>
                          <a:ea typeface="Franklin Gothic Book"/>
                          <a:cs typeface="Franklin Gothic Book"/>
                        </a:rPr>
                        <a:t>Entrenamiento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78.468 × 324</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78.468 × 14</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66750">
                <a:tc>
                  <a:txBody>
                    <a:bodyPr lIns="114300" tIns="114300" rIns="114300" bIns="114300"/>
                    <a:lstStyle/>
                    <a:p>
                      <a:r>
                        <a:rPr sz="2025" b="0">
                          <a:solidFill>
                            <a:srgbClr val="252C3B"/>
                          </a:solidFill>
                          <a:latin typeface="Franklin Gothic Book"/>
                          <a:ea typeface="Franklin Gothic Book"/>
                          <a:cs typeface="Franklin Gothic Book"/>
                        </a:rPr>
                        <a:t>Validación</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025" b="0">
                          <a:solidFill>
                            <a:srgbClr val="252C3B"/>
                          </a:solidFill>
                          <a:latin typeface="Franklin Gothic Book"/>
                          <a:ea typeface="Franklin Gothic Book"/>
                          <a:cs typeface="Franklin Gothic Book"/>
                        </a:rPr>
                        <a:t>11.219 × 324</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025" b="0">
                          <a:solidFill>
                            <a:srgbClr val="252C3B"/>
                          </a:solidFill>
                          <a:latin typeface="Franklin Gothic Book"/>
                          <a:ea typeface="Franklin Gothic Book"/>
                          <a:cs typeface="Franklin Gothic Book"/>
                        </a:rPr>
                        <a:t>11.219 × 14</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66750">
                <a:tc>
                  <a:txBody>
                    <a:bodyPr lIns="114300" tIns="114300" rIns="114300" bIns="114300"/>
                    <a:lstStyle/>
                    <a:p>
                      <a:r>
                        <a:rPr sz="2025" b="0">
                          <a:solidFill>
                            <a:srgbClr val="252C3B"/>
                          </a:solidFill>
                          <a:latin typeface="Franklin Gothic Book"/>
                          <a:ea typeface="Franklin Gothic Book"/>
                          <a:cs typeface="Franklin Gothic Book"/>
                        </a:rPr>
                        <a:t>Prueba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22.433 × 324</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22.433 × 14</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4D030434-1EDF-4075-9039-E086FED857B4}"/>
              </a:ext>
            </a:extLst>
          </p:cNvPr>
          <p:cNvSpPr>
            <a:spLocks xmlns:a="http://schemas.openxmlformats.org/drawingml/2006/main" noGrp="1"/>
          </p:cNvSpPr>
          <p:nvPr/>
        </p:nvSpPr>
        <p:spPr>
          <a:xfrm xmlns:a="http://schemas.openxmlformats.org/drawingml/2006/main">
            <a:off x="962025" y="5619750"/>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43393"/>
                </a:solidFill>
                <a:latin typeface="Franklin Gothic Medium"/>
                <a:ea typeface="Franklin Gothic Medium"/>
                <a:cs typeface="Franklin Gothic Medium"/>
              </a:defRPr>
            </a:defPPr>
            <a:lvl1pPr>
              <a:buNone/>
              <a:defRPr sz="2325" b="1">
                <a:solidFill>
                  <a:srgbClr val="143393"/>
                </a:solidFill>
                <a:latin typeface="Franklin Gothic Medium"/>
                <a:ea typeface="Franklin Gothic Medium"/>
                <a:cs typeface="Franklin Gothic Medium"/>
              </a:defRPr>
            </a:lvl1pPr>
            <a:lvl2pPr>
              <a:buNone/>
              <a:defRPr sz="2325" b="1">
                <a:solidFill>
                  <a:srgbClr val="143393"/>
                </a:solidFill>
                <a:latin typeface="Franklin Gothic Medium"/>
                <a:ea typeface="Franklin Gothic Medium"/>
                <a:cs typeface="Franklin Gothic Medium"/>
              </a:defRPr>
            </a:lvl2pPr>
            <a:lvl3pPr>
              <a:buNone/>
              <a:defRPr sz="2325" b="1">
                <a:solidFill>
                  <a:srgbClr val="143393"/>
                </a:solidFill>
                <a:latin typeface="Franklin Gothic Medium"/>
                <a:ea typeface="Franklin Gothic Medium"/>
                <a:cs typeface="Franklin Gothic Medium"/>
              </a:defRPr>
            </a:lvl3pPr>
            <a:lvl4pPr>
              <a:buNone/>
              <a:defRPr sz="2325" b="1">
                <a:solidFill>
                  <a:srgbClr val="143393"/>
                </a:solidFill>
                <a:latin typeface="Franklin Gothic Medium"/>
                <a:ea typeface="Franklin Gothic Medium"/>
                <a:cs typeface="Franklin Gothic Medium"/>
              </a:defRPr>
            </a:lvl4pPr>
            <a:lvl5pPr>
              <a:buNone/>
              <a:defRPr sz="2325" b="1">
                <a:solidFill>
                  <a:srgbClr val="143393"/>
                </a:solidFill>
                <a:latin typeface="Franklin Gothic Medium"/>
                <a:ea typeface="Franklin Gothic Medium"/>
                <a:cs typeface="Franklin Gothic Medium"/>
              </a:defRPr>
            </a:lvl5pPr>
            <a:lvl6pPr>
              <a:buNone/>
              <a:defRPr sz="2325" b="1">
                <a:solidFill>
                  <a:srgbClr val="143393"/>
                </a:solidFill>
                <a:latin typeface="Franklin Gothic Medium"/>
                <a:ea typeface="Franklin Gothic Medium"/>
                <a:cs typeface="Franklin Gothic Medium"/>
              </a:defRPr>
            </a:lvl6pPr>
            <a:lvl7pPr>
              <a:buNone/>
              <a:defRPr sz="2325" b="1">
                <a:solidFill>
                  <a:srgbClr val="143393"/>
                </a:solidFill>
                <a:latin typeface="Franklin Gothic Medium"/>
                <a:ea typeface="Franklin Gothic Medium"/>
                <a:cs typeface="Franklin Gothic Medium"/>
              </a:defRPr>
            </a:lvl7pPr>
            <a:lvl8pPr>
              <a:buNone/>
              <a:defRPr sz="2325" b="1">
                <a:solidFill>
                  <a:srgbClr val="143393"/>
                </a:solidFill>
                <a:latin typeface="Franklin Gothic Medium"/>
                <a:ea typeface="Franklin Gothic Medium"/>
                <a:cs typeface="Franklin Gothic Medium"/>
              </a:defRPr>
            </a:lvl8pPr>
            <a:lvl9pPr>
              <a:buNone/>
              <a:defRPr sz="2325" b="1">
                <a:solidFill>
                  <a:srgbClr val="143393"/>
                </a:solidFill>
                <a:latin typeface="Franklin Gothic Medium"/>
                <a:ea typeface="Franklin Gothic Medium"/>
                <a:cs typeface="Franklin Gothic Medium"/>
              </a:defRPr>
            </a:lvl9pPr>
          </a:lstStyle>
          <a:p xmlns:a="http://schemas.openxmlformats.org/drawingml/2006/main">
            <a:pPr>
              <a:buNone/>
              <a:defRPr sz="2325" b="1">
                <a:solidFill>
                  <a:srgbClr val="143393"/>
                </a:solidFill>
                <a:latin typeface="Franklin Gothic Medium"/>
                <a:ea typeface="Franklin Gothic Medium"/>
                <a:cs typeface="Franklin Gothic Medium"/>
              </a:defRPr>
            </a:pPr>
            <a:r>
              <a:rPr sz="2325" b="1">
                <a:solidFill>
                  <a:srgbClr val="143393"/>
                </a:solidFill>
                <a:latin typeface="Franklin Gothic Medium"/>
                <a:ea typeface="Franklin Gothic Medium"/>
                <a:cs typeface="Franklin Gothic Medium"/>
              </a:rPr>
              <a:t>9 bloques × 4 celdas × 9 orientaciones = 324 características</a:t>
            </a:r>
          </a:p>
        </p:txBody>
      </p:sp>
    </p:spTree>
    <p:extLst>
      <p:ext uri="{BB962C8B-B14F-4D97-AF65-F5344CB8AC3E}">
        <p14:creationId xmlns:p14="http://schemas.microsoft.com/office/powerpoint/2010/main" val="667464790"/>
      </p:ext>
    </p:extLst>
  </p:cSld>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2a00f9a1da204f56">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3. PREPARACIÓN DE LOS DATOS</a:t>
            </a:r>
          </a:p>
        </p:txBody>
      </p:sp>
      <p:sp>
        <p:nvSpPr>
          <p:cNvPr id="3" name="texto-1">
            <a:extLst xmlns:a="http://schemas.openxmlformats.org/drawingml/2006/main">
              <a:ext uri="{FF2B5EF4-FFF2-40B4-BE49-F238E27FC236}">
                <a16:creationId xmlns:a16="http://schemas.microsoft.com/office/drawing/2014/main" id="{54CB49AC-E5E1-4CB2-BE55-635C19EEFFF8}"/>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CNN: formato y normalización</a:t>
            </a:r>
          </a:p>
        </p:txBody>
      </p:sp>
      <p:graphicFrame>
        <p:nvGraphicFramePr>
          <p:cNvPr id="4" name="">
            <a:extLst xmlns:a="http://schemas.openxmlformats.org/drawingml/2006/main">
              <a:ext uri="{FF2B5EF4-FFF2-40B4-BE49-F238E27FC236}">
                <a16:creationId xmlns:a16="http://schemas.microsoft.com/office/drawing/2014/main" id="{D5BCDB39-06AC-498E-A600-2B15EA6D0BE8}"/>
              </a:ext>
            </a:extLst>
          </p:cNvPr>
          <p:cNvGraphicFramePr/>
          <p:nvPr/>
        </p:nvGraphicFramePr>
        <p:xfrm>
          <a:off xmlns:a="http://schemas.openxmlformats.org/drawingml/2006/main" x="962025" y="2524125"/>
          <a:ext xmlns:a="http://schemas.openxmlformats.org/drawingml/2006/main" cx="10287000" cy="2667000"/>
        </p:xfrm>
        <a:graphic xmlns:a="http://schemas.openxmlformats.org/drawingml/2006/main">
          <a:graphicData uri="http://schemas.openxmlformats.org/drawingml/2006/table">
            <a:tbl>
              <a:tblPr/>
              <a:tblGrid>
                <a:gridCol w="3333750"/>
                <a:gridCol w="3333750"/>
                <a:gridCol w="3619500"/>
              </a:tblGrid>
              <a:tr h="666750">
                <a:tc>
                  <a:txBody>
                    <a:bodyPr lIns="114300" tIns="114300" rIns="114300" bIns="114300"/>
                    <a:lstStyle/>
                    <a:p>
                      <a:r>
                        <a:rPr sz="2100" b="1">
                          <a:solidFill>
                            <a:srgbClr val="FFFFFF"/>
                          </a:solidFill>
                          <a:latin typeface="Franklin Gothic Book"/>
                          <a:ea typeface="Franklin Gothic Book"/>
                          <a:cs typeface="Franklin Gothic Book"/>
                        </a:rPr>
                        <a:t>Arquitectura</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Formato interno</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Normalización</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VGG compacta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28 × 28 × 1</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x / 255</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ResNet compacta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28 × 28 × 1</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x / 255</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MobileNetV2</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32 × 32 × 3</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x / 127,5 − 1</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FD36E84B-1226-4AA2-8705-26C53C698AAF}"/>
              </a:ext>
            </a:extLst>
          </p:cNvPr>
          <p:cNvSpPr>
            <a:spLocks xmlns:a="http://schemas.openxmlformats.org/drawingml/2006/main" noGrp="1"/>
          </p:cNvSpPr>
          <p:nvPr/>
        </p:nvSpPr>
        <p:spPr>
          <a:xfrm xmlns:a="http://schemas.openxmlformats.org/drawingml/2006/main">
            <a:off x="962025" y="5572125"/>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00" b="1">
                <a:solidFill>
                  <a:srgbClr val="143393"/>
                </a:solidFill>
                <a:latin typeface="Franklin Gothic Medium"/>
                <a:ea typeface="Franklin Gothic Medium"/>
                <a:cs typeface="Franklin Gothic Medium"/>
              </a:defRPr>
            </a:defPPr>
            <a:lvl1pPr>
              <a:buNone/>
              <a:defRPr sz="2400" b="1">
                <a:solidFill>
                  <a:srgbClr val="143393"/>
                </a:solidFill>
                <a:latin typeface="Franklin Gothic Medium"/>
                <a:ea typeface="Franklin Gothic Medium"/>
                <a:cs typeface="Franklin Gothic Medium"/>
              </a:defRPr>
            </a:lvl1pPr>
            <a:lvl2pPr>
              <a:buNone/>
              <a:defRPr sz="2400" b="1">
                <a:solidFill>
                  <a:srgbClr val="143393"/>
                </a:solidFill>
                <a:latin typeface="Franklin Gothic Medium"/>
                <a:ea typeface="Franklin Gothic Medium"/>
                <a:cs typeface="Franklin Gothic Medium"/>
              </a:defRPr>
            </a:lvl2pPr>
            <a:lvl3pPr>
              <a:buNone/>
              <a:defRPr sz="2400" b="1">
                <a:solidFill>
                  <a:srgbClr val="143393"/>
                </a:solidFill>
                <a:latin typeface="Franklin Gothic Medium"/>
                <a:ea typeface="Franklin Gothic Medium"/>
                <a:cs typeface="Franklin Gothic Medium"/>
              </a:defRPr>
            </a:lvl3pPr>
            <a:lvl4pPr>
              <a:buNone/>
              <a:defRPr sz="2400" b="1">
                <a:solidFill>
                  <a:srgbClr val="143393"/>
                </a:solidFill>
                <a:latin typeface="Franklin Gothic Medium"/>
                <a:ea typeface="Franklin Gothic Medium"/>
                <a:cs typeface="Franklin Gothic Medium"/>
              </a:defRPr>
            </a:lvl4pPr>
            <a:lvl5pPr>
              <a:buNone/>
              <a:defRPr sz="2400" b="1">
                <a:solidFill>
                  <a:srgbClr val="143393"/>
                </a:solidFill>
                <a:latin typeface="Franklin Gothic Medium"/>
                <a:ea typeface="Franklin Gothic Medium"/>
                <a:cs typeface="Franklin Gothic Medium"/>
              </a:defRPr>
            </a:lvl5pPr>
            <a:lvl6pPr>
              <a:buNone/>
              <a:defRPr sz="2400" b="1">
                <a:solidFill>
                  <a:srgbClr val="143393"/>
                </a:solidFill>
                <a:latin typeface="Franklin Gothic Medium"/>
                <a:ea typeface="Franklin Gothic Medium"/>
                <a:cs typeface="Franklin Gothic Medium"/>
              </a:defRPr>
            </a:lvl6pPr>
            <a:lvl7pPr>
              <a:buNone/>
              <a:defRPr sz="2400" b="1">
                <a:solidFill>
                  <a:srgbClr val="143393"/>
                </a:solidFill>
                <a:latin typeface="Franklin Gothic Medium"/>
                <a:ea typeface="Franklin Gothic Medium"/>
                <a:cs typeface="Franklin Gothic Medium"/>
              </a:defRPr>
            </a:lvl7pPr>
            <a:lvl8pPr>
              <a:buNone/>
              <a:defRPr sz="2400" b="1">
                <a:solidFill>
                  <a:srgbClr val="143393"/>
                </a:solidFill>
                <a:latin typeface="Franklin Gothic Medium"/>
                <a:ea typeface="Franklin Gothic Medium"/>
                <a:cs typeface="Franklin Gothic Medium"/>
              </a:defRPr>
            </a:lvl8pPr>
            <a:lvl9pPr>
              <a:buNone/>
              <a:defRPr sz="2400" b="1">
                <a:solidFill>
                  <a:srgbClr val="143393"/>
                </a:solidFill>
                <a:latin typeface="Franklin Gothic Medium"/>
                <a:ea typeface="Franklin Gothic Medium"/>
                <a:cs typeface="Franklin Gothic Medium"/>
              </a:defRPr>
            </a:lvl9pPr>
          </a:lstStyle>
          <a:p xmlns:a="http://schemas.openxmlformats.org/drawingml/2006/main">
            <a:pPr>
              <a:buNone/>
              <a:defRPr sz="2400" b="1">
                <a:solidFill>
                  <a:srgbClr val="143393"/>
                </a:solidFill>
                <a:latin typeface="Franklin Gothic Medium"/>
                <a:ea typeface="Franklin Gothic Medium"/>
                <a:cs typeface="Franklin Gothic Medium"/>
              </a:defRPr>
            </a:pPr>
            <a:r>
              <a:rPr sz="2400" b="1">
                <a:solidFill>
                  <a:srgbClr val="143393"/>
                </a:solidFill>
                <a:latin typeface="Franklin Gothic Medium"/>
                <a:ea typeface="Franklin Gothic Medium"/>
                <a:cs typeface="Franklin Gothic Medium"/>
              </a:rPr>
              <a:t>La CNN aprende filtros sobre la estructura espacial de la imagen.</a:t>
            </a:r>
          </a:p>
        </p:txBody>
      </p:sp>
      <p:sp>
        <p:nvSpPr>
          <p:cNvPr id="6" name="texto-3">
            <a:extLst xmlns:a="http://schemas.openxmlformats.org/drawingml/2006/main">
              <a:ext uri="{FF2B5EF4-FFF2-40B4-BE49-F238E27FC236}">
                <a16:creationId xmlns:a16="http://schemas.microsoft.com/office/drawing/2014/main" id="{5490A18E-6AC1-4FF3-9814-A4100E4B47F6}"/>
              </a:ext>
            </a:extLst>
          </p:cNvPr>
          <p:cNvSpPr>
            <a:spLocks xmlns:a="http://schemas.openxmlformats.org/drawingml/2006/main" noGrp="1"/>
          </p:cNvSpPr>
          <p:nvPr/>
        </p:nvSpPr>
        <p:spPr>
          <a:xfrm xmlns:a="http://schemas.openxmlformats.org/drawingml/2006/main">
            <a:off x="962025" y="6096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252C3B"/>
                </a:solidFill>
                <a:latin typeface="Franklin Gothic Book"/>
                <a:ea typeface="Franklin Gothic Book"/>
                <a:cs typeface="Franklin Gothic Book"/>
              </a:defRPr>
            </a:defPPr>
            <a:lvl1pPr>
              <a:buNone/>
              <a:defRPr sz="1875" b="0">
                <a:solidFill>
                  <a:srgbClr val="252C3B"/>
                </a:solidFill>
                <a:latin typeface="Franklin Gothic Book"/>
                <a:ea typeface="Franklin Gothic Book"/>
                <a:cs typeface="Franklin Gothic Book"/>
              </a:defRPr>
            </a:lvl1pPr>
            <a:lvl2pPr>
              <a:buNone/>
              <a:defRPr sz="1875" b="0">
                <a:solidFill>
                  <a:srgbClr val="252C3B"/>
                </a:solidFill>
                <a:latin typeface="Franklin Gothic Book"/>
                <a:ea typeface="Franklin Gothic Book"/>
                <a:cs typeface="Franklin Gothic Book"/>
              </a:defRPr>
            </a:lvl2pPr>
            <a:lvl3pPr>
              <a:buNone/>
              <a:defRPr sz="1875" b="0">
                <a:solidFill>
                  <a:srgbClr val="252C3B"/>
                </a:solidFill>
                <a:latin typeface="Franklin Gothic Book"/>
                <a:ea typeface="Franklin Gothic Book"/>
                <a:cs typeface="Franklin Gothic Book"/>
              </a:defRPr>
            </a:lvl3pPr>
            <a:lvl4pPr>
              <a:buNone/>
              <a:defRPr sz="1875" b="0">
                <a:solidFill>
                  <a:srgbClr val="252C3B"/>
                </a:solidFill>
                <a:latin typeface="Franklin Gothic Book"/>
                <a:ea typeface="Franklin Gothic Book"/>
                <a:cs typeface="Franklin Gothic Book"/>
              </a:defRPr>
            </a:lvl4pPr>
            <a:lvl5pPr>
              <a:buNone/>
              <a:defRPr sz="1875" b="0">
                <a:solidFill>
                  <a:srgbClr val="252C3B"/>
                </a:solidFill>
                <a:latin typeface="Franklin Gothic Book"/>
                <a:ea typeface="Franklin Gothic Book"/>
                <a:cs typeface="Franklin Gothic Book"/>
              </a:defRPr>
            </a:lvl5pPr>
            <a:lvl6pPr>
              <a:buNone/>
              <a:defRPr sz="1875" b="0">
                <a:solidFill>
                  <a:srgbClr val="252C3B"/>
                </a:solidFill>
                <a:latin typeface="Franklin Gothic Book"/>
                <a:ea typeface="Franklin Gothic Book"/>
                <a:cs typeface="Franklin Gothic Book"/>
              </a:defRPr>
            </a:lvl6pPr>
            <a:lvl7pPr>
              <a:buNone/>
              <a:defRPr sz="1875" b="0">
                <a:solidFill>
                  <a:srgbClr val="252C3B"/>
                </a:solidFill>
                <a:latin typeface="Franklin Gothic Book"/>
                <a:ea typeface="Franklin Gothic Book"/>
                <a:cs typeface="Franklin Gothic Book"/>
              </a:defRPr>
            </a:lvl7pPr>
            <a:lvl8pPr>
              <a:buNone/>
              <a:defRPr sz="1875" b="0">
                <a:solidFill>
                  <a:srgbClr val="252C3B"/>
                </a:solidFill>
                <a:latin typeface="Franklin Gothic Book"/>
                <a:ea typeface="Franklin Gothic Book"/>
                <a:cs typeface="Franklin Gothic Book"/>
              </a:defRPr>
            </a:lvl8pPr>
            <a:lvl9pPr>
              <a:buNone/>
              <a:defRPr sz="1875" b="0">
                <a:solidFill>
                  <a:srgbClr val="252C3B"/>
                </a:solidFill>
                <a:latin typeface="Franklin Gothic Book"/>
                <a:ea typeface="Franklin Gothic Book"/>
                <a:cs typeface="Franklin Gothic Book"/>
              </a:defRPr>
            </a:lvl9pPr>
          </a:lstStyle>
          <a:p xmlns:a="http://schemas.openxmlformats.org/drawingml/2006/main">
            <a:pPr>
              <a:buNone/>
              <a:defRPr sz="1875" b="0">
                <a:solidFill>
                  <a:srgbClr val="252C3B"/>
                </a:solidFill>
                <a:latin typeface="Franklin Gothic Book"/>
                <a:ea typeface="Franklin Gothic Book"/>
                <a:cs typeface="Franklin Gothic Book"/>
              </a:defRPr>
            </a:pPr>
            <a:r>
              <a:rPr sz="1875" b="0">
                <a:solidFill>
                  <a:srgbClr val="252C3B"/>
                </a:solidFill>
                <a:latin typeface="Franklin Gothic Book"/>
                <a:ea typeface="Franklin Gothic Book"/>
                <a:cs typeface="Franklin Gothic Book"/>
              </a:rPr>
              <a:t>MobileNetV2 repite el canal gris para adaptarlo a su base preentrenada.</a:t>
            </a:r>
          </a:p>
        </p:txBody>
      </p:sp>
    </p:spTree>
    <p:extLst>
      <p:ext uri="{BB962C8B-B14F-4D97-AF65-F5344CB8AC3E}">
        <p14:creationId xmlns:p14="http://schemas.microsoft.com/office/powerpoint/2010/main" val="667464790"/>
      </p:ext>
    </p:extLst>
  </p:cSld>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f951694f7d4449db">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DEDCB902-17C1-462A-8AE2-472B525F1B3F}"/>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RNA: perceptrón multicapa con HOG</a:t>
            </a:r>
          </a:p>
        </p:txBody>
      </p:sp>
      <p:graphicFrame>
        <p:nvGraphicFramePr>
          <p:cNvPr id="4" name="">
            <a:extLst xmlns:a="http://schemas.openxmlformats.org/drawingml/2006/main">
              <a:ext uri="{FF2B5EF4-FFF2-40B4-BE49-F238E27FC236}">
                <a16:creationId xmlns:a16="http://schemas.microsoft.com/office/drawing/2014/main" id="{CDAEA394-C76D-4483-8F21-75B8D754984D}"/>
              </a:ext>
            </a:extLst>
          </p:cNvPr>
          <p:cNvGraphicFramePr/>
          <p:nvPr/>
        </p:nvGraphicFramePr>
        <p:xfrm>
          <a:off xmlns:a="http://schemas.openxmlformats.org/drawingml/2006/main" x="962025" y="2524125"/>
          <a:ext xmlns:a="http://schemas.openxmlformats.org/drawingml/2006/main" cx="10287000" cy="3143250"/>
        </p:xfrm>
        <a:graphic xmlns:a="http://schemas.openxmlformats.org/drawingml/2006/main">
          <a:graphicData uri="http://schemas.openxmlformats.org/drawingml/2006/table">
            <a:tbl>
              <a:tblPr/>
              <a:tblGrid>
                <a:gridCol w="3714750"/>
                <a:gridCol w="6572250"/>
              </a:tblGrid>
              <a:tr h="628650">
                <a:tc>
                  <a:txBody>
                    <a:bodyPr lIns="114300" tIns="114300" rIns="114300" bIns="114300"/>
                    <a:lstStyle/>
                    <a:p>
                      <a:r>
                        <a:rPr sz="2100" b="1">
                          <a:solidFill>
                            <a:srgbClr val="FFFFFF"/>
                          </a:solidFill>
                          <a:latin typeface="Franklin Gothic Book"/>
                          <a:ea typeface="Franklin Gothic Book"/>
                          <a:cs typeface="Franklin Gothic Book"/>
                        </a:rPr>
                        <a:t>Elemento</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Configuración</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28650">
                <a:tc>
                  <a:txBody>
                    <a:bodyPr lIns="114300" tIns="114300" rIns="114300" bIns="114300"/>
                    <a:lstStyle/>
                    <a:p>
                      <a:r>
                        <a:rPr sz="2100" b="0">
                          <a:solidFill>
                            <a:srgbClr val="252C3B"/>
                          </a:solidFill>
                          <a:latin typeface="Franklin Gothic Book"/>
                          <a:ea typeface="Franklin Gothic Book"/>
                          <a:cs typeface="Franklin Gothic Book"/>
                        </a:rPr>
                        <a:t>Entrada y salida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324 características y 14 salidas</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28650">
                <a:tc>
                  <a:txBody>
                    <a:bodyPr lIns="114300" tIns="114300" rIns="114300" bIns="114300"/>
                    <a:lstStyle/>
                    <a:p>
                      <a:r>
                        <a:rPr sz="2100" b="0">
                          <a:solidFill>
                            <a:srgbClr val="252C3B"/>
                          </a:solidFill>
                          <a:latin typeface="Franklin Gothic Book"/>
                          <a:ea typeface="Franklin Gothic Book"/>
                          <a:cs typeface="Franklin Gothic Book"/>
                        </a:rPr>
                        <a:t>Capas ocultas</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64, 16 y 10 neuronas</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28650">
                <a:tc>
                  <a:txBody>
                    <a:bodyPr lIns="114300" tIns="114300" rIns="114300" bIns="114300"/>
                    <a:lstStyle/>
                    <a:p>
                      <a:r>
                        <a:rPr sz="2100" b="0">
                          <a:solidFill>
                            <a:srgbClr val="252C3B"/>
                          </a:solidFill>
                          <a:latin typeface="Franklin Gothic Book"/>
                          <a:ea typeface="Franklin Gothic Book"/>
                          <a:cs typeface="Franklin Gothic Book"/>
                        </a:rPr>
                        <a:t>Activación y optimizador</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ReLU y Adam</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28650">
                <a:tc>
                  <a:txBody>
                    <a:bodyPr lIns="114300" tIns="114300" rIns="114300" bIns="114300"/>
                    <a:lstStyle/>
                    <a:p>
                      <a:r>
                        <a:rPr sz="2100" b="0">
                          <a:solidFill>
                            <a:srgbClr val="252C3B"/>
                          </a:solidFill>
                          <a:latin typeface="Franklin Gothic Book"/>
                          <a:ea typeface="Franklin Gothic Book"/>
                          <a:cs typeface="Franklin Gothic Book"/>
                        </a:rPr>
                        <a:t>Tasa inicial y semilla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0,001 y 42</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bl>
          </a:graphicData>
        </a:graphic>
      </p:graphicFrame>
      <p:sp>
        <p:nvSpPr>
          <p:cNvPr id="5" name="texto-2">
            <a:extLst xmlns:a="http://schemas.openxmlformats.org/drawingml/2006/main">
              <a:ext uri="{FF2B5EF4-FFF2-40B4-BE49-F238E27FC236}">
                <a16:creationId xmlns:a16="http://schemas.microsoft.com/office/drawing/2014/main" id="{5534F972-43E3-4333-A3BD-62D574037C29}"/>
              </a:ext>
            </a:extLst>
          </p:cNvPr>
          <p:cNvSpPr>
            <a:spLocks xmlns:a="http://schemas.openxmlformats.org/drawingml/2006/main" noGrp="1"/>
          </p:cNvSpPr>
          <p:nvPr/>
        </p:nvSpPr>
        <p:spPr>
          <a:xfrm xmlns:a="http://schemas.openxmlformats.org/drawingml/2006/main">
            <a:off x="962025" y="6000750"/>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143393"/>
                </a:solidFill>
                <a:latin typeface="Franklin Gothic Book"/>
                <a:ea typeface="Franklin Gothic Book"/>
                <a:cs typeface="Franklin Gothic Book"/>
              </a:defRPr>
            </a:defPPr>
            <a:lvl1pPr>
              <a:buNone/>
              <a:defRPr sz="2025" b="0">
                <a:solidFill>
                  <a:srgbClr val="143393"/>
                </a:solidFill>
                <a:latin typeface="Franklin Gothic Book"/>
                <a:ea typeface="Franklin Gothic Book"/>
                <a:cs typeface="Franklin Gothic Book"/>
              </a:defRPr>
            </a:lvl1pPr>
            <a:lvl2pPr>
              <a:buNone/>
              <a:defRPr sz="2025" b="0">
                <a:solidFill>
                  <a:srgbClr val="143393"/>
                </a:solidFill>
                <a:latin typeface="Franklin Gothic Book"/>
                <a:ea typeface="Franklin Gothic Book"/>
                <a:cs typeface="Franklin Gothic Book"/>
              </a:defRPr>
            </a:lvl2pPr>
            <a:lvl3pPr>
              <a:buNone/>
              <a:defRPr sz="2025" b="0">
                <a:solidFill>
                  <a:srgbClr val="143393"/>
                </a:solidFill>
                <a:latin typeface="Franklin Gothic Book"/>
                <a:ea typeface="Franklin Gothic Book"/>
                <a:cs typeface="Franklin Gothic Book"/>
              </a:defRPr>
            </a:lvl3pPr>
            <a:lvl4pPr>
              <a:buNone/>
              <a:defRPr sz="2025" b="0">
                <a:solidFill>
                  <a:srgbClr val="143393"/>
                </a:solidFill>
                <a:latin typeface="Franklin Gothic Book"/>
                <a:ea typeface="Franklin Gothic Book"/>
                <a:cs typeface="Franklin Gothic Book"/>
              </a:defRPr>
            </a:lvl4pPr>
            <a:lvl5pPr>
              <a:buNone/>
              <a:defRPr sz="2025" b="0">
                <a:solidFill>
                  <a:srgbClr val="143393"/>
                </a:solidFill>
                <a:latin typeface="Franklin Gothic Book"/>
                <a:ea typeface="Franklin Gothic Book"/>
                <a:cs typeface="Franklin Gothic Book"/>
              </a:defRPr>
            </a:lvl5pPr>
            <a:lvl6pPr>
              <a:buNone/>
              <a:defRPr sz="2025" b="0">
                <a:solidFill>
                  <a:srgbClr val="143393"/>
                </a:solidFill>
                <a:latin typeface="Franklin Gothic Book"/>
                <a:ea typeface="Franklin Gothic Book"/>
                <a:cs typeface="Franklin Gothic Book"/>
              </a:defRPr>
            </a:lvl6pPr>
            <a:lvl7pPr>
              <a:buNone/>
              <a:defRPr sz="2025" b="0">
                <a:solidFill>
                  <a:srgbClr val="143393"/>
                </a:solidFill>
                <a:latin typeface="Franklin Gothic Book"/>
                <a:ea typeface="Franklin Gothic Book"/>
                <a:cs typeface="Franklin Gothic Book"/>
              </a:defRPr>
            </a:lvl7pPr>
            <a:lvl8pPr>
              <a:buNone/>
              <a:defRPr sz="2025" b="0">
                <a:solidFill>
                  <a:srgbClr val="143393"/>
                </a:solidFill>
                <a:latin typeface="Franklin Gothic Book"/>
                <a:ea typeface="Franklin Gothic Book"/>
                <a:cs typeface="Franklin Gothic Book"/>
              </a:defRPr>
            </a:lvl8pPr>
            <a:lvl9pPr>
              <a:buNone/>
              <a:defRPr sz="2025" b="0">
                <a:solidFill>
                  <a:srgbClr val="143393"/>
                </a:solidFill>
                <a:latin typeface="Franklin Gothic Book"/>
                <a:ea typeface="Franklin Gothic Book"/>
                <a:cs typeface="Franklin Gothic Book"/>
              </a:defRPr>
            </a:lvl9pPr>
          </a:lstStyle>
          <a:p xmlns:a="http://schemas.openxmlformats.org/drawingml/2006/main">
            <a:pPr>
              <a:buNone/>
              <a:defRPr sz="2025" b="0">
                <a:solidFill>
                  <a:srgbClr val="143393"/>
                </a:solidFill>
                <a:latin typeface="Franklin Gothic Book"/>
                <a:ea typeface="Franklin Gothic Book"/>
                <a:cs typeface="Franklin Gothic Book"/>
              </a:defRPr>
            </a:pPr>
            <a:r>
              <a:rPr sz="2025" b="0">
                <a:solidFill>
                  <a:srgbClr val="143393"/>
                </a:solidFill>
                <a:latin typeface="Franklin Gothic Book"/>
                <a:ea typeface="Franklin Gothic Book"/>
                <a:cs typeface="Franklin Gothic Book"/>
              </a:rPr>
              <a:t>Una configuración de RNA. Entrenamiento exclusivamente con train.</a:t>
            </a:r>
          </a:p>
        </p:txBody>
      </p:sp>
    </p:spTree>
    <p:extLst>
      <p:ext uri="{BB962C8B-B14F-4D97-AF65-F5344CB8AC3E}">
        <p14:creationId xmlns:p14="http://schemas.microsoft.com/office/powerpoint/2010/main" val="3770042391"/>
      </p:ext>
    </p:extLst>
  </p:cSld>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6ee4dedacb8843b2">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7CE4F7A1-CD32-44D0-B07A-67101E8B8F19}"/>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RNA: evolución de la pérdida</a:t>
            </a:r>
          </a:p>
        </p:txBody>
      </p:sp>
      <p:pic>
        <p:nvPicPr>
          <p:cNvPr id="4" name="">
            <a:extLst xmlns:a="http://schemas.openxmlformats.org/drawingml/2006/main">
              <a:ext uri="{FF2B5EF4-FFF2-40B4-BE49-F238E27FC236}">
                <a16:creationId xmlns:a16="http://schemas.microsoft.com/office/drawing/2014/main" id="{4896DEC4-8D4D-4903-9A31-3434A2B106CF}"/>
              </a:ext>
            </a:extLst>
          </p:cNvPr>
          <p:cNvPicPr>
            <a:picLocks xmlns:a="http://schemas.openxmlformats.org/drawingml/2006/main" noChangeAspect="1"/>
          </p:cNvPicPr>
          <p:nvPr/>
        </p:nvPicPr>
        <p:blipFill>
          <a:blip xmlns:r="http://schemas.openxmlformats.org/officeDocument/2006/relationships" xmlns:a="http://schemas.openxmlformats.org/drawingml/2006/main" r:embed="R828a1d2198954992"/>
          <a:stretch xmlns:a="http://schemas.openxmlformats.org/drawingml/2006/main"/>
        </p:blipFill>
        <p:spPr>
          <a:xfrm xmlns:a="http://schemas.openxmlformats.org/drawingml/2006/main">
            <a:off x="1399496" y="2428875"/>
            <a:ext cx="6364057" cy="3619500"/>
          </a:xfrm>
          <a:prstGeom xmlns:a="http://schemas.openxmlformats.org/drawingml/2006/main" prst="rect">
            <a:avLst/>
          </a:prstGeom>
        </p:spPr>
      </p:pic>
      <p:sp>
        <p:nvSpPr>
          <p:cNvPr id="5" name="texto-2">
            <a:extLst xmlns:a="http://schemas.openxmlformats.org/drawingml/2006/main">
              <a:ext uri="{FF2B5EF4-FFF2-40B4-BE49-F238E27FC236}">
                <a16:creationId xmlns:a16="http://schemas.microsoft.com/office/drawing/2014/main" id="{305D2ABD-4792-4D43-BE66-7FB5C6465A42}"/>
              </a:ext>
            </a:extLst>
          </p:cNvPr>
          <p:cNvSpPr>
            <a:spLocks xmlns:a="http://schemas.openxmlformats.org/drawingml/2006/main" noGrp="1"/>
          </p:cNvSpPr>
          <p:nvPr/>
        </p:nvSpPr>
        <p:spPr>
          <a:xfrm xmlns:a="http://schemas.openxmlformats.org/drawingml/2006/main">
            <a:off x="8524875" y="2667000"/>
            <a:ext cx="2762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473 iteraciones</a:t>
            </a:r>
          </a:p>
          <a:p xmlns:a="http://schemas.openxmlformats.org/drawingml/2006/main">
            <a:r>
              <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Pérdida final: 2,1655</a:t>
            </a:r>
          </a:p>
          <a:p xmlns:a="http://schemas.openxmlformats.org/drawingml/2006/main">
            <a:r>
              <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Máximo configurado: 2.000</a:t>
            </a:r>
          </a:p>
        </p:txBody>
      </p:sp>
      <p:sp>
        <p:nvSpPr>
          <p:cNvPr id="6" name="texto-3">
            <a:extLst xmlns:a="http://schemas.openxmlformats.org/drawingml/2006/main">
              <a:ext uri="{FF2B5EF4-FFF2-40B4-BE49-F238E27FC236}">
                <a16:creationId xmlns:a16="http://schemas.microsoft.com/office/drawing/2014/main" id="{FFCF90E0-06BB-4025-B19F-416B23E0DB6C}"/>
              </a:ext>
            </a:extLst>
          </p:cNvPr>
          <p:cNvSpPr>
            <a:spLocks xmlns:a="http://schemas.openxmlformats.org/drawingml/2006/main" noGrp="1"/>
          </p:cNvSpPr>
          <p:nvPr/>
        </p:nvSpPr>
        <p:spPr>
          <a:xfrm xmlns:a="http://schemas.openxmlformats.org/drawingml/2006/main">
            <a:off x="962025" y="61912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950" b="0">
                <a:solidFill>
                  <a:srgbClr val="143393"/>
                </a:solidFill>
                <a:latin typeface="Franklin Gothic Book"/>
                <a:ea typeface="Franklin Gothic Book"/>
                <a:cs typeface="Franklin Gothic Book"/>
              </a:defRPr>
            </a:defPPr>
            <a:lvl1pPr>
              <a:buNone/>
              <a:defRPr sz="1950" b="0">
                <a:solidFill>
                  <a:srgbClr val="143393"/>
                </a:solidFill>
                <a:latin typeface="Franklin Gothic Book"/>
                <a:ea typeface="Franklin Gothic Book"/>
                <a:cs typeface="Franklin Gothic Book"/>
              </a:defRPr>
            </a:lvl1pPr>
            <a:lvl2pPr>
              <a:buNone/>
              <a:defRPr sz="1950" b="0">
                <a:solidFill>
                  <a:srgbClr val="143393"/>
                </a:solidFill>
                <a:latin typeface="Franklin Gothic Book"/>
                <a:ea typeface="Franklin Gothic Book"/>
                <a:cs typeface="Franklin Gothic Book"/>
              </a:defRPr>
            </a:lvl2pPr>
            <a:lvl3pPr>
              <a:buNone/>
              <a:defRPr sz="1950" b="0">
                <a:solidFill>
                  <a:srgbClr val="143393"/>
                </a:solidFill>
                <a:latin typeface="Franklin Gothic Book"/>
                <a:ea typeface="Franklin Gothic Book"/>
                <a:cs typeface="Franklin Gothic Book"/>
              </a:defRPr>
            </a:lvl3pPr>
            <a:lvl4pPr>
              <a:buNone/>
              <a:defRPr sz="1950" b="0">
                <a:solidFill>
                  <a:srgbClr val="143393"/>
                </a:solidFill>
                <a:latin typeface="Franklin Gothic Book"/>
                <a:ea typeface="Franklin Gothic Book"/>
                <a:cs typeface="Franklin Gothic Book"/>
              </a:defRPr>
            </a:lvl4pPr>
            <a:lvl5pPr>
              <a:buNone/>
              <a:defRPr sz="1950" b="0">
                <a:solidFill>
                  <a:srgbClr val="143393"/>
                </a:solidFill>
                <a:latin typeface="Franklin Gothic Book"/>
                <a:ea typeface="Franklin Gothic Book"/>
                <a:cs typeface="Franklin Gothic Book"/>
              </a:defRPr>
            </a:lvl5pPr>
            <a:lvl6pPr>
              <a:buNone/>
              <a:defRPr sz="1950" b="0">
                <a:solidFill>
                  <a:srgbClr val="143393"/>
                </a:solidFill>
                <a:latin typeface="Franklin Gothic Book"/>
                <a:ea typeface="Franklin Gothic Book"/>
                <a:cs typeface="Franklin Gothic Book"/>
              </a:defRPr>
            </a:lvl6pPr>
            <a:lvl7pPr>
              <a:buNone/>
              <a:defRPr sz="1950" b="0">
                <a:solidFill>
                  <a:srgbClr val="143393"/>
                </a:solidFill>
                <a:latin typeface="Franklin Gothic Book"/>
                <a:ea typeface="Franklin Gothic Book"/>
                <a:cs typeface="Franklin Gothic Book"/>
              </a:defRPr>
            </a:lvl7pPr>
            <a:lvl8pPr>
              <a:buNone/>
              <a:defRPr sz="1950" b="0">
                <a:solidFill>
                  <a:srgbClr val="143393"/>
                </a:solidFill>
                <a:latin typeface="Franklin Gothic Book"/>
                <a:ea typeface="Franklin Gothic Book"/>
                <a:cs typeface="Franklin Gothic Book"/>
              </a:defRPr>
            </a:lvl8pPr>
            <a:lvl9pPr>
              <a:buNone/>
              <a:defRPr sz="1950" b="0">
                <a:solidFill>
                  <a:srgbClr val="143393"/>
                </a:solidFill>
                <a:latin typeface="Franklin Gothic Book"/>
                <a:ea typeface="Franklin Gothic Book"/>
                <a:cs typeface="Franklin Gothic Book"/>
              </a:defRPr>
            </a:lvl9pPr>
          </a:lstStyle>
          <a:p xmlns:a="http://schemas.openxmlformats.org/drawingml/2006/main">
            <a:pPr>
              <a:buNone/>
              <a:defRPr sz="1950" b="0">
                <a:solidFill>
                  <a:srgbClr val="143393"/>
                </a:solidFill>
                <a:latin typeface="Franklin Gothic Book"/>
                <a:ea typeface="Franklin Gothic Book"/>
                <a:cs typeface="Franklin Gothic Book"/>
              </a:defRPr>
            </a:pPr>
            <a:r>
              <a:rPr sz="1950" b="0">
                <a:solidFill>
                  <a:srgbClr val="143393"/>
                </a:solidFill>
                <a:latin typeface="Franklin Gothic Book"/>
                <a:ea typeface="Franklin Gothic Book"/>
                <a:cs typeface="Franklin Gothic Book"/>
              </a:rPr>
              <a:t>La validación y la prueba complementan esta curva de entrenamiento.</a:t>
            </a:r>
          </a:p>
        </p:txBody>
      </p:sp>
    </p:spTree>
    <p:extLst>
      <p:ext uri="{BB962C8B-B14F-4D97-AF65-F5344CB8AC3E}">
        <p14:creationId xmlns:p14="http://schemas.microsoft.com/office/powerpoint/2010/main" val="3770042391"/>
      </p:ext>
    </p:extLst>
  </p:cSld>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82d7754a92af4ace">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DD665658-812A-4DE8-8A13-79A4802DBC00}"/>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CNN: tres arquitecturas</a:t>
            </a:r>
          </a:p>
        </p:txBody>
      </p:sp>
      <p:graphicFrame>
        <p:nvGraphicFramePr>
          <p:cNvPr id="4" name="">
            <a:extLst xmlns:a="http://schemas.openxmlformats.org/drawingml/2006/main">
              <a:ext uri="{FF2B5EF4-FFF2-40B4-BE49-F238E27FC236}">
                <a16:creationId xmlns:a16="http://schemas.microsoft.com/office/drawing/2014/main" id="{F9B32294-6CE7-49DA-8BD8-1A28C721EA65}"/>
              </a:ext>
            </a:extLst>
          </p:cNvPr>
          <p:cNvGraphicFramePr/>
          <p:nvPr/>
        </p:nvGraphicFramePr>
        <p:xfrm>
          <a:off xmlns:a="http://schemas.openxmlformats.org/drawingml/2006/main" x="962025" y="2524125"/>
          <a:ext xmlns:a="http://schemas.openxmlformats.org/drawingml/2006/main" cx="10287000" cy="2667000"/>
        </p:xfrm>
        <a:graphic xmlns:a="http://schemas.openxmlformats.org/drawingml/2006/main">
          <a:graphicData uri="http://schemas.openxmlformats.org/drawingml/2006/table">
            <a:tbl>
              <a:tblPr/>
              <a:tblGrid>
                <a:gridCol w="3143250"/>
                <a:gridCol w="4286250"/>
                <a:gridCol w="2857500"/>
              </a:tblGrid>
              <a:tr h="666750">
                <a:tc>
                  <a:txBody>
                    <a:bodyPr lIns="114300" tIns="114300" rIns="114300" bIns="114300"/>
                    <a:lstStyle/>
                    <a:p>
                      <a:r>
                        <a:rPr sz="1950" b="1">
                          <a:solidFill>
                            <a:srgbClr val="FFFFFF"/>
                          </a:solidFill>
                          <a:latin typeface="Franklin Gothic Book"/>
                          <a:ea typeface="Franklin Gothic Book"/>
                          <a:cs typeface="Franklin Gothic Book"/>
                        </a:rPr>
                        <a:t>Arquitectura</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1950" b="1">
                          <a:solidFill>
                            <a:srgbClr val="FFFFFF"/>
                          </a:solidFill>
                          <a:latin typeface="Franklin Gothic Book"/>
                          <a:ea typeface="Franklin Gothic Book"/>
                          <a:cs typeface="Franklin Gothic Book"/>
                        </a:rPr>
                        <a:t>Enfoque</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1950" b="1">
                          <a:solidFill>
                            <a:srgbClr val="FFFFFF"/>
                          </a:solidFill>
                          <a:latin typeface="Franklin Gothic Book"/>
                          <a:ea typeface="Franklin Gothic Book"/>
                          <a:cs typeface="Franklin Gothic Book"/>
                        </a:rPr>
                        <a:t>Parámetros totales</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66750">
                <a:tc>
                  <a:txBody>
                    <a:bodyPr lIns="114300" tIns="114300" rIns="114300" bIns="114300"/>
                    <a:lstStyle/>
                    <a:p>
                      <a:r>
                        <a:rPr sz="1950" b="0">
                          <a:solidFill>
                            <a:srgbClr val="252C3B"/>
                          </a:solidFill>
                          <a:latin typeface="Franklin Gothic Book"/>
                          <a:ea typeface="Franklin Gothic Book"/>
                          <a:cs typeface="Franklin Gothic Book"/>
                        </a:rPr>
                        <a:t>VGG compacta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1950" b="0">
                          <a:solidFill>
                            <a:srgbClr val="252C3B"/>
                          </a:solidFill>
                          <a:latin typeface="Franklin Gothic Book"/>
                          <a:ea typeface="Franklin Gothic Book"/>
                          <a:cs typeface="Franklin Gothic Book"/>
                        </a:rPr>
                        <a:t>Bloques secuenciales</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1950" b="0">
                          <a:solidFill>
                            <a:srgbClr val="252C3B"/>
                          </a:solidFill>
                          <a:latin typeface="Franklin Gothic Book"/>
                          <a:ea typeface="Franklin Gothic Book"/>
                          <a:cs typeface="Franklin Gothic Book"/>
                        </a:rPr>
                        <a:t>296.478</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66750">
                <a:tc>
                  <a:txBody>
                    <a:bodyPr lIns="114300" tIns="114300" rIns="114300" bIns="114300"/>
                    <a:lstStyle/>
                    <a:p>
                      <a:r>
                        <a:rPr sz="1950" b="0">
                          <a:solidFill>
                            <a:srgbClr val="252C3B"/>
                          </a:solidFill>
                          <a:latin typeface="Franklin Gothic Book"/>
                          <a:ea typeface="Franklin Gothic Book"/>
                          <a:cs typeface="Franklin Gothic Book"/>
                        </a:rPr>
                        <a:t>ResNet compacta</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1950" b="0">
                          <a:solidFill>
                            <a:srgbClr val="252C3B"/>
                          </a:solidFill>
                          <a:latin typeface="Franklin Gothic Book"/>
                          <a:ea typeface="Franklin Gothic Book"/>
                          <a:cs typeface="Franklin Gothic Book"/>
                        </a:rPr>
                        <a:t>Conexiones residuales</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1950" b="0">
                          <a:solidFill>
                            <a:srgbClr val="252C3B"/>
                          </a:solidFill>
                          <a:latin typeface="Franklin Gothic Book"/>
                          <a:ea typeface="Franklin Gothic Book"/>
                          <a:cs typeface="Franklin Gothic Book"/>
                        </a:rPr>
                        <a:t>309.934</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66750">
                <a:tc>
                  <a:txBody>
                    <a:bodyPr lIns="114300" tIns="114300" rIns="114300" bIns="114300"/>
                    <a:lstStyle/>
                    <a:p>
                      <a:r>
                        <a:rPr sz="1950" b="0">
                          <a:solidFill>
                            <a:srgbClr val="252C3B"/>
                          </a:solidFill>
                          <a:latin typeface="Franklin Gothic Book"/>
                          <a:ea typeface="Franklin Gothic Book"/>
                          <a:cs typeface="Franklin Gothic Book"/>
                        </a:rPr>
                        <a:t>MobileNetV2</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1950" b="0">
                          <a:solidFill>
                            <a:srgbClr val="252C3B"/>
                          </a:solidFill>
                          <a:latin typeface="Franklin Gothic Book"/>
                          <a:ea typeface="Franklin Gothic Book"/>
                          <a:cs typeface="Franklin Gothic Book"/>
                        </a:rPr>
                        <a:t>Transferencia de aprendizaje</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1950" b="0">
                          <a:solidFill>
                            <a:srgbClr val="252C3B"/>
                          </a:solidFill>
                          <a:latin typeface="Franklin Gothic Book"/>
                          <a:ea typeface="Franklin Gothic Book"/>
                          <a:cs typeface="Franklin Gothic Book"/>
                        </a:rPr>
                        <a:t>2.275.918</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3E508608-CD92-4E41-AF17-F0BAEF0B878B}"/>
              </a:ext>
            </a:extLst>
          </p:cNvPr>
          <p:cNvSpPr>
            <a:spLocks xmlns:a="http://schemas.openxmlformats.org/drawingml/2006/main" noGrp="1"/>
          </p:cNvSpPr>
          <p:nvPr/>
        </p:nvSpPr>
        <p:spPr>
          <a:xfrm xmlns:a="http://schemas.openxmlformats.org/drawingml/2006/main">
            <a:off x="962025" y="5524500"/>
            <a:ext cx="1028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75" b="1">
                <a:solidFill>
                  <a:srgbClr val="143393"/>
                </a:solidFill>
                <a:latin typeface="Franklin Gothic Medium"/>
                <a:ea typeface="Franklin Gothic Medium"/>
                <a:cs typeface="Franklin Gothic Medium"/>
              </a:defRPr>
            </a:defPPr>
            <a:lvl1pPr>
              <a:buNone/>
              <a:defRPr sz="2475" b="1">
                <a:solidFill>
                  <a:srgbClr val="143393"/>
                </a:solidFill>
                <a:latin typeface="Franklin Gothic Medium"/>
                <a:ea typeface="Franklin Gothic Medium"/>
                <a:cs typeface="Franklin Gothic Medium"/>
              </a:defRPr>
            </a:lvl1pPr>
            <a:lvl2pPr>
              <a:buNone/>
              <a:defRPr sz="2475" b="1">
                <a:solidFill>
                  <a:srgbClr val="143393"/>
                </a:solidFill>
                <a:latin typeface="Franklin Gothic Medium"/>
                <a:ea typeface="Franklin Gothic Medium"/>
                <a:cs typeface="Franklin Gothic Medium"/>
              </a:defRPr>
            </a:lvl2pPr>
            <a:lvl3pPr>
              <a:buNone/>
              <a:defRPr sz="2475" b="1">
                <a:solidFill>
                  <a:srgbClr val="143393"/>
                </a:solidFill>
                <a:latin typeface="Franklin Gothic Medium"/>
                <a:ea typeface="Franklin Gothic Medium"/>
                <a:cs typeface="Franklin Gothic Medium"/>
              </a:defRPr>
            </a:lvl3pPr>
            <a:lvl4pPr>
              <a:buNone/>
              <a:defRPr sz="2475" b="1">
                <a:solidFill>
                  <a:srgbClr val="143393"/>
                </a:solidFill>
                <a:latin typeface="Franklin Gothic Medium"/>
                <a:ea typeface="Franklin Gothic Medium"/>
                <a:cs typeface="Franklin Gothic Medium"/>
              </a:defRPr>
            </a:lvl4pPr>
            <a:lvl5pPr>
              <a:buNone/>
              <a:defRPr sz="2475" b="1">
                <a:solidFill>
                  <a:srgbClr val="143393"/>
                </a:solidFill>
                <a:latin typeface="Franklin Gothic Medium"/>
                <a:ea typeface="Franklin Gothic Medium"/>
                <a:cs typeface="Franklin Gothic Medium"/>
              </a:defRPr>
            </a:lvl5pPr>
            <a:lvl6pPr>
              <a:buNone/>
              <a:defRPr sz="2475" b="1">
                <a:solidFill>
                  <a:srgbClr val="143393"/>
                </a:solidFill>
                <a:latin typeface="Franklin Gothic Medium"/>
                <a:ea typeface="Franklin Gothic Medium"/>
                <a:cs typeface="Franklin Gothic Medium"/>
              </a:defRPr>
            </a:lvl6pPr>
            <a:lvl7pPr>
              <a:buNone/>
              <a:defRPr sz="2475" b="1">
                <a:solidFill>
                  <a:srgbClr val="143393"/>
                </a:solidFill>
                <a:latin typeface="Franklin Gothic Medium"/>
                <a:ea typeface="Franklin Gothic Medium"/>
                <a:cs typeface="Franklin Gothic Medium"/>
              </a:defRPr>
            </a:lvl7pPr>
            <a:lvl8pPr>
              <a:buNone/>
              <a:defRPr sz="2475" b="1">
                <a:solidFill>
                  <a:srgbClr val="143393"/>
                </a:solidFill>
                <a:latin typeface="Franklin Gothic Medium"/>
                <a:ea typeface="Franklin Gothic Medium"/>
                <a:cs typeface="Franklin Gothic Medium"/>
              </a:defRPr>
            </a:lvl8pPr>
            <a:lvl9pPr>
              <a:buNone/>
              <a:defRPr sz="2475" b="1">
                <a:solidFill>
                  <a:srgbClr val="143393"/>
                </a:solidFill>
                <a:latin typeface="Franklin Gothic Medium"/>
                <a:ea typeface="Franklin Gothic Medium"/>
                <a:cs typeface="Franklin Gothic Medium"/>
              </a:defRPr>
            </a:lvl9pPr>
          </a:lstStyle>
          <a:p xmlns:a="http://schemas.openxmlformats.org/drawingml/2006/main">
            <a:pPr>
              <a:buNone/>
              <a:defRPr sz="2475" b="1">
                <a:solidFill>
                  <a:srgbClr val="143393"/>
                </a:solidFill>
                <a:latin typeface="Franklin Gothic Medium"/>
                <a:ea typeface="Franklin Gothic Medium"/>
                <a:cs typeface="Franklin Gothic Medium"/>
              </a:defRPr>
            </a:pPr>
            <a:r>
              <a:rPr sz="2475" b="1">
                <a:solidFill>
                  <a:srgbClr val="143393"/>
                </a:solidFill>
                <a:latin typeface="Franklin Gothic Medium"/>
                <a:ea typeface="Franklin Gothic Medium"/>
                <a:cs typeface="Franklin Gothic Medium"/>
              </a:rPr>
              <a:t>Todas producen 14 probabilidades mediante sigmoid.</a:t>
            </a:r>
          </a:p>
        </p:txBody>
      </p:sp>
      <p:sp>
        <p:nvSpPr>
          <p:cNvPr id="6" name="texto-3">
            <a:extLst xmlns:a="http://schemas.openxmlformats.org/drawingml/2006/main">
              <a:ext uri="{FF2B5EF4-FFF2-40B4-BE49-F238E27FC236}">
                <a16:creationId xmlns:a16="http://schemas.microsoft.com/office/drawing/2014/main" id="{2D17B573-ABC1-4EB2-9EDD-28108C447010}"/>
              </a:ext>
            </a:extLst>
          </p:cNvPr>
          <p:cNvSpPr>
            <a:spLocks xmlns:a="http://schemas.openxmlformats.org/drawingml/2006/main" noGrp="1"/>
          </p:cNvSpPr>
          <p:nvPr/>
        </p:nvSpPr>
        <p:spPr>
          <a:xfrm xmlns:a="http://schemas.openxmlformats.org/drawingml/2006/main">
            <a:off x="962025" y="6096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52C3B"/>
                </a:solidFill>
                <a:latin typeface="Franklin Gothic Book"/>
                <a:ea typeface="Franklin Gothic Book"/>
                <a:cs typeface="Franklin Gothic Book"/>
              </a:defRPr>
            </a:defPPr>
            <a:lvl1pPr>
              <a:buNone/>
              <a:defRPr sz="2025" b="0">
                <a:solidFill>
                  <a:srgbClr val="252C3B"/>
                </a:solidFill>
                <a:latin typeface="Franklin Gothic Book"/>
                <a:ea typeface="Franklin Gothic Book"/>
                <a:cs typeface="Franklin Gothic Book"/>
              </a:defRPr>
            </a:lvl1pPr>
            <a:lvl2pPr>
              <a:buNone/>
              <a:defRPr sz="2025" b="0">
                <a:solidFill>
                  <a:srgbClr val="252C3B"/>
                </a:solidFill>
                <a:latin typeface="Franklin Gothic Book"/>
                <a:ea typeface="Franklin Gothic Book"/>
                <a:cs typeface="Franklin Gothic Book"/>
              </a:defRPr>
            </a:lvl2pPr>
            <a:lvl3pPr>
              <a:buNone/>
              <a:defRPr sz="2025" b="0">
                <a:solidFill>
                  <a:srgbClr val="252C3B"/>
                </a:solidFill>
                <a:latin typeface="Franklin Gothic Book"/>
                <a:ea typeface="Franklin Gothic Book"/>
                <a:cs typeface="Franklin Gothic Book"/>
              </a:defRPr>
            </a:lvl3pPr>
            <a:lvl4pPr>
              <a:buNone/>
              <a:defRPr sz="2025" b="0">
                <a:solidFill>
                  <a:srgbClr val="252C3B"/>
                </a:solidFill>
                <a:latin typeface="Franklin Gothic Book"/>
                <a:ea typeface="Franklin Gothic Book"/>
                <a:cs typeface="Franklin Gothic Book"/>
              </a:defRPr>
            </a:lvl4pPr>
            <a:lvl5pPr>
              <a:buNone/>
              <a:defRPr sz="2025" b="0">
                <a:solidFill>
                  <a:srgbClr val="252C3B"/>
                </a:solidFill>
                <a:latin typeface="Franklin Gothic Book"/>
                <a:ea typeface="Franklin Gothic Book"/>
                <a:cs typeface="Franklin Gothic Book"/>
              </a:defRPr>
            </a:lvl5pPr>
            <a:lvl6pPr>
              <a:buNone/>
              <a:defRPr sz="2025" b="0">
                <a:solidFill>
                  <a:srgbClr val="252C3B"/>
                </a:solidFill>
                <a:latin typeface="Franklin Gothic Book"/>
                <a:ea typeface="Franklin Gothic Book"/>
                <a:cs typeface="Franklin Gothic Book"/>
              </a:defRPr>
            </a:lvl6pPr>
            <a:lvl7pPr>
              <a:buNone/>
              <a:defRPr sz="2025" b="0">
                <a:solidFill>
                  <a:srgbClr val="252C3B"/>
                </a:solidFill>
                <a:latin typeface="Franklin Gothic Book"/>
                <a:ea typeface="Franklin Gothic Book"/>
                <a:cs typeface="Franklin Gothic Book"/>
              </a:defRPr>
            </a:lvl7pPr>
            <a:lvl8pPr>
              <a:buNone/>
              <a:defRPr sz="2025" b="0">
                <a:solidFill>
                  <a:srgbClr val="252C3B"/>
                </a:solidFill>
                <a:latin typeface="Franklin Gothic Book"/>
                <a:ea typeface="Franklin Gothic Book"/>
                <a:cs typeface="Franklin Gothic Book"/>
              </a:defRPr>
            </a:lvl8pPr>
            <a:lvl9pPr>
              <a:buNone/>
              <a:defRPr sz="2025" b="0">
                <a:solidFill>
                  <a:srgbClr val="252C3B"/>
                </a:solidFill>
                <a:latin typeface="Franklin Gothic Book"/>
                <a:ea typeface="Franklin Gothic Book"/>
                <a:cs typeface="Franklin Gothic Book"/>
              </a:defRPr>
            </a:lvl9pPr>
          </a:lstStyle>
          <a:p xmlns:a="http://schemas.openxmlformats.org/drawingml/2006/main">
            <a:pPr>
              <a:buNone/>
              <a:defRPr sz="2025" b="0">
                <a:solidFill>
                  <a:srgbClr val="252C3B"/>
                </a:solidFill>
                <a:latin typeface="Franklin Gothic Book"/>
                <a:ea typeface="Franklin Gothic Book"/>
                <a:cs typeface="Franklin Gothic Book"/>
              </a:defRPr>
            </a:pPr>
            <a:r>
              <a:rPr sz="2025" b="0">
                <a:solidFill>
                  <a:srgbClr val="252C3B"/>
                </a:solidFill>
                <a:latin typeface="Franklin Gothic Book"/>
                <a:ea typeface="Franklin Gothic Book"/>
                <a:cs typeface="Franklin Gothic Book"/>
              </a:rPr>
              <a:t>Una imagen puede tener varias etiquetas positivas simultáneamente.</a:t>
            </a:r>
          </a:p>
        </p:txBody>
      </p:sp>
    </p:spTree>
    <p:extLst>
      <p:ext uri="{BB962C8B-B14F-4D97-AF65-F5344CB8AC3E}">
        <p14:creationId xmlns:p14="http://schemas.microsoft.com/office/powerpoint/2010/main" val="3770042391"/>
      </p:ext>
    </p:extLst>
  </p:cSld>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31095b95f99042dd">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DBC8C911-9AF9-4691-99D7-4F223B04E942}"/>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CNN: protocolo de entrenamiento</a:t>
            </a:r>
          </a:p>
        </p:txBody>
      </p:sp>
      <p:sp>
        <p:nvSpPr>
          <p:cNvPr id="4" name="texto-2">
            <a:extLst xmlns:a="http://schemas.openxmlformats.org/drawingml/2006/main">
              <a:ext uri="{FF2B5EF4-FFF2-40B4-BE49-F238E27FC236}">
                <a16:creationId xmlns:a16="http://schemas.microsoft.com/office/drawing/2014/main" id="{B60195BF-42E8-4770-94B3-1185D6D7C76E}"/>
              </a:ext>
            </a:extLst>
          </p:cNvPr>
          <p:cNvSpPr>
            <a:spLocks xmlns:a="http://schemas.openxmlformats.org/drawingml/2006/main" noGrp="1"/>
          </p:cNvSpPr>
          <p:nvPr/>
        </p:nvSpPr>
        <p:spPr>
          <a:xfrm xmlns:a="http://schemas.openxmlformats.org/drawingml/2006/main">
            <a:off x="962025" y="2524125"/>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3 arquitecturas × 3 semillas (42, 123 y 2026) = 9 pruebas.</a:t>
            </a:r>
          </a:p>
        </p:txBody>
      </p:sp>
      <p:sp>
        <p:nvSpPr>
          <p:cNvPr id="5" name="texto-3">
            <a:extLst xmlns:a="http://schemas.openxmlformats.org/drawingml/2006/main">
              <a:ext uri="{FF2B5EF4-FFF2-40B4-BE49-F238E27FC236}">
                <a16:creationId xmlns:a16="http://schemas.microsoft.com/office/drawing/2014/main" id="{199EF1DC-CDBC-4D68-958C-4F39396E3019}"/>
              </a:ext>
            </a:extLst>
          </p:cNvPr>
          <p:cNvSpPr>
            <a:spLocks xmlns:a="http://schemas.openxmlformats.org/drawingml/2006/main" noGrp="1"/>
          </p:cNvSpPr>
          <p:nvPr/>
        </p:nvSpPr>
        <p:spPr>
          <a:xfrm xmlns:a="http://schemas.openxmlformats.org/drawingml/2006/main">
            <a:off x="962025" y="3390900"/>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Adam, pérdida binary_crossentropy y lotes de 32 imágenes. Hasta 20 épocas iniciales.</a:t>
            </a:r>
          </a:p>
        </p:txBody>
      </p:sp>
      <p:sp>
        <p:nvSpPr>
          <p:cNvPr id="6" name="texto-4">
            <a:extLst xmlns:a="http://schemas.openxmlformats.org/drawingml/2006/main">
              <a:ext uri="{FF2B5EF4-FFF2-40B4-BE49-F238E27FC236}">
                <a16:creationId xmlns:a16="http://schemas.microsoft.com/office/drawing/2014/main" id="{DD477806-3155-4152-A614-20B833C1AD99}"/>
              </a:ext>
            </a:extLst>
          </p:cNvPr>
          <p:cNvSpPr>
            <a:spLocks xmlns:a="http://schemas.openxmlformats.org/drawingml/2006/main" noGrp="1"/>
          </p:cNvSpPr>
          <p:nvPr/>
        </p:nvSpPr>
        <p:spPr>
          <a:xfrm xmlns:a="http://schemas.openxmlformats.org/drawingml/2006/main">
            <a:off x="962025" y="4257675"/>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Parada temprana: 5 épocas sin mejora del AUC de validación. Reducción de tasa tras 2 épocas sin mejora.</a:t>
            </a:r>
          </a:p>
        </p:txBody>
      </p:sp>
      <p:sp>
        <p:nvSpPr>
          <p:cNvPr id="7" name="texto-5">
            <a:extLst xmlns:a="http://schemas.openxmlformats.org/drawingml/2006/main">
              <a:ext uri="{FF2B5EF4-FFF2-40B4-BE49-F238E27FC236}">
                <a16:creationId xmlns:a16="http://schemas.microsoft.com/office/drawing/2014/main" id="{950ECF9F-9222-458B-9552-CFE97AC02D09}"/>
              </a:ext>
            </a:extLst>
          </p:cNvPr>
          <p:cNvSpPr>
            <a:spLocks xmlns:a="http://schemas.openxmlformats.org/drawingml/2006/main" noGrp="1"/>
          </p:cNvSpPr>
          <p:nvPr/>
        </p:nvSpPr>
        <p:spPr>
          <a:xfrm xmlns:a="http://schemas.openxmlformats.org/drawingml/2006/main">
            <a:off x="962025" y="5124450"/>
            <a:ext cx="10287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MobileNetV2: base congelada al inicio y hasta 10 épocas adicionales de ajuste fino.</a:t>
            </a:r>
          </a:p>
        </p:txBody>
      </p:sp>
    </p:spTree>
    <p:extLst>
      <p:ext uri="{BB962C8B-B14F-4D97-AF65-F5344CB8AC3E}">
        <p14:creationId xmlns:p14="http://schemas.microsoft.com/office/powerpoint/2010/main" val="3770042391"/>
      </p:ext>
    </p:extLst>
  </p:cSld>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b2dd4406ae2a4d77">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1965B703-73DA-4765-B973-AF116A7EFE49}"/>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CNN: selección mediante validación</a:t>
            </a:r>
          </a:p>
        </p:txBody>
      </p:sp>
      <p:graphicFrame>
        <p:nvGraphicFramePr>
          <p:cNvPr id="4" name="Chart">
            <a:extLst xmlns:a="http://schemas.openxmlformats.org/drawingml/2006/main">
              <a:ext uri="{FF2B5EF4-FFF2-40B4-BE49-F238E27FC236}">
                <a16:creationId xmlns:a16="http://schemas.microsoft.com/office/drawing/2014/main" id="{01B6CF8B-E35E-4A90-884B-9A4255B9F40A}"/>
              </a:ext>
            </a:extLst>
          </p:cNvPr>
          <p:cNvGraphicFramePr/>
          <p:nvPr/>
        </p:nvGraphicFramePr>
        <p:xfrm>
          <a:off xmlns:a="http://schemas.openxmlformats.org/drawingml/2006/main" x="962025" y="2524125"/>
          <a:ext xmlns:a="http://schemas.openxmlformats.org/drawingml/2006/main" cx="6953250" cy="3143250"/>
        </p:xfrm>
        <a:graphic xmlns:a="http://schemas.openxmlformats.org/drawingml/2006/main">
          <a:graphicData uri="http://schemas.openxmlformats.org/drawingml/2006/chart">
            <c:chart xmlns:r="http://schemas.openxmlformats.org/officeDocument/2006/relationships" xmlns:c="http://schemas.openxmlformats.org/drawingml/2006/chart" r:id="R58333043350c4cee"/>
          </a:graphicData>
        </a:graphic>
      </p:graphicFrame>
      <p:sp>
        <p:nvSpPr>
          <p:cNvPr id="5" name="texto-2">
            <a:extLst xmlns:a="http://schemas.openxmlformats.org/drawingml/2006/main">
              <a:ext uri="{FF2B5EF4-FFF2-40B4-BE49-F238E27FC236}">
                <a16:creationId xmlns:a16="http://schemas.microsoft.com/office/drawing/2014/main" id="{CC5AED86-173A-4CA7-B9C7-9DB960FF790F}"/>
              </a:ext>
            </a:extLst>
          </p:cNvPr>
          <p:cNvSpPr>
            <a:spLocks xmlns:a="http://schemas.openxmlformats.org/drawingml/2006/main" noGrp="1"/>
          </p:cNvSpPr>
          <p:nvPr/>
        </p:nvSpPr>
        <p:spPr>
          <a:xfrm xmlns:a="http://schemas.openxmlformats.org/drawingml/2006/main">
            <a:off x="8382000" y="261937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475" b="1">
                <a:solidFill>
                  <a:srgbClr val="143393"/>
                </a:solidFill>
                <a:latin typeface="Franklin Gothic Medium"/>
                <a:ea typeface="Franklin Gothic Medium"/>
                <a:cs typeface="Franklin Gothic Medium"/>
              </a:defRPr>
            </a:defPPr>
            <a:lvl1pPr>
              <a:buNone/>
              <a:defRPr sz="2475" b="1">
                <a:solidFill>
                  <a:srgbClr val="143393"/>
                </a:solidFill>
                <a:latin typeface="Franklin Gothic Medium"/>
                <a:ea typeface="Franklin Gothic Medium"/>
                <a:cs typeface="Franklin Gothic Medium"/>
              </a:defRPr>
            </a:lvl1pPr>
            <a:lvl2pPr>
              <a:buNone/>
              <a:defRPr sz="2475" b="1">
                <a:solidFill>
                  <a:srgbClr val="143393"/>
                </a:solidFill>
                <a:latin typeface="Franklin Gothic Medium"/>
                <a:ea typeface="Franklin Gothic Medium"/>
                <a:cs typeface="Franklin Gothic Medium"/>
              </a:defRPr>
            </a:lvl2pPr>
            <a:lvl3pPr>
              <a:buNone/>
              <a:defRPr sz="2475" b="1">
                <a:solidFill>
                  <a:srgbClr val="143393"/>
                </a:solidFill>
                <a:latin typeface="Franklin Gothic Medium"/>
                <a:ea typeface="Franklin Gothic Medium"/>
                <a:cs typeface="Franklin Gothic Medium"/>
              </a:defRPr>
            </a:lvl3pPr>
            <a:lvl4pPr>
              <a:buNone/>
              <a:defRPr sz="2475" b="1">
                <a:solidFill>
                  <a:srgbClr val="143393"/>
                </a:solidFill>
                <a:latin typeface="Franklin Gothic Medium"/>
                <a:ea typeface="Franklin Gothic Medium"/>
                <a:cs typeface="Franklin Gothic Medium"/>
              </a:defRPr>
            </a:lvl4pPr>
            <a:lvl5pPr>
              <a:buNone/>
              <a:defRPr sz="2475" b="1">
                <a:solidFill>
                  <a:srgbClr val="143393"/>
                </a:solidFill>
                <a:latin typeface="Franklin Gothic Medium"/>
                <a:ea typeface="Franklin Gothic Medium"/>
                <a:cs typeface="Franklin Gothic Medium"/>
              </a:defRPr>
            </a:lvl5pPr>
            <a:lvl6pPr>
              <a:buNone/>
              <a:defRPr sz="2475" b="1">
                <a:solidFill>
                  <a:srgbClr val="143393"/>
                </a:solidFill>
                <a:latin typeface="Franklin Gothic Medium"/>
                <a:ea typeface="Franklin Gothic Medium"/>
                <a:cs typeface="Franklin Gothic Medium"/>
              </a:defRPr>
            </a:lvl6pPr>
            <a:lvl7pPr>
              <a:buNone/>
              <a:defRPr sz="2475" b="1">
                <a:solidFill>
                  <a:srgbClr val="143393"/>
                </a:solidFill>
                <a:latin typeface="Franklin Gothic Medium"/>
                <a:ea typeface="Franklin Gothic Medium"/>
                <a:cs typeface="Franklin Gothic Medium"/>
              </a:defRPr>
            </a:lvl7pPr>
            <a:lvl8pPr>
              <a:buNone/>
              <a:defRPr sz="2475" b="1">
                <a:solidFill>
                  <a:srgbClr val="143393"/>
                </a:solidFill>
                <a:latin typeface="Franklin Gothic Medium"/>
                <a:ea typeface="Franklin Gothic Medium"/>
                <a:cs typeface="Franklin Gothic Medium"/>
              </a:defRPr>
            </a:lvl8pPr>
            <a:lvl9pPr>
              <a:buNone/>
              <a:defRPr sz="2475" b="1">
                <a:solidFill>
                  <a:srgbClr val="143393"/>
                </a:solidFill>
                <a:latin typeface="Franklin Gothic Medium"/>
                <a:ea typeface="Franklin Gothic Medium"/>
                <a:cs typeface="Franklin Gothic Medium"/>
              </a:defRPr>
            </a:lvl9pPr>
          </a:lstStyle>
          <a:p xmlns:a="http://schemas.openxmlformats.org/drawingml/2006/main">
            <a:pPr>
              <a:buNone/>
              <a:defRPr sz="2475" b="1">
                <a:solidFill>
                  <a:srgbClr val="143393"/>
                </a:solidFill>
                <a:latin typeface="Franklin Gothic Medium"/>
                <a:ea typeface="Franklin Gothic Medium"/>
                <a:cs typeface="Franklin Gothic Medium"/>
              </a:defRPr>
            </a:pPr>
            <a:r>
              <a:rPr sz="2475" b="1">
                <a:solidFill>
                  <a:srgbClr val="143393"/>
                </a:solidFill>
                <a:latin typeface="Franklin Gothic Medium"/>
                <a:ea typeface="Franklin Gothic Medium"/>
                <a:cs typeface="Franklin Gothic Medium"/>
              </a:rPr>
              <a:t>Modelo seleccionado</a:t>
            </a:r>
          </a:p>
        </p:txBody>
      </p:sp>
      <p:sp>
        <p:nvSpPr>
          <p:cNvPr id="6" name="texto-3">
            <a:extLst xmlns:a="http://schemas.openxmlformats.org/drawingml/2006/main">
              <a:ext uri="{FF2B5EF4-FFF2-40B4-BE49-F238E27FC236}">
                <a16:creationId xmlns:a16="http://schemas.microsoft.com/office/drawing/2014/main" id="{167AD63E-63CC-41A0-A42C-3EA022FF9E18}"/>
              </a:ext>
            </a:extLst>
          </p:cNvPr>
          <p:cNvSpPr>
            <a:spLocks xmlns:a="http://schemas.openxmlformats.org/drawingml/2006/main" noGrp="1"/>
          </p:cNvSpPr>
          <p:nvPr/>
        </p:nvSpPr>
        <p:spPr>
          <a:xfrm xmlns:a="http://schemas.openxmlformats.org/drawingml/2006/main">
            <a:off x="8382000" y="3667125"/>
            <a:ext cx="2857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VGG compacta</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Semilla 2026</a:t>
            </a:r>
          </a:p>
          <a:p xmlns:a="http://schemas.openxmlformats.org/drawingml/2006/main">
            <a:r>
              <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AUC de validación</a:t>
            </a:r>
          </a:p>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0,7710</a:t>
            </a:r>
          </a:p>
        </p:txBody>
      </p:sp>
      <p:sp>
        <p:nvSpPr>
          <p:cNvPr id="7" name="texto-4">
            <a:extLst xmlns:a="http://schemas.openxmlformats.org/drawingml/2006/main">
              <a:ext uri="{FF2B5EF4-FFF2-40B4-BE49-F238E27FC236}">
                <a16:creationId xmlns:a16="http://schemas.microsoft.com/office/drawing/2014/main" id="{13FE1119-7E9D-4D0B-A7DB-995F67B23E33}"/>
              </a:ext>
            </a:extLst>
          </p:cNvPr>
          <p:cNvSpPr>
            <a:spLocks xmlns:a="http://schemas.openxmlformats.org/drawingml/2006/main" noGrp="1"/>
          </p:cNvSpPr>
          <p:nvPr/>
        </p:nvSpPr>
        <p:spPr>
          <a:xfrm xmlns:a="http://schemas.openxmlformats.org/drawingml/2006/main">
            <a:off x="962025" y="60483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143393"/>
                </a:solidFill>
                <a:latin typeface="Franklin Gothic Book"/>
                <a:ea typeface="Franklin Gothic Book"/>
                <a:cs typeface="Franklin Gothic Book"/>
              </a:defRPr>
            </a:defPPr>
            <a:lvl1pPr>
              <a:buNone/>
              <a:defRPr sz="2100" b="0">
                <a:solidFill>
                  <a:srgbClr val="143393"/>
                </a:solidFill>
                <a:latin typeface="Franklin Gothic Book"/>
                <a:ea typeface="Franklin Gothic Book"/>
                <a:cs typeface="Franklin Gothic Book"/>
              </a:defRPr>
            </a:lvl1pPr>
            <a:lvl2pPr>
              <a:buNone/>
              <a:defRPr sz="2100" b="0">
                <a:solidFill>
                  <a:srgbClr val="143393"/>
                </a:solidFill>
                <a:latin typeface="Franklin Gothic Book"/>
                <a:ea typeface="Franklin Gothic Book"/>
                <a:cs typeface="Franklin Gothic Book"/>
              </a:defRPr>
            </a:lvl2pPr>
            <a:lvl3pPr>
              <a:buNone/>
              <a:defRPr sz="2100" b="0">
                <a:solidFill>
                  <a:srgbClr val="143393"/>
                </a:solidFill>
                <a:latin typeface="Franklin Gothic Book"/>
                <a:ea typeface="Franklin Gothic Book"/>
                <a:cs typeface="Franklin Gothic Book"/>
              </a:defRPr>
            </a:lvl3pPr>
            <a:lvl4pPr>
              <a:buNone/>
              <a:defRPr sz="2100" b="0">
                <a:solidFill>
                  <a:srgbClr val="143393"/>
                </a:solidFill>
                <a:latin typeface="Franklin Gothic Book"/>
                <a:ea typeface="Franklin Gothic Book"/>
                <a:cs typeface="Franklin Gothic Book"/>
              </a:defRPr>
            </a:lvl4pPr>
            <a:lvl5pPr>
              <a:buNone/>
              <a:defRPr sz="2100" b="0">
                <a:solidFill>
                  <a:srgbClr val="143393"/>
                </a:solidFill>
                <a:latin typeface="Franklin Gothic Book"/>
                <a:ea typeface="Franklin Gothic Book"/>
                <a:cs typeface="Franklin Gothic Book"/>
              </a:defRPr>
            </a:lvl5pPr>
            <a:lvl6pPr>
              <a:buNone/>
              <a:defRPr sz="2100" b="0">
                <a:solidFill>
                  <a:srgbClr val="143393"/>
                </a:solidFill>
                <a:latin typeface="Franklin Gothic Book"/>
                <a:ea typeface="Franklin Gothic Book"/>
                <a:cs typeface="Franklin Gothic Book"/>
              </a:defRPr>
            </a:lvl6pPr>
            <a:lvl7pPr>
              <a:buNone/>
              <a:defRPr sz="2100" b="0">
                <a:solidFill>
                  <a:srgbClr val="143393"/>
                </a:solidFill>
                <a:latin typeface="Franklin Gothic Book"/>
                <a:ea typeface="Franklin Gothic Book"/>
                <a:cs typeface="Franklin Gothic Book"/>
              </a:defRPr>
            </a:lvl7pPr>
            <a:lvl8pPr>
              <a:buNone/>
              <a:defRPr sz="2100" b="0">
                <a:solidFill>
                  <a:srgbClr val="143393"/>
                </a:solidFill>
                <a:latin typeface="Franklin Gothic Book"/>
                <a:ea typeface="Franklin Gothic Book"/>
                <a:cs typeface="Franklin Gothic Book"/>
              </a:defRPr>
            </a:lvl8pPr>
            <a:lvl9pPr>
              <a:buNone/>
              <a:defRPr sz="2100" b="0">
                <a:solidFill>
                  <a:srgbClr val="143393"/>
                </a:solidFill>
                <a:latin typeface="Franklin Gothic Book"/>
                <a:ea typeface="Franklin Gothic Book"/>
                <a:cs typeface="Franklin Gothic Book"/>
              </a:defRPr>
            </a:lvl9pPr>
          </a:lstStyle>
          <a:p xmlns:a="http://schemas.openxmlformats.org/drawingml/2006/main">
            <a:pPr>
              <a:buNone/>
              <a:defRPr sz="2100" b="0">
                <a:solidFill>
                  <a:srgbClr val="143393"/>
                </a:solidFill>
                <a:latin typeface="Franklin Gothic Book"/>
                <a:ea typeface="Franklin Gothic Book"/>
                <a:cs typeface="Franklin Gothic Book"/>
              </a:defRPr>
            </a:pPr>
            <a:r>
              <a:rPr sz="2100" b="0">
                <a:solidFill>
                  <a:srgbClr val="143393"/>
                </a:solidFill>
                <a:latin typeface="Franklin Gothic Book"/>
                <a:ea typeface="Franklin Gothic Book"/>
                <a:cs typeface="Franklin Gothic Book"/>
              </a:rPr>
              <a:t>La arquitectura se elige por el promedio de sus tres semillas.</a:t>
            </a:r>
          </a:p>
        </p:txBody>
      </p:sp>
    </p:spTree>
    <p:extLst>
      <p:ext uri="{BB962C8B-B14F-4D97-AF65-F5344CB8AC3E}">
        <p14:creationId xmlns:p14="http://schemas.microsoft.com/office/powerpoint/2010/main" val="3770042391"/>
      </p:ext>
    </p:extLst>
  </p:cSld>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1b2b31e599224122">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4. MODELADO</a:t>
            </a:r>
          </a:p>
        </p:txBody>
      </p:sp>
      <p:sp>
        <p:nvSpPr>
          <p:cNvPr id="3" name="texto-1">
            <a:extLst xmlns:a="http://schemas.openxmlformats.org/drawingml/2006/main">
              <a:ext uri="{FF2B5EF4-FFF2-40B4-BE49-F238E27FC236}">
                <a16:creationId xmlns:a16="http://schemas.microsoft.com/office/drawing/2014/main" id="{B73A714A-E6EF-43B2-9B2C-4722B16290E5}"/>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CNN: curvas del modelo seleccionado</a:t>
            </a:r>
          </a:p>
        </p:txBody>
      </p:sp>
      <p:pic>
        <p:nvPicPr>
          <p:cNvPr id="4" name="">
            <a:extLst xmlns:a="http://schemas.openxmlformats.org/drawingml/2006/main">
              <a:ext uri="{FF2B5EF4-FFF2-40B4-BE49-F238E27FC236}">
                <a16:creationId xmlns:a16="http://schemas.microsoft.com/office/drawing/2014/main" id="{E4DA6FBF-AE6F-4389-8EA6-FE702F051C5F}"/>
              </a:ext>
            </a:extLst>
          </p:cNvPr>
          <p:cNvPicPr>
            <a:picLocks xmlns:a="http://schemas.openxmlformats.org/drawingml/2006/main" noChangeAspect="1"/>
          </p:cNvPicPr>
          <p:nvPr/>
        </p:nvPicPr>
        <p:blipFill>
          <a:blip xmlns:r="http://schemas.openxmlformats.org/officeDocument/2006/relationships" xmlns:a="http://schemas.openxmlformats.org/drawingml/2006/main" r:embed="R17f25b6fba514089"/>
          <a:stretch xmlns:a="http://schemas.openxmlformats.org/drawingml/2006/main"/>
        </p:blipFill>
        <p:spPr>
          <a:xfrm xmlns:a="http://schemas.openxmlformats.org/drawingml/2006/main">
            <a:off x="1425675" y="2428875"/>
            <a:ext cx="9359701" cy="3238500"/>
          </a:xfrm>
          <a:prstGeom xmlns:a="http://schemas.openxmlformats.org/drawingml/2006/main" prst="rect">
            <a:avLst/>
          </a:prstGeom>
        </p:spPr>
      </p:pic>
      <p:sp>
        <p:nvSpPr>
          <p:cNvPr id="5" name="texto-2">
            <a:extLst xmlns:a="http://schemas.openxmlformats.org/drawingml/2006/main">
              <a:ext uri="{FF2B5EF4-FFF2-40B4-BE49-F238E27FC236}">
                <a16:creationId xmlns:a16="http://schemas.microsoft.com/office/drawing/2014/main" id="{43CFEC0A-FFA0-407E-B571-2A3731402BD4}"/>
              </a:ext>
            </a:extLst>
          </p:cNvPr>
          <p:cNvSpPr>
            <a:spLocks xmlns:a="http://schemas.openxmlformats.org/drawingml/2006/main" noGrp="1"/>
          </p:cNvSpPr>
          <p:nvPr/>
        </p:nvSpPr>
        <p:spPr>
          <a:xfrm xmlns:a="http://schemas.openxmlformats.org/drawingml/2006/main">
            <a:off x="962025" y="578167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43393"/>
                </a:solidFill>
                <a:latin typeface="Franklin Gothic Book"/>
                <a:ea typeface="Franklin Gothic Book"/>
                <a:cs typeface="Franklin Gothic Book"/>
              </a:defRPr>
            </a:defPPr>
            <a:lvl1pPr>
              <a:buNone/>
              <a:defRPr sz="2175" b="0">
                <a:solidFill>
                  <a:srgbClr val="143393"/>
                </a:solidFill>
                <a:latin typeface="Franklin Gothic Book"/>
                <a:ea typeface="Franklin Gothic Book"/>
                <a:cs typeface="Franklin Gothic Book"/>
              </a:defRPr>
            </a:lvl1pPr>
            <a:lvl2pPr>
              <a:buNone/>
              <a:defRPr sz="2175" b="0">
                <a:solidFill>
                  <a:srgbClr val="143393"/>
                </a:solidFill>
                <a:latin typeface="Franklin Gothic Book"/>
                <a:ea typeface="Franklin Gothic Book"/>
                <a:cs typeface="Franklin Gothic Book"/>
              </a:defRPr>
            </a:lvl2pPr>
            <a:lvl3pPr>
              <a:buNone/>
              <a:defRPr sz="2175" b="0">
                <a:solidFill>
                  <a:srgbClr val="143393"/>
                </a:solidFill>
                <a:latin typeface="Franklin Gothic Book"/>
                <a:ea typeface="Franklin Gothic Book"/>
                <a:cs typeface="Franklin Gothic Book"/>
              </a:defRPr>
            </a:lvl3pPr>
            <a:lvl4pPr>
              <a:buNone/>
              <a:defRPr sz="2175" b="0">
                <a:solidFill>
                  <a:srgbClr val="143393"/>
                </a:solidFill>
                <a:latin typeface="Franklin Gothic Book"/>
                <a:ea typeface="Franklin Gothic Book"/>
                <a:cs typeface="Franklin Gothic Book"/>
              </a:defRPr>
            </a:lvl4pPr>
            <a:lvl5pPr>
              <a:buNone/>
              <a:defRPr sz="2175" b="0">
                <a:solidFill>
                  <a:srgbClr val="143393"/>
                </a:solidFill>
                <a:latin typeface="Franklin Gothic Book"/>
                <a:ea typeface="Franklin Gothic Book"/>
                <a:cs typeface="Franklin Gothic Book"/>
              </a:defRPr>
            </a:lvl5pPr>
            <a:lvl6pPr>
              <a:buNone/>
              <a:defRPr sz="2175" b="0">
                <a:solidFill>
                  <a:srgbClr val="143393"/>
                </a:solidFill>
                <a:latin typeface="Franklin Gothic Book"/>
                <a:ea typeface="Franklin Gothic Book"/>
                <a:cs typeface="Franklin Gothic Book"/>
              </a:defRPr>
            </a:lvl6pPr>
            <a:lvl7pPr>
              <a:buNone/>
              <a:defRPr sz="2175" b="0">
                <a:solidFill>
                  <a:srgbClr val="143393"/>
                </a:solidFill>
                <a:latin typeface="Franklin Gothic Book"/>
                <a:ea typeface="Franklin Gothic Book"/>
                <a:cs typeface="Franklin Gothic Book"/>
              </a:defRPr>
            </a:lvl7pPr>
            <a:lvl8pPr>
              <a:buNone/>
              <a:defRPr sz="2175" b="0">
                <a:solidFill>
                  <a:srgbClr val="143393"/>
                </a:solidFill>
                <a:latin typeface="Franklin Gothic Book"/>
                <a:ea typeface="Franklin Gothic Book"/>
                <a:cs typeface="Franklin Gothic Book"/>
              </a:defRPr>
            </a:lvl8pPr>
            <a:lvl9pPr>
              <a:buNone/>
              <a:defRPr sz="2175" b="0">
                <a:solidFill>
                  <a:srgbClr val="143393"/>
                </a:solidFill>
                <a:latin typeface="Franklin Gothic Book"/>
                <a:ea typeface="Franklin Gothic Book"/>
                <a:cs typeface="Franklin Gothic Book"/>
              </a:defRPr>
            </a:lvl9pPr>
          </a:lstStyle>
          <a:p xmlns:a="http://schemas.openxmlformats.org/drawingml/2006/main">
            <a:pPr>
              <a:buNone/>
              <a:defRPr sz="2175" b="0">
                <a:solidFill>
                  <a:srgbClr val="143393"/>
                </a:solidFill>
                <a:latin typeface="Franklin Gothic Book"/>
                <a:ea typeface="Franklin Gothic Book"/>
                <a:cs typeface="Franklin Gothic Book"/>
              </a:defRPr>
            </a:pPr>
            <a:r>
              <a:rPr sz="2175" b="0">
                <a:solidFill>
                  <a:srgbClr val="143393"/>
                </a:solidFill>
                <a:latin typeface="Franklin Gothic Book"/>
                <a:ea typeface="Franklin Gothic Book"/>
                <a:cs typeface="Franklin Gothic Book"/>
              </a:rPr>
              <a:t>La pérdida disminuye y el AUC aumenta en entrenamiento y validación.</a:t>
            </a:r>
          </a:p>
        </p:txBody>
      </p:sp>
      <p:sp>
        <p:nvSpPr>
          <p:cNvPr id="6" name="texto-3">
            <a:extLst xmlns:a="http://schemas.openxmlformats.org/drawingml/2006/main">
              <a:ext uri="{FF2B5EF4-FFF2-40B4-BE49-F238E27FC236}">
                <a16:creationId xmlns:a16="http://schemas.microsoft.com/office/drawing/2014/main" id="{8231525C-13DD-4522-9FC9-4D58800A926E}"/>
              </a:ext>
            </a:extLst>
          </p:cNvPr>
          <p:cNvSpPr>
            <a:spLocks xmlns:a="http://schemas.openxmlformats.org/drawingml/2006/main" noGrp="1"/>
          </p:cNvSpPr>
          <p:nvPr/>
        </p:nvSpPr>
        <p:spPr>
          <a:xfrm xmlns:a="http://schemas.openxmlformats.org/drawingml/2006/main">
            <a:off x="962025" y="6238875"/>
            <a:ext cx="1028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00" b="0">
                <a:solidFill>
                  <a:srgbClr val="252C3B"/>
                </a:solidFill>
                <a:latin typeface="Franklin Gothic Book"/>
                <a:ea typeface="Franklin Gothic Book"/>
                <a:cs typeface="Franklin Gothic Book"/>
              </a:defRPr>
            </a:defPPr>
            <a:lvl1pPr>
              <a:buNone/>
              <a:defRPr sz="1800" b="0">
                <a:solidFill>
                  <a:srgbClr val="252C3B"/>
                </a:solidFill>
                <a:latin typeface="Franklin Gothic Book"/>
                <a:ea typeface="Franklin Gothic Book"/>
                <a:cs typeface="Franklin Gothic Book"/>
              </a:defRPr>
            </a:lvl1pPr>
            <a:lvl2pPr>
              <a:buNone/>
              <a:defRPr sz="1800" b="0">
                <a:solidFill>
                  <a:srgbClr val="252C3B"/>
                </a:solidFill>
                <a:latin typeface="Franklin Gothic Book"/>
                <a:ea typeface="Franklin Gothic Book"/>
                <a:cs typeface="Franklin Gothic Book"/>
              </a:defRPr>
            </a:lvl2pPr>
            <a:lvl3pPr>
              <a:buNone/>
              <a:defRPr sz="1800" b="0">
                <a:solidFill>
                  <a:srgbClr val="252C3B"/>
                </a:solidFill>
                <a:latin typeface="Franklin Gothic Book"/>
                <a:ea typeface="Franklin Gothic Book"/>
                <a:cs typeface="Franklin Gothic Book"/>
              </a:defRPr>
            </a:lvl3pPr>
            <a:lvl4pPr>
              <a:buNone/>
              <a:defRPr sz="1800" b="0">
                <a:solidFill>
                  <a:srgbClr val="252C3B"/>
                </a:solidFill>
                <a:latin typeface="Franklin Gothic Book"/>
                <a:ea typeface="Franklin Gothic Book"/>
                <a:cs typeface="Franklin Gothic Book"/>
              </a:defRPr>
            </a:lvl4pPr>
            <a:lvl5pPr>
              <a:buNone/>
              <a:defRPr sz="1800" b="0">
                <a:solidFill>
                  <a:srgbClr val="252C3B"/>
                </a:solidFill>
                <a:latin typeface="Franklin Gothic Book"/>
                <a:ea typeface="Franklin Gothic Book"/>
                <a:cs typeface="Franklin Gothic Book"/>
              </a:defRPr>
            </a:lvl5pPr>
            <a:lvl6pPr>
              <a:buNone/>
              <a:defRPr sz="1800" b="0">
                <a:solidFill>
                  <a:srgbClr val="252C3B"/>
                </a:solidFill>
                <a:latin typeface="Franklin Gothic Book"/>
                <a:ea typeface="Franklin Gothic Book"/>
                <a:cs typeface="Franklin Gothic Book"/>
              </a:defRPr>
            </a:lvl6pPr>
            <a:lvl7pPr>
              <a:buNone/>
              <a:defRPr sz="1800" b="0">
                <a:solidFill>
                  <a:srgbClr val="252C3B"/>
                </a:solidFill>
                <a:latin typeface="Franklin Gothic Book"/>
                <a:ea typeface="Franklin Gothic Book"/>
                <a:cs typeface="Franklin Gothic Book"/>
              </a:defRPr>
            </a:lvl7pPr>
            <a:lvl8pPr>
              <a:buNone/>
              <a:defRPr sz="1800" b="0">
                <a:solidFill>
                  <a:srgbClr val="252C3B"/>
                </a:solidFill>
                <a:latin typeface="Franklin Gothic Book"/>
                <a:ea typeface="Franklin Gothic Book"/>
                <a:cs typeface="Franklin Gothic Book"/>
              </a:defRPr>
            </a:lvl8pPr>
            <a:lvl9pPr>
              <a:buNone/>
              <a:defRPr sz="1800" b="0">
                <a:solidFill>
                  <a:srgbClr val="252C3B"/>
                </a:solidFill>
                <a:latin typeface="Franklin Gothic Book"/>
                <a:ea typeface="Franklin Gothic Book"/>
                <a:cs typeface="Franklin Gothic Book"/>
              </a:defRPr>
            </a:lvl9pPr>
          </a:lstStyle>
          <a:p xmlns:a="http://schemas.openxmlformats.org/drawingml/2006/main">
            <a:pPr>
              <a:buNone/>
              <a:defRPr sz="1800" b="0">
                <a:solidFill>
                  <a:srgbClr val="252C3B"/>
                </a:solidFill>
                <a:latin typeface="Franklin Gothic Book"/>
                <a:ea typeface="Franklin Gothic Book"/>
                <a:cs typeface="Franklin Gothic Book"/>
              </a:defRPr>
            </a:pPr>
            <a:r>
              <a:rPr sz="1800" b="0">
                <a:solidFill>
                  <a:srgbClr val="252C3B"/>
                </a:solidFill>
                <a:latin typeface="Franklin Gothic Book"/>
                <a:ea typeface="Franklin Gothic Book"/>
                <a:cs typeface="Franklin Gothic Book"/>
              </a:rPr>
              <a:t>Mejor época: 20. AUC de TensorFlow: 0,7561. Cálculo posterior: 0,7710.</a:t>
            </a:r>
          </a:p>
        </p:txBody>
      </p:sp>
    </p:spTree>
    <p:extLst>
      <p:ext uri="{BB962C8B-B14F-4D97-AF65-F5344CB8AC3E}">
        <p14:creationId xmlns:p14="http://schemas.microsoft.com/office/powerpoint/2010/main" val="3770042391"/>
      </p:ext>
    </p:extLst>
  </p:cSld>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6f082dee8b4f43b9">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5. EVALUACIÓN</a:t>
            </a:r>
          </a:p>
        </p:txBody>
      </p:sp>
      <p:sp>
        <p:nvSpPr>
          <p:cNvPr id="3" name="texto-1">
            <a:extLst xmlns:a="http://schemas.openxmlformats.org/drawingml/2006/main">
              <a:ext uri="{FF2B5EF4-FFF2-40B4-BE49-F238E27FC236}">
                <a16:creationId xmlns:a16="http://schemas.microsoft.com/office/drawing/2014/main" id="{CB8B796E-963F-4F2F-ACB7-205164F683F2}"/>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Umbrales elegidos en validación</a:t>
            </a:r>
          </a:p>
        </p:txBody>
      </p:sp>
      <p:sp>
        <p:nvSpPr>
          <p:cNvPr id="4" name="texto-2">
            <a:extLst xmlns:a="http://schemas.openxmlformats.org/drawingml/2006/main">
              <a:ext uri="{FF2B5EF4-FFF2-40B4-BE49-F238E27FC236}">
                <a16:creationId xmlns:a16="http://schemas.microsoft.com/office/drawing/2014/main" id="{649A558A-2569-4784-803D-06C366F13154}"/>
              </a:ext>
            </a:extLst>
          </p:cNvPr>
          <p:cNvSpPr>
            <a:spLocks xmlns:a="http://schemas.openxmlformats.org/drawingml/2006/main" noGrp="1"/>
          </p:cNvSpPr>
          <p:nvPr/>
        </p:nvSpPr>
        <p:spPr>
          <a:xfrm xmlns:a="http://schemas.openxmlformats.org/drawingml/2006/main">
            <a:off x="962025" y="22383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El umbral inicial de 0,5 detecta pocos positivos en ambos modelos.</a:t>
            </a:r>
          </a:p>
        </p:txBody>
      </p:sp>
      <p:sp>
        <p:nvSpPr>
          <p:cNvPr id="5" name="texto-3">
            <a:extLst xmlns:a="http://schemas.openxmlformats.org/drawingml/2006/main">
              <a:ext uri="{FF2B5EF4-FFF2-40B4-BE49-F238E27FC236}">
                <a16:creationId xmlns:a16="http://schemas.microsoft.com/office/drawing/2014/main" id="{28A51E40-07AF-49F6-BF6B-7AFDE7F04324}"/>
              </a:ext>
            </a:extLst>
          </p:cNvPr>
          <p:cNvSpPr>
            <a:spLocks xmlns:a="http://schemas.openxmlformats.org/drawingml/2006/main" noGrp="1"/>
          </p:cNvSpPr>
          <p:nvPr/>
        </p:nvSpPr>
        <p:spPr>
          <a:xfrm xmlns:a="http://schemas.openxmlformats.org/drawingml/2006/main">
            <a:off x="962025" y="31908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Por etiqueta, buscamos el umbral más alto entre 0,50 y 0,01 que alcance recall de al menos 0,80.</a:t>
            </a:r>
          </a:p>
        </p:txBody>
      </p:sp>
      <p:sp>
        <p:nvSpPr>
          <p:cNvPr id="6" name="texto-4">
            <a:extLst xmlns:a="http://schemas.openxmlformats.org/drawingml/2006/main">
              <a:ext uri="{FF2B5EF4-FFF2-40B4-BE49-F238E27FC236}">
                <a16:creationId xmlns:a16="http://schemas.microsoft.com/office/drawing/2014/main" id="{4289B8FB-181C-4B83-9653-C3CEAD5C5373}"/>
              </a:ext>
            </a:extLst>
          </p:cNvPr>
          <p:cNvSpPr>
            <a:spLocks xmlns:a="http://schemas.openxmlformats.org/drawingml/2006/main" noGrp="1"/>
          </p:cNvSpPr>
          <p:nvPr/>
        </p:nvSpPr>
        <p:spPr>
          <a:xfrm xmlns:a="http://schemas.openxmlformats.org/drawingml/2006/main">
            <a:off x="962025" y="41433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La meta se alcanzó en 9 de 14 etiquetas para RNA y 11 de 14 para CNN, en validación.</a:t>
            </a:r>
          </a:p>
        </p:txBody>
      </p:sp>
      <p:sp>
        <p:nvSpPr>
          <p:cNvPr id="7" name="texto-5">
            <a:extLst xmlns:a="http://schemas.openxmlformats.org/drawingml/2006/main">
              <a:ext uri="{FF2B5EF4-FFF2-40B4-BE49-F238E27FC236}">
                <a16:creationId xmlns:a16="http://schemas.microsoft.com/office/drawing/2014/main" id="{AFDFCCCD-8D2F-4156-A9CE-5D0E3FB9D64C}"/>
              </a:ext>
            </a:extLst>
          </p:cNvPr>
          <p:cNvSpPr>
            <a:spLocks xmlns:a="http://schemas.openxmlformats.org/drawingml/2006/main" noGrp="1"/>
          </p:cNvSpPr>
          <p:nvPr/>
        </p:nvSpPr>
        <p:spPr>
          <a:xfrm xmlns:a="http://schemas.openxmlformats.org/drawingml/2006/main">
            <a:off x="962025" y="5095875"/>
            <a:ext cx="1028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Fijamos los umbrales antes de evaluar en prueba. Aumentar la detección también genera falsas alarmas.</a:t>
            </a:r>
          </a:p>
        </p:txBody>
      </p:sp>
    </p:spTree>
    <p:extLst>
      <p:ext uri="{BB962C8B-B14F-4D97-AF65-F5344CB8AC3E}">
        <p14:creationId xmlns:p14="http://schemas.microsoft.com/office/powerpoint/2010/main" val="4038712202"/>
      </p:ext>
    </p:extLst>
  </p:cSld>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39006bfe9f1941f1">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5. EVALUACIÓN</a:t>
            </a:r>
          </a:p>
        </p:txBody>
      </p:sp>
      <p:sp>
        <p:nvSpPr>
          <p:cNvPr id="3" name="texto-1">
            <a:extLst xmlns:a="http://schemas.openxmlformats.org/drawingml/2006/main">
              <a:ext uri="{FF2B5EF4-FFF2-40B4-BE49-F238E27FC236}">
                <a16:creationId xmlns:a16="http://schemas.microsoft.com/office/drawing/2014/main" id="{46397060-16E9-4917-BCE2-080261B5B97A}"/>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Comparación final en prueba</a:t>
            </a:r>
          </a:p>
        </p:txBody>
      </p:sp>
      <p:graphicFrame>
        <p:nvGraphicFramePr>
          <p:cNvPr id="4" name="">
            <a:extLst xmlns:a="http://schemas.openxmlformats.org/drawingml/2006/main">
              <a:ext uri="{FF2B5EF4-FFF2-40B4-BE49-F238E27FC236}">
                <a16:creationId xmlns:a16="http://schemas.microsoft.com/office/drawing/2014/main" id="{978B1C83-0C3E-4F07-917A-B132554F8A6E}"/>
              </a:ext>
            </a:extLst>
          </p:cNvPr>
          <p:cNvGraphicFramePr/>
          <p:nvPr/>
        </p:nvGraphicFramePr>
        <p:xfrm>
          <a:off xmlns:a="http://schemas.openxmlformats.org/drawingml/2006/main" x="962025" y="2143125"/>
          <a:ext xmlns:a="http://schemas.openxmlformats.org/drawingml/2006/main" cx="10287000" cy="3429000"/>
        </p:xfrm>
        <a:graphic xmlns:a="http://schemas.openxmlformats.org/drawingml/2006/main">
          <a:graphicData uri="http://schemas.openxmlformats.org/drawingml/2006/table">
            <a:tbl>
              <a:tblPr/>
              <a:tblGrid>
                <a:gridCol w="4000500"/>
                <a:gridCol w="2857500"/>
                <a:gridCol w="3429000"/>
              </a:tblGrid>
              <a:tr h="571500">
                <a:tc>
                  <a:txBody>
                    <a:bodyPr lIns="114300" tIns="114300" rIns="114300" bIns="114300"/>
                    <a:lstStyle/>
                    <a:p>
                      <a:r>
                        <a:rPr sz="2100" b="1">
                          <a:solidFill>
                            <a:srgbClr val="FFFFFF"/>
                          </a:solidFill>
                          <a:latin typeface="Franklin Gothic Book"/>
                          <a:ea typeface="Franklin Gothic Book"/>
                          <a:cs typeface="Franklin Gothic Book"/>
                        </a:rPr>
                        <a:t>Métrica</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RNA con HOG</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CNN: VGG compacta</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571500">
                <a:tc>
                  <a:txBody>
                    <a:bodyPr lIns="114300" tIns="114300" rIns="114300" bIns="114300"/>
                    <a:lstStyle/>
                    <a:p>
                      <a:r>
                        <a:rPr sz="2100" b="0">
                          <a:solidFill>
                            <a:srgbClr val="252C3B"/>
                          </a:solidFill>
                          <a:latin typeface="Franklin Gothic Book"/>
                          <a:ea typeface="Franklin Gothic Book"/>
                          <a:cs typeface="Franklin Gothic Book"/>
                        </a:rPr>
                        <a:t>AUC macro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0,6704</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0,7654</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571500">
                <a:tc>
                  <a:txBody>
                    <a:bodyPr lIns="114300" tIns="114300" rIns="114300" bIns="114300"/>
                    <a:lstStyle/>
                    <a:p>
                      <a:r>
                        <a:rPr sz="2100" b="0">
                          <a:solidFill>
                            <a:srgbClr val="252C3B"/>
                          </a:solidFill>
                          <a:latin typeface="Franklin Gothic Book"/>
                          <a:ea typeface="Franklin Gothic Book"/>
                          <a:cs typeface="Franklin Gothic Book"/>
                        </a:rPr>
                        <a:t>Precisión micro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0,0786</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0,0975</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571500">
                <a:tc>
                  <a:txBody>
                    <a:bodyPr lIns="114300" tIns="114300" rIns="114300" bIns="114300"/>
                    <a:lstStyle/>
                    <a:p>
                      <a:r>
                        <a:rPr sz="2100" b="0">
                          <a:solidFill>
                            <a:srgbClr val="252C3B"/>
                          </a:solidFill>
                          <a:latin typeface="Franklin Gothic Book"/>
                          <a:ea typeface="Franklin Gothic Book"/>
                          <a:cs typeface="Franklin Gothic Book"/>
                        </a:rPr>
                        <a:t>Recall micro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0,8193</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0,8390</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571500">
                <a:tc>
                  <a:txBody>
                    <a:bodyPr lIns="114300" tIns="114300" rIns="114300" bIns="114300"/>
                    <a:lstStyle/>
                    <a:p>
                      <a:r>
                        <a:rPr sz="2100" b="0">
                          <a:solidFill>
                            <a:srgbClr val="252C3B"/>
                          </a:solidFill>
                          <a:latin typeface="Franklin Gothic Book"/>
                          <a:ea typeface="Franklin Gothic Book"/>
                          <a:cs typeface="Franklin Gothic Book"/>
                        </a:rPr>
                        <a:t>F1 micro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0,1435</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0,1747</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571500">
                <a:tc>
                  <a:txBody>
                    <a:bodyPr lIns="114300" tIns="114300" rIns="114300" bIns="114300"/>
                    <a:lstStyle/>
                    <a:p>
                      <a:r>
                        <a:rPr sz="2100" b="0">
                          <a:solidFill>
                            <a:srgbClr val="252C3B"/>
                          </a:solidFill>
                          <a:latin typeface="Franklin Gothic Book"/>
                          <a:ea typeface="Franklin Gothic Book"/>
                          <a:cs typeface="Franklin Gothic Book"/>
                        </a:rPr>
                        <a:t>F1 macro</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0,1252</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0,1563</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646E698E-D8E8-4445-8F4A-1D063E4CEC56}"/>
              </a:ext>
            </a:extLst>
          </p:cNvPr>
          <p:cNvSpPr>
            <a:spLocks xmlns:a="http://schemas.openxmlformats.org/drawingml/2006/main" noGrp="1"/>
          </p:cNvSpPr>
          <p:nvPr/>
        </p:nvSpPr>
        <p:spPr>
          <a:xfrm xmlns:a="http://schemas.openxmlformats.org/drawingml/2006/main">
            <a:off x="962025" y="5857875"/>
            <a:ext cx="10287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143393"/>
                </a:solidFill>
                <a:latin typeface="Franklin Gothic Book"/>
                <a:ea typeface="Franklin Gothic Book"/>
                <a:cs typeface="Franklin Gothic Book"/>
              </a:defRPr>
            </a:defPPr>
            <a:lvl1pPr>
              <a:buNone/>
              <a:defRPr sz="1875" b="0">
                <a:solidFill>
                  <a:srgbClr val="143393"/>
                </a:solidFill>
                <a:latin typeface="Franklin Gothic Book"/>
                <a:ea typeface="Franklin Gothic Book"/>
                <a:cs typeface="Franklin Gothic Book"/>
              </a:defRPr>
            </a:lvl1pPr>
            <a:lvl2pPr>
              <a:buNone/>
              <a:defRPr sz="1875" b="0">
                <a:solidFill>
                  <a:srgbClr val="143393"/>
                </a:solidFill>
                <a:latin typeface="Franklin Gothic Book"/>
                <a:ea typeface="Franklin Gothic Book"/>
                <a:cs typeface="Franklin Gothic Book"/>
              </a:defRPr>
            </a:lvl2pPr>
            <a:lvl3pPr>
              <a:buNone/>
              <a:defRPr sz="1875" b="0">
                <a:solidFill>
                  <a:srgbClr val="143393"/>
                </a:solidFill>
                <a:latin typeface="Franklin Gothic Book"/>
                <a:ea typeface="Franklin Gothic Book"/>
                <a:cs typeface="Franklin Gothic Book"/>
              </a:defRPr>
            </a:lvl3pPr>
            <a:lvl4pPr>
              <a:buNone/>
              <a:defRPr sz="1875" b="0">
                <a:solidFill>
                  <a:srgbClr val="143393"/>
                </a:solidFill>
                <a:latin typeface="Franklin Gothic Book"/>
                <a:ea typeface="Franklin Gothic Book"/>
                <a:cs typeface="Franklin Gothic Book"/>
              </a:defRPr>
            </a:lvl4pPr>
            <a:lvl5pPr>
              <a:buNone/>
              <a:defRPr sz="1875" b="0">
                <a:solidFill>
                  <a:srgbClr val="143393"/>
                </a:solidFill>
                <a:latin typeface="Franklin Gothic Book"/>
                <a:ea typeface="Franklin Gothic Book"/>
                <a:cs typeface="Franklin Gothic Book"/>
              </a:defRPr>
            </a:lvl5pPr>
            <a:lvl6pPr>
              <a:buNone/>
              <a:defRPr sz="1875" b="0">
                <a:solidFill>
                  <a:srgbClr val="143393"/>
                </a:solidFill>
                <a:latin typeface="Franklin Gothic Book"/>
                <a:ea typeface="Franklin Gothic Book"/>
                <a:cs typeface="Franklin Gothic Book"/>
              </a:defRPr>
            </a:lvl6pPr>
            <a:lvl7pPr>
              <a:buNone/>
              <a:defRPr sz="1875" b="0">
                <a:solidFill>
                  <a:srgbClr val="143393"/>
                </a:solidFill>
                <a:latin typeface="Franklin Gothic Book"/>
                <a:ea typeface="Franklin Gothic Book"/>
                <a:cs typeface="Franklin Gothic Book"/>
              </a:defRPr>
            </a:lvl7pPr>
            <a:lvl8pPr>
              <a:buNone/>
              <a:defRPr sz="1875" b="0">
                <a:solidFill>
                  <a:srgbClr val="143393"/>
                </a:solidFill>
                <a:latin typeface="Franklin Gothic Book"/>
                <a:ea typeface="Franklin Gothic Book"/>
                <a:cs typeface="Franklin Gothic Book"/>
              </a:defRPr>
            </a:lvl8pPr>
            <a:lvl9pPr>
              <a:buNone/>
              <a:defRPr sz="1875" b="0">
                <a:solidFill>
                  <a:srgbClr val="143393"/>
                </a:solidFill>
                <a:latin typeface="Franklin Gothic Book"/>
                <a:ea typeface="Franklin Gothic Book"/>
                <a:cs typeface="Franklin Gothic Book"/>
              </a:defRPr>
            </a:lvl9pPr>
          </a:lstStyle>
          <a:p xmlns:a="http://schemas.openxmlformats.org/drawingml/2006/main">
            <a:pPr>
              <a:buNone/>
              <a:defRPr sz="1875" b="0">
                <a:solidFill>
                  <a:srgbClr val="143393"/>
                </a:solidFill>
                <a:latin typeface="Franklin Gothic Book"/>
                <a:ea typeface="Franklin Gothic Book"/>
                <a:cs typeface="Franklin Gothic Book"/>
              </a:defRPr>
            </a:pPr>
            <a:r>
              <a:rPr sz="1875" b="0">
                <a:solidFill>
                  <a:srgbClr val="143393"/>
                </a:solidFill>
                <a:latin typeface="Franklin Gothic Book"/>
                <a:ea typeface="Franklin Gothic Book"/>
                <a:cs typeface="Franklin Gothic Book"/>
              </a:rPr>
              <a:t>Métricas de decisión con umbrales ajustados en validación.</a:t>
            </a:r>
          </a:p>
        </p:txBody>
      </p:sp>
      <p:sp>
        <p:nvSpPr>
          <p:cNvPr id="6" name="texto-3">
            <a:extLst xmlns:a="http://schemas.openxmlformats.org/drawingml/2006/main">
              <a:ext uri="{FF2B5EF4-FFF2-40B4-BE49-F238E27FC236}">
                <a16:creationId xmlns:a16="http://schemas.microsoft.com/office/drawing/2014/main" id="{BB88F366-55D6-4E7E-9864-5E4A22144A54}"/>
              </a:ext>
            </a:extLst>
          </p:cNvPr>
          <p:cNvSpPr>
            <a:spLocks xmlns:a="http://schemas.openxmlformats.org/drawingml/2006/main" noGrp="1"/>
          </p:cNvSpPr>
          <p:nvPr/>
        </p:nvSpPr>
        <p:spPr>
          <a:xfrm xmlns:a="http://schemas.openxmlformats.org/drawingml/2006/main">
            <a:off x="962025" y="6229350"/>
            <a:ext cx="10287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1875" b="0">
                <a:solidFill>
                  <a:srgbClr val="252C3B"/>
                </a:solidFill>
                <a:latin typeface="Franklin Gothic Book"/>
                <a:ea typeface="Franklin Gothic Book"/>
                <a:cs typeface="Franklin Gothic Book"/>
              </a:defRPr>
            </a:defPPr>
            <a:lvl1pPr>
              <a:buNone/>
              <a:defRPr sz="1875" b="0">
                <a:solidFill>
                  <a:srgbClr val="252C3B"/>
                </a:solidFill>
                <a:latin typeface="Franklin Gothic Book"/>
                <a:ea typeface="Franklin Gothic Book"/>
                <a:cs typeface="Franklin Gothic Book"/>
              </a:defRPr>
            </a:lvl1pPr>
            <a:lvl2pPr>
              <a:buNone/>
              <a:defRPr sz="1875" b="0">
                <a:solidFill>
                  <a:srgbClr val="252C3B"/>
                </a:solidFill>
                <a:latin typeface="Franklin Gothic Book"/>
                <a:ea typeface="Franklin Gothic Book"/>
                <a:cs typeface="Franklin Gothic Book"/>
              </a:defRPr>
            </a:lvl2pPr>
            <a:lvl3pPr>
              <a:buNone/>
              <a:defRPr sz="1875" b="0">
                <a:solidFill>
                  <a:srgbClr val="252C3B"/>
                </a:solidFill>
                <a:latin typeface="Franklin Gothic Book"/>
                <a:ea typeface="Franklin Gothic Book"/>
                <a:cs typeface="Franklin Gothic Book"/>
              </a:defRPr>
            </a:lvl3pPr>
            <a:lvl4pPr>
              <a:buNone/>
              <a:defRPr sz="1875" b="0">
                <a:solidFill>
                  <a:srgbClr val="252C3B"/>
                </a:solidFill>
                <a:latin typeface="Franklin Gothic Book"/>
                <a:ea typeface="Franklin Gothic Book"/>
                <a:cs typeface="Franklin Gothic Book"/>
              </a:defRPr>
            </a:lvl4pPr>
            <a:lvl5pPr>
              <a:buNone/>
              <a:defRPr sz="1875" b="0">
                <a:solidFill>
                  <a:srgbClr val="252C3B"/>
                </a:solidFill>
                <a:latin typeface="Franklin Gothic Book"/>
                <a:ea typeface="Franklin Gothic Book"/>
                <a:cs typeface="Franklin Gothic Book"/>
              </a:defRPr>
            </a:lvl5pPr>
            <a:lvl6pPr>
              <a:buNone/>
              <a:defRPr sz="1875" b="0">
                <a:solidFill>
                  <a:srgbClr val="252C3B"/>
                </a:solidFill>
                <a:latin typeface="Franklin Gothic Book"/>
                <a:ea typeface="Franklin Gothic Book"/>
                <a:cs typeface="Franklin Gothic Book"/>
              </a:defRPr>
            </a:lvl6pPr>
            <a:lvl7pPr>
              <a:buNone/>
              <a:defRPr sz="1875" b="0">
                <a:solidFill>
                  <a:srgbClr val="252C3B"/>
                </a:solidFill>
                <a:latin typeface="Franklin Gothic Book"/>
                <a:ea typeface="Franklin Gothic Book"/>
                <a:cs typeface="Franklin Gothic Book"/>
              </a:defRPr>
            </a:lvl7pPr>
            <a:lvl8pPr>
              <a:buNone/>
              <a:defRPr sz="1875" b="0">
                <a:solidFill>
                  <a:srgbClr val="252C3B"/>
                </a:solidFill>
                <a:latin typeface="Franklin Gothic Book"/>
                <a:ea typeface="Franklin Gothic Book"/>
                <a:cs typeface="Franklin Gothic Book"/>
              </a:defRPr>
            </a:lvl8pPr>
            <a:lvl9pPr>
              <a:buNone/>
              <a:defRPr sz="1875" b="0">
                <a:solidFill>
                  <a:srgbClr val="252C3B"/>
                </a:solidFill>
                <a:latin typeface="Franklin Gothic Book"/>
                <a:ea typeface="Franklin Gothic Book"/>
                <a:cs typeface="Franklin Gothic Book"/>
              </a:defRPr>
            </a:lvl9pPr>
          </a:lstStyle>
          <a:p xmlns:a="http://schemas.openxmlformats.org/drawingml/2006/main">
            <a:pPr>
              <a:buNone/>
              <a:defRPr sz="1875" b="0">
                <a:solidFill>
                  <a:srgbClr val="252C3B"/>
                </a:solidFill>
                <a:latin typeface="Franklin Gothic Book"/>
                <a:ea typeface="Franklin Gothic Book"/>
                <a:cs typeface="Franklin Gothic Book"/>
              </a:defRPr>
            </a:pPr>
            <a:r>
              <a:rPr sz="1875" b="0">
                <a:solidFill>
                  <a:srgbClr val="252C3B"/>
                </a:solidFill>
                <a:latin typeface="Franklin Gothic Book"/>
                <a:ea typeface="Franklin Gothic Book"/>
                <a:cs typeface="Franklin Gothic Book"/>
              </a:rPr>
              <a:t>RNA: una configuración. CNN: selección entre nueve ejecuciones.</a:t>
            </a:r>
          </a:p>
        </p:txBody>
      </p:sp>
    </p:spTree>
    <p:extLst>
      <p:ext uri="{BB962C8B-B14F-4D97-AF65-F5344CB8AC3E}">
        <p14:creationId xmlns:p14="http://schemas.microsoft.com/office/powerpoint/2010/main" val="4038712202"/>
      </p:ext>
    </p:extLst>
  </p:cSld>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fa67741b435a4872">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5. EVALUACIÓN</a:t>
            </a:r>
          </a:p>
        </p:txBody>
      </p:sp>
      <p:sp>
        <p:nvSpPr>
          <p:cNvPr id="3" name="texto-1">
            <a:extLst xmlns:a="http://schemas.openxmlformats.org/drawingml/2006/main">
              <a:ext uri="{FF2B5EF4-FFF2-40B4-BE49-F238E27FC236}">
                <a16:creationId xmlns:a16="http://schemas.microsoft.com/office/drawing/2014/main" id="{107A3108-8BD6-4316-88E8-4FE526FC97DA}"/>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Detección y falsas alarmas</a:t>
            </a:r>
          </a:p>
        </p:txBody>
      </p:sp>
      <p:graphicFrame>
        <p:nvGraphicFramePr>
          <p:cNvPr id="4" name="Chart">
            <a:extLst xmlns:a="http://schemas.openxmlformats.org/drawingml/2006/main">
              <a:ext uri="{FF2B5EF4-FFF2-40B4-BE49-F238E27FC236}">
                <a16:creationId xmlns:a16="http://schemas.microsoft.com/office/drawing/2014/main" id="{2C9CD8F3-25C0-4E8D-87FC-69D1E8F1778A}"/>
              </a:ext>
            </a:extLst>
          </p:cNvPr>
          <p:cNvGraphicFramePr/>
          <p:nvPr/>
        </p:nvGraphicFramePr>
        <p:xfrm>
          <a:off xmlns:a="http://schemas.openxmlformats.org/drawingml/2006/main" x="962025" y="2238375"/>
          <a:ext xmlns:a="http://schemas.openxmlformats.org/drawingml/2006/main" cx="10287000" cy="3429000"/>
        </p:xfrm>
        <a:graphic xmlns:a="http://schemas.openxmlformats.org/drawingml/2006/main">
          <a:graphicData uri="http://schemas.openxmlformats.org/drawingml/2006/chart">
            <c:chart xmlns:r="http://schemas.openxmlformats.org/officeDocument/2006/relationships" xmlns:c="http://schemas.openxmlformats.org/drawingml/2006/chart" r:id="R74be367587f04a72"/>
          </a:graphicData>
        </a:graphic>
      </p:graphicFrame>
      <p:sp>
        <p:nvSpPr>
          <p:cNvPr id="5" name="texto-2">
            <a:extLst xmlns:a="http://schemas.openxmlformats.org/drawingml/2006/main">
              <a:ext uri="{FF2B5EF4-FFF2-40B4-BE49-F238E27FC236}">
                <a16:creationId xmlns:a16="http://schemas.microsoft.com/office/drawing/2014/main" id="{4DFBA2B9-35BF-4B2E-B80C-1A3B8D61C2C5}"/>
              </a:ext>
            </a:extLst>
          </p:cNvPr>
          <p:cNvSpPr>
            <a:spLocks xmlns:a="http://schemas.openxmlformats.org/drawingml/2006/main" noGrp="1"/>
          </p:cNvSpPr>
          <p:nvPr/>
        </p:nvSpPr>
        <p:spPr>
          <a:xfrm xmlns:a="http://schemas.openxmlformats.org/drawingml/2006/main">
            <a:off x="962025" y="59531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143393"/>
                </a:solidFill>
                <a:latin typeface="Franklin Gothic Book"/>
                <a:ea typeface="Franklin Gothic Book"/>
                <a:cs typeface="Franklin Gothic Book"/>
              </a:defRPr>
            </a:defPPr>
            <a:lvl1pPr>
              <a:buNone/>
              <a:defRPr sz="2175" b="0">
                <a:solidFill>
                  <a:srgbClr val="143393"/>
                </a:solidFill>
                <a:latin typeface="Franklin Gothic Book"/>
                <a:ea typeface="Franklin Gothic Book"/>
                <a:cs typeface="Franklin Gothic Book"/>
              </a:defRPr>
            </a:lvl1pPr>
            <a:lvl2pPr>
              <a:buNone/>
              <a:defRPr sz="2175" b="0">
                <a:solidFill>
                  <a:srgbClr val="143393"/>
                </a:solidFill>
                <a:latin typeface="Franklin Gothic Book"/>
                <a:ea typeface="Franklin Gothic Book"/>
                <a:cs typeface="Franklin Gothic Book"/>
              </a:defRPr>
            </a:lvl2pPr>
            <a:lvl3pPr>
              <a:buNone/>
              <a:defRPr sz="2175" b="0">
                <a:solidFill>
                  <a:srgbClr val="143393"/>
                </a:solidFill>
                <a:latin typeface="Franklin Gothic Book"/>
                <a:ea typeface="Franklin Gothic Book"/>
                <a:cs typeface="Franklin Gothic Book"/>
              </a:defRPr>
            </a:lvl3pPr>
            <a:lvl4pPr>
              <a:buNone/>
              <a:defRPr sz="2175" b="0">
                <a:solidFill>
                  <a:srgbClr val="143393"/>
                </a:solidFill>
                <a:latin typeface="Franklin Gothic Book"/>
                <a:ea typeface="Franklin Gothic Book"/>
                <a:cs typeface="Franklin Gothic Book"/>
              </a:defRPr>
            </a:lvl4pPr>
            <a:lvl5pPr>
              <a:buNone/>
              <a:defRPr sz="2175" b="0">
                <a:solidFill>
                  <a:srgbClr val="143393"/>
                </a:solidFill>
                <a:latin typeface="Franklin Gothic Book"/>
                <a:ea typeface="Franklin Gothic Book"/>
                <a:cs typeface="Franklin Gothic Book"/>
              </a:defRPr>
            </a:lvl5pPr>
            <a:lvl6pPr>
              <a:buNone/>
              <a:defRPr sz="2175" b="0">
                <a:solidFill>
                  <a:srgbClr val="143393"/>
                </a:solidFill>
                <a:latin typeface="Franklin Gothic Book"/>
                <a:ea typeface="Franklin Gothic Book"/>
                <a:cs typeface="Franklin Gothic Book"/>
              </a:defRPr>
            </a:lvl6pPr>
            <a:lvl7pPr>
              <a:buNone/>
              <a:defRPr sz="2175" b="0">
                <a:solidFill>
                  <a:srgbClr val="143393"/>
                </a:solidFill>
                <a:latin typeface="Franklin Gothic Book"/>
                <a:ea typeface="Franklin Gothic Book"/>
                <a:cs typeface="Franklin Gothic Book"/>
              </a:defRPr>
            </a:lvl7pPr>
            <a:lvl8pPr>
              <a:buNone/>
              <a:defRPr sz="2175" b="0">
                <a:solidFill>
                  <a:srgbClr val="143393"/>
                </a:solidFill>
                <a:latin typeface="Franklin Gothic Book"/>
                <a:ea typeface="Franklin Gothic Book"/>
                <a:cs typeface="Franklin Gothic Book"/>
              </a:defRPr>
            </a:lvl8pPr>
            <a:lvl9pPr>
              <a:buNone/>
              <a:defRPr sz="2175" b="0">
                <a:solidFill>
                  <a:srgbClr val="143393"/>
                </a:solidFill>
                <a:latin typeface="Franklin Gothic Book"/>
                <a:ea typeface="Franklin Gothic Book"/>
                <a:cs typeface="Franklin Gothic Book"/>
              </a:defRPr>
            </a:lvl9pPr>
          </a:lstStyle>
          <a:p xmlns:a="http://schemas.openxmlformats.org/drawingml/2006/main">
            <a:pPr>
              <a:buNone/>
              <a:defRPr sz="2175" b="0">
                <a:solidFill>
                  <a:srgbClr val="143393"/>
                </a:solidFill>
                <a:latin typeface="Franklin Gothic Book"/>
                <a:ea typeface="Franklin Gothic Book"/>
                <a:cs typeface="Franklin Gothic Book"/>
              </a:defRPr>
            </a:pPr>
            <a:r>
              <a:rPr sz="2175" b="0">
                <a:solidFill>
                  <a:srgbClr val="143393"/>
                </a:solidFill>
                <a:latin typeface="Franklin Gothic Book"/>
                <a:ea typeface="Franklin Gothic Book"/>
                <a:cs typeface="Franklin Gothic Book"/>
              </a:rPr>
              <a:t>Ambos modelos superan 0,80 de recall micro, con precisión inferior a 0,10.</a:t>
            </a:r>
          </a:p>
        </p:txBody>
      </p:sp>
    </p:spTree>
    <p:extLst>
      <p:ext uri="{BB962C8B-B14F-4D97-AF65-F5344CB8AC3E}">
        <p14:creationId xmlns:p14="http://schemas.microsoft.com/office/powerpoint/2010/main" val="4038712202"/>
      </p:ext>
    </p:extLst>
  </p:cSld>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be0f85b81ccd461a">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5. EVALUACIÓN</a:t>
            </a:r>
          </a:p>
        </p:txBody>
      </p:sp>
      <p:sp>
        <p:nvSpPr>
          <p:cNvPr id="3" name="texto-1">
            <a:extLst xmlns:a="http://schemas.openxmlformats.org/drawingml/2006/main">
              <a:ext uri="{FF2B5EF4-FFF2-40B4-BE49-F238E27FC236}">
                <a16:creationId xmlns:a16="http://schemas.microsoft.com/office/drawing/2014/main" id="{FAF72650-1D06-4139-8B76-FF1F68D69640}"/>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Costo del ajuste de umbrales</a:t>
            </a:r>
          </a:p>
        </p:txBody>
      </p:sp>
      <p:graphicFrame>
        <p:nvGraphicFramePr>
          <p:cNvPr id="4" name="">
            <a:extLst xmlns:a="http://schemas.openxmlformats.org/drawingml/2006/main">
              <a:ext uri="{FF2B5EF4-FFF2-40B4-BE49-F238E27FC236}">
                <a16:creationId xmlns:a16="http://schemas.microsoft.com/office/drawing/2014/main" id="{50AE95D1-F669-4763-85BA-F2FB48997EFF}"/>
              </a:ext>
            </a:extLst>
          </p:cNvPr>
          <p:cNvGraphicFramePr/>
          <p:nvPr/>
        </p:nvGraphicFramePr>
        <p:xfrm>
          <a:off xmlns:a="http://schemas.openxmlformats.org/drawingml/2006/main" x="962025" y="2143125"/>
          <a:ext xmlns:a="http://schemas.openxmlformats.org/drawingml/2006/main" cx="10287000" cy="2667000"/>
        </p:xfrm>
        <a:graphic xmlns:a="http://schemas.openxmlformats.org/drawingml/2006/main">
          <a:graphicData uri="http://schemas.openxmlformats.org/drawingml/2006/table">
            <a:tbl>
              <a:tblPr/>
              <a:tblGrid>
                <a:gridCol w="4476750"/>
                <a:gridCol w="2857500"/>
                <a:gridCol w="2952750"/>
              </a:tblGrid>
              <a:tr h="666750">
                <a:tc>
                  <a:txBody>
                    <a:bodyPr lIns="114300" tIns="114300" rIns="114300" bIns="114300"/>
                    <a:lstStyle/>
                    <a:p>
                      <a:r>
                        <a:rPr sz="2100" b="1">
                          <a:solidFill>
                            <a:srgbClr val="FFFFFF"/>
                          </a:solidFill>
                          <a:latin typeface="Franklin Gothic Book"/>
                          <a:ea typeface="Franklin Gothic Book"/>
                          <a:cs typeface="Franklin Gothic Book"/>
                        </a:rPr>
                        <a:t>Decisiones en prueba</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RNA ajustada</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100" b="1">
                          <a:solidFill>
                            <a:srgbClr val="FFFFFF"/>
                          </a:solidFill>
                          <a:latin typeface="Franklin Gothic Book"/>
                          <a:ea typeface="Franklin Gothic Book"/>
                          <a:cs typeface="Franklin Gothic Book"/>
                        </a:rPr>
                        <a:t>CNN ajustada</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Verdaderos positivos</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13.526</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13.852</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Falsos positivos</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158.519</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100" b="0">
                          <a:solidFill>
                            <a:srgbClr val="252C3B"/>
                          </a:solidFill>
                          <a:latin typeface="Franklin Gothic Book"/>
                          <a:ea typeface="Franklin Gothic Book"/>
                          <a:cs typeface="Franklin Gothic Book"/>
                        </a:rPr>
                        <a:t>128.237</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r h="666750">
                <a:tc>
                  <a:txBody>
                    <a:bodyPr lIns="114300" tIns="114300" rIns="114300" bIns="114300"/>
                    <a:lstStyle/>
                    <a:p>
                      <a:r>
                        <a:rPr sz="2100" b="0">
                          <a:solidFill>
                            <a:srgbClr val="252C3B"/>
                          </a:solidFill>
                          <a:latin typeface="Franklin Gothic Book"/>
                          <a:ea typeface="Franklin Gothic Book"/>
                          <a:cs typeface="Franklin Gothic Book"/>
                        </a:rPr>
                        <a:t>Falsos negativos</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2.984</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100" b="0">
                          <a:solidFill>
                            <a:srgbClr val="252C3B"/>
                          </a:solidFill>
                          <a:latin typeface="Franklin Gothic Book"/>
                          <a:ea typeface="Franklin Gothic Book"/>
                          <a:cs typeface="Franklin Gothic Book"/>
                        </a:rPr>
                        <a:t>2.658</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bl>
          </a:graphicData>
        </a:graphic>
      </p:graphicFrame>
      <p:sp>
        <p:nvSpPr>
          <p:cNvPr id="5" name="texto-2">
            <a:extLst xmlns:a="http://schemas.openxmlformats.org/drawingml/2006/main">
              <a:ext uri="{FF2B5EF4-FFF2-40B4-BE49-F238E27FC236}">
                <a16:creationId xmlns:a16="http://schemas.microsoft.com/office/drawing/2014/main" id="{F7ADAA1E-0401-4A99-A27C-0453EF1A5920}"/>
              </a:ext>
            </a:extLst>
          </p:cNvPr>
          <p:cNvSpPr>
            <a:spLocks xmlns:a="http://schemas.openxmlformats.org/drawingml/2006/main" noGrp="1"/>
          </p:cNvSpPr>
          <p:nvPr/>
        </p:nvSpPr>
        <p:spPr>
          <a:xfrm xmlns:a="http://schemas.openxmlformats.org/drawingml/2006/main">
            <a:off x="962025" y="51911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325" b="1">
                <a:solidFill>
                  <a:srgbClr val="143393"/>
                </a:solidFill>
                <a:latin typeface="Franklin Gothic Medium"/>
                <a:ea typeface="Franklin Gothic Medium"/>
                <a:cs typeface="Franklin Gothic Medium"/>
              </a:defRPr>
            </a:defPPr>
            <a:lvl1pPr>
              <a:buNone/>
              <a:defRPr sz="2325" b="1">
                <a:solidFill>
                  <a:srgbClr val="143393"/>
                </a:solidFill>
                <a:latin typeface="Franklin Gothic Medium"/>
                <a:ea typeface="Franklin Gothic Medium"/>
                <a:cs typeface="Franklin Gothic Medium"/>
              </a:defRPr>
            </a:lvl1pPr>
            <a:lvl2pPr>
              <a:buNone/>
              <a:defRPr sz="2325" b="1">
                <a:solidFill>
                  <a:srgbClr val="143393"/>
                </a:solidFill>
                <a:latin typeface="Franklin Gothic Medium"/>
                <a:ea typeface="Franklin Gothic Medium"/>
                <a:cs typeface="Franklin Gothic Medium"/>
              </a:defRPr>
            </a:lvl2pPr>
            <a:lvl3pPr>
              <a:buNone/>
              <a:defRPr sz="2325" b="1">
                <a:solidFill>
                  <a:srgbClr val="143393"/>
                </a:solidFill>
                <a:latin typeface="Franklin Gothic Medium"/>
                <a:ea typeface="Franklin Gothic Medium"/>
                <a:cs typeface="Franklin Gothic Medium"/>
              </a:defRPr>
            </a:lvl3pPr>
            <a:lvl4pPr>
              <a:buNone/>
              <a:defRPr sz="2325" b="1">
                <a:solidFill>
                  <a:srgbClr val="143393"/>
                </a:solidFill>
                <a:latin typeface="Franklin Gothic Medium"/>
                <a:ea typeface="Franklin Gothic Medium"/>
                <a:cs typeface="Franklin Gothic Medium"/>
              </a:defRPr>
            </a:lvl4pPr>
            <a:lvl5pPr>
              <a:buNone/>
              <a:defRPr sz="2325" b="1">
                <a:solidFill>
                  <a:srgbClr val="143393"/>
                </a:solidFill>
                <a:latin typeface="Franklin Gothic Medium"/>
                <a:ea typeface="Franklin Gothic Medium"/>
                <a:cs typeface="Franklin Gothic Medium"/>
              </a:defRPr>
            </a:lvl5pPr>
            <a:lvl6pPr>
              <a:buNone/>
              <a:defRPr sz="2325" b="1">
                <a:solidFill>
                  <a:srgbClr val="143393"/>
                </a:solidFill>
                <a:latin typeface="Franklin Gothic Medium"/>
                <a:ea typeface="Franklin Gothic Medium"/>
                <a:cs typeface="Franklin Gothic Medium"/>
              </a:defRPr>
            </a:lvl6pPr>
            <a:lvl7pPr>
              <a:buNone/>
              <a:defRPr sz="2325" b="1">
                <a:solidFill>
                  <a:srgbClr val="143393"/>
                </a:solidFill>
                <a:latin typeface="Franklin Gothic Medium"/>
                <a:ea typeface="Franklin Gothic Medium"/>
                <a:cs typeface="Franklin Gothic Medium"/>
              </a:defRPr>
            </a:lvl7pPr>
            <a:lvl8pPr>
              <a:buNone/>
              <a:defRPr sz="2325" b="1">
                <a:solidFill>
                  <a:srgbClr val="143393"/>
                </a:solidFill>
                <a:latin typeface="Franklin Gothic Medium"/>
                <a:ea typeface="Franklin Gothic Medium"/>
                <a:cs typeface="Franklin Gothic Medium"/>
              </a:defRPr>
            </a:lvl8pPr>
            <a:lvl9pPr>
              <a:buNone/>
              <a:defRPr sz="2325" b="1">
                <a:solidFill>
                  <a:srgbClr val="143393"/>
                </a:solidFill>
                <a:latin typeface="Franklin Gothic Medium"/>
                <a:ea typeface="Franklin Gothic Medium"/>
                <a:cs typeface="Franklin Gothic Medium"/>
              </a:defRPr>
            </a:lvl9pPr>
          </a:lstStyle>
          <a:p xmlns:a="http://schemas.openxmlformats.org/drawingml/2006/main">
            <a:pPr>
              <a:buNone/>
              <a:defRPr sz="2325" b="1">
                <a:solidFill>
                  <a:srgbClr val="143393"/>
                </a:solidFill>
                <a:latin typeface="Franklin Gothic Medium"/>
                <a:ea typeface="Franklin Gothic Medium"/>
                <a:cs typeface="Franklin Gothic Medium"/>
              </a:defRPr>
            </a:pPr>
            <a:r>
              <a:rPr sz="2325" b="1">
                <a:solidFill>
                  <a:srgbClr val="143393"/>
                </a:solidFill>
                <a:latin typeface="Franklin Gothic Medium"/>
                <a:ea typeface="Franklin Gothic Medium"/>
                <a:cs typeface="Franklin Gothic Medium"/>
              </a:rPr>
              <a:t>Hernia: ambos modelos detectan solo 1 de sus 42 positivos.</a:t>
            </a:r>
          </a:p>
        </p:txBody>
      </p:sp>
      <p:sp>
        <p:nvSpPr>
          <p:cNvPr id="6" name="texto-3">
            <a:extLst xmlns:a="http://schemas.openxmlformats.org/drawingml/2006/main">
              <a:ext uri="{FF2B5EF4-FFF2-40B4-BE49-F238E27FC236}">
                <a16:creationId xmlns:a16="http://schemas.microsoft.com/office/drawing/2014/main" id="{94F9DBD9-1B43-4817-9BC1-5C7C1DF05E14}"/>
              </a:ext>
            </a:extLst>
          </p:cNvPr>
          <p:cNvSpPr>
            <a:spLocks xmlns:a="http://schemas.openxmlformats.org/drawingml/2006/main" noGrp="1"/>
          </p:cNvSpPr>
          <p:nvPr/>
        </p:nvSpPr>
        <p:spPr>
          <a:xfrm xmlns:a="http://schemas.openxmlformats.org/drawingml/2006/main">
            <a:off x="962025" y="5953125"/>
            <a:ext cx="10287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025" b="0">
                <a:solidFill>
                  <a:srgbClr val="252C3B"/>
                </a:solidFill>
                <a:latin typeface="Franklin Gothic Book"/>
                <a:ea typeface="Franklin Gothic Book"/>
                <a:cs typeface="Franklin Gothic Book"/>
              </a:defRPr>
            </a:defPPr>
            <a:lvl1pPr>
              <a:buNone/>
              <a:defRPr sz="2025" b="0">
                <a:solidFill>
                  <a:srgbClr val="252C3B"/>
                </a:solidFill>
                <a:latin typeface="Franklin Gothic Book"/>
                <a:ea typeface="Franklin Gothic Book"/>
                <a:cs typeface="Franklin Gothic Book"/>
              </a:defRPr>
            </a:lvl1pPr>
            <a:lvl2pPr>
              <a:buNone/>
              <a:defRPr sz="2025" b="0">
                <a:solidFill>
                  <a:srgbClr val="252C3B"/>
                </a:solidFill>
                <a:latin typeface="Franklin Gothic Book"/>
                <a:ea typeface="Franklin Gothic Book"/>
                <a:cs typeface="Franklin Gothic Book"/>
              </a:defRPr>
            </a:lvl2pPr>
            <a:lvl3pPr>
              <a:buNone/>
              <a:defRPr sz="2025" b="0">
                <a:solidFill>
                  <a:srgbClr val="252C3B"/>
                </a:solidFill>
                <a:latin typeface="Franklin Gothic Book"/>
                <a:ea typeface="Franklin Gothic Book"/>
                <a:cs typeface="Franklin Gothic Book"/>
              </a:defRPr>
            </a:lvl3pPr>
            <a:lvl4pPr>
              <a:buNone/>
              <a:defRPr sz="2025" b="0">
                <a:solidFill>
                  <a:srgbClr val="252C3B"/>
                </a:solidFill>
                <a:latin typeface="Franklin Gothic Book"/>
                <a:ea typeface="Franklin Gothic Book"/>
                <a:cs typeface="Franklin Gothic Book"/>
              </a:defRPr>
            </a:lvl4pPr>
            <a:lvl5pPr>
              <a:buNone/>
              <a:defRPr sz="2025" b="0">
                <a:solidFill>
                  <a:srgbClr val="252C3B"/>
                </a:solidFill>
                <a:latin typeface="Franklin Gothic Book"/>
                <a:ea typeface="Franklin Gothic Book"/>
                <a:cs typeface="Franklin Gothic Book"/>
              </a:defRPr>
            </a:lvl5pPr>
            <a:lvl6pPr>
              <a:buNone/>
              <a:defRPr sz="2025" b="0">
                <a:solidFill>
                  <a:srgbClr val="252C3B"/>
                </a:solidFill>
                <a:latin typeface="Franklin Gothic Book"/>
                <a:ea typeface="Franklin Gothic Book"/>
                <a:cs typeface="Franklin Gothic Book"/>
              </a:defRPr>
            </a:lvl6pPr>
            <a:lvl7pPr>
              <a:buNone/>
              <a:defRPr sz="2025" b="0">
                <a:solidFill>
                  <a:srgbClr val="252C3B"/>
                </a:solidFill>
                <a:latin typeface="Franklin Gothic Book"/>
                <a:ea typeface="Franklin Gothic Book"/>
                <a:cs typeface="Franklin Gothic Book"/>
              </a:defRPr>
            </a:lvl7pPr>
            <a:lvl8pPr>
              <a:buNone/>
              <a:defRPr sz="2025" b="0">
                <a:solidFill>
                  <a:srgbClr val="252C3B"/>
                </a:solidFill>
                <a:latin typeface="Franklin Gothic Book"/>
                <a:ea typeface="Franklin Gothic Book"/>
                <a:cs typeface="Franklin Gothic Book"/>
              </a:defRPr>
            </a:lvl8pPr>
            <a:lvl9pPr>
              <a:buNone/>
              <a:defRPr sz="2025" b="0">
                <a:solidFill>
                  <a:srgbClr val="252C3B"/>
                </a:solidFill>
                <a:latin typeface="Franklin Gothic Book"/>
                <a:ea typeface="Franklin Gothic Book"/>
                <a:cs typeface="Franklin Gothic Book"/>
              </a:defRPr>
            </a:lvl9pPr>
          </a:lstStyle>
          <a:p xmlns:a="http://schemas.openxmlformats.org/drawingml/2006/main">
            <a:pPr>
              <a:buNone/>
              <a:defRPr sz="2025" b="0">
                <a:solidFill>
                  <a:srgbClr val="252C3B"/>
                </a:solidFill>
                <a:latin typeface="Franklin Gothic Book"/>
                <a:ea typeface="Franklin Gothic Book"/>
                <a:cs typeface="Franklin Gothic Book"/>
              </a:defRPr>
            </a:pPr>
            <a:r>
              <a:rPr sz="2025" b="0">
                <a:solidFill>
                  <a:srgbClr val="252C3B"/>
                </a:solidFill>
                <a:latin typeface="Franklin Gothic Book"/>
                <a:ea typeface="Franklin Gothic Book"/>
                <a:cs typeface="Franklin Gothic Book"/>
              </a:rPr>
              <a:t>Los conteos corresponden a decisiones por etiqueta, no a pacientes.</a:t>
            </a:r>
          </a:p>
        </p:txBody>
      </p:sp>
    </p:spTree>
    <p:extLst>
      <p:ext uri="{BB962C8B-B14F-4D97-AF65-F5344CB8AC3E}">
        <p14:creationId xmlns:p14="http://schemas.microsoft.com/office/powerpoint/2010/main" val="4038712202"/>
      </p:ext>
    </p:extLst>
  </p:cSld>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4cd6dfabd47a4983">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6. DESPLIEGUE ACADÉMICO</a:t>
            </a:r>
          </a:p>
        </p:txBody>
      </p:sp>
      <p:sp>
        <p:nvSpPr>
          <p:cNvPr id="3" name="texto-1">
            <a:extLst xmlns:a="http://schemas.openxmlformats.org/drawingml/2006/main">
              <a:ext uri="{FF2B5EF4-FFF2-40B4-BE49-F238E27FC236}">
                <a16:creationId xmlns:a16="http://schemas.microsoft.com/office/drawing/2014/main" id="{D16DC9E9-F156-4563-9B0D-649230976F0F}"/>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Guardado y comprobación de predicciones</a:t>
            </a:r>
          </a:p>
        </p:txBody>
      </p:sp>
      <p:graphicFrame>
        <p:nvGraphicFramePr>
          <p:cNvPr id="4" name="">
            <a:extLst xmlns:a="http://schemas.openxmlformats.org/drawingml/2006/main">
              <a:ext uri="{FF2B5EF4-FFF2-40B4-BE49-F238E27FC236}">
                <a16:creationId xmlns:a16="http://schemas.microsoft.com/office/drawing/2014/main" id="{7C3BE494-148F-4CAD-9D2B-2E820E378D3D}"/>
              </a:ext>
            </a:extLst>
          </p:cNvPr>
          <p:cNvGraphicFramePr/>
          <p:nvPr/>
        </p:nvGraphicFramePr>
        <p:xfrm>
          <a:off xmlns:a="http://schemas.openxmlformats.org/drawingml/2006/main" x="962025" y="2143125"/>
          <a:ext xmlns:a="http://schemas.openxmlformats.org/drawingml/2006/main" cx="10287000" cy="2381250"/>
        </p:xfrm>
        <a:graphic xmlns:a="http://schemas.openxmlformats.org/drawingml/2006/main">
          <a:graphicData uri="http://schemas.openxmlformats.org/drawingml/2006/table">
            <a:tbl>
              <a:tblPr/>
              <a:tblGrid>
                <a:gridCol w="2476500"/>
                <a:gridCol w="2762250"/>
                <a:gridCol w="5048250"/>
              </a:tblGrid>
              <a:tr h="793750">
                <a:tc>
                  <a:txBody>
                    <a:bodyPr lIns="114300" tIns="114300" rIns="114300" bIns="114300"/>
                    <a:lstStyle/>
                    <a:p>
                      <a:r>
                        <a:rPr sz="2025" b="1">
                          <a:solidFill>
                            <a:srgbClr val="FFFFFF"/>
                          </a:solidFill>
                          <a:latin typeface="Franklin Gothic Book"/>
                          <a:ea typeface="Franklin Gothic Book"/>
                          <a:cs typeface="Franklin Gothic Book"/>
                        </a:rPr>
                        <a:t>Proyecto</a:t>
                      </a:r>
                    </a:p>
                  </a:txBody>
                  <a:tcPr marL="91440" marR="91440" marT="45720" marB="45720" anchor="ctr">
                    <a:lnL w="9525">
                      <a:solidFill>
                        <a:srgbClr val="D8E1EF"/>
                      </a:solidFill>
                      <a:prstDash val="solid"/>
                    </a:lnL>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025" b="1">
                          <a:solidFill>
                            <a:srgbClr val="FFFFFF"/>
                          </a:solidFill>
                          <a:latin typeface="Franklin Gothic Book"/>
                          <a:ea typeface="Franklin Gothic Book"/>
                          <a:cs typeface="Franklin Gothic Book"/>
                        </a:rPr>
                        <a:t>Archivo</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c>
                  <a:txBody>
                    <a:bodyPr lIns="114300" tIns="114300" rIns="114300" bIns="114300"/>
                    <a:lstStyle/>
                    <a:p>
                      <a:r>
                        <a:rPr sz="2025" b="1">
                          <a:solidFill>
                            <a:srgbClr val="FFFFFF"/>
                          </a:solidFill>
                          <a:latin typeface="Franklin Gothic Book"/>
                          <a:ea typeface="Franklin Gothic Book"/>
                          <a:cs typeface="Franklin Gothic Book"/>
                        </a:rPr>
                        <a:t>Información conservada</a:t>
                      </a:r>
                    </a:p>
                  </a:txBody>
                  <a:tcPr marL="91440" marR="91440" marT="45720" marB="45720" anchor="ctr">
                    <a:lnR w="9525">
                      <a:solidFill>
                        <a:srgbClr val="D8E1EF"/>
                      </a:solidFill>
                      <a:prstDash val="solid"/>
                    </a:lnR>
                    <a:lnT w="9525">
                      <a:solidFill>
                        <a:srgbClr val="D8E1EF"/>
                      </a:solidFill>
                      <a:prstDash val="solid"/>
                    </a:lnT>
                    <a:lnB w="9525">
                      <a:solidFill>
                        <a:srgbClr val="D8E1EF"/>
                      </a:solidFill>
                      <a:prstDash val="solid"/>
                    </a:lnB>
                    <a:solidFill>
                      <a:srgbClr val="143393"/>
                    </a:solidFill>
                  </a:tcPr>
                </a:tc>
              </a:tr>
              <a:tr h="793750">
                <a:tc>
                  <a:txBody>
                    <a:bodyPr lIns="114300" tIns="114300" rIns="114300" bIns="114300"/>
                    <a:lstStyle/>
                    <a:p>
                      <a:r>
                        <a:rPr sz="2025" b="0">
                          <a:solidFill>
                            <a:srgbClr val="252C3B"/>
                          </a:solidFill>
                          <a:latin typeface="Franklin Gothic Book"/>
                          <a:ea typeface="Franklin Gothic Book"/>
                          <a:cs typeface="Franklin Gothic Book"/>
                        </a:rPr>
                        <a:t>RNA con HOG</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.joblib</a:t>
                      </a:r>
                    </a:p>
                  </a:txBody>
                  <a:tcPr marL="91440" marR="91440" marT="45720" marB="45720" anchor="ctr">
                    <a:lnR w="9525">
                      <a:solidFill>
                        <a:srgbClr val="D8E1EF"/>
                      </a:solidFill>
                      <a:prstDash val="solid"/>
                    </a:lnR>
                    <a:lnB w="9525">
                      <a:solidFill>
                        <a:srgbClr val="D8E1EF"/>
                      </a:solidFill>
                      <a:prstDash val="solid"/>
                    </a:lnB>
                    <a:solidFill>
                      <a:srgbClr val="F0F4FA"/>
                    </a:solidFill>
                  </a:tcPr>
                </a:tc>
                <a:tc>
                  <a:txBody>
                    <a:bodyPr lIns="114300" tIns="114300" rIns="114300" bIns="114300"/>
                    <a:lstStyle/>
                    <a:p>
                      <a:r>
                        <a:rPr sz="2025" b="0">
                          <a:solidFill>
                            <a:srgbClr val="252C3B"/>
                          </a:solidFill>
                          <a:latin typeface="Franklin Gothic Book"/>
                          <a:ea typeface="Franklin Gothic Book"/>
                          <a:cs typeface="Franklin Gothic Book"/>
                        </a:rPr>
                        <a:t>Modelo, HOG, etiquetas y umbrales</a:t>
                      </a:r>
                    </a:p>
                  </a:txBody>
                  <a:tcPr marL="91440" marR="91440" marT="45720" marB="45720" anchor="ctr">
                    <a:lnR w="9525">
                      <a:solidFill>
                        <a:srgbClr val="D8E1EF"/>
                      </a:solidFill>
                      <a:prstDash val="solid"/>
                    </a:lnR>
                    <a:lnB w="9525">
                      <a:solidFill>
                        <a:srgbClr val="D8E1EF"/>
                      </a:solidFill>
                      <a:prstDash val="solid"/>
                    </a:lnB>
                    <a:solidFill>
                      <a:srgbClr val="F0F4FA"/>
                    </a:solidFill>
                  </a:tcPr>
                </a:tc>
              </a:tr>
              <a:tr h="793750">
                <a:tc>
                  <a:txBody>
                    <a:bodyPr lIns="114300" tIns="114300" rIns="114300" bIns="114300"/>
                    <a:lstStyle/>
                    <a:p>
                      <a:r>
                        <a:rPr sz="2025" b="0">
                          <a:solidFill>
                            <a:srgbClr val="252C3B"/>
                          </a:solidFill>
                          <a:latin typeface="Franklin Gothic Book"/>
                          <a:ea typeface="Franklin Gothic Book"/>
                          <a:cs typeface="Franklin Gothic Book"/>
                        </a:rPr>
                        <a:t>CNN</a:t>
                      </a:r>
                    </a:p>
                  </a:txBody>
                  <a:tcPr marL="91440" marR="91440" marT="45720" marB="45720" anchor="ctr">
                    <a:lnL w="9525">
                      <a:solidFill>
                        <a:srgbClr val="D8E1EF"/>
                      </a:solidFill>
                      <a:prstDash val="solid"/>
                    </a:lnL>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025" b="0">
                          <a:solidFill>
                            <a:srgbClr val="252C3B"/>
                          </a:solidFill>
                          <a:latin typeface="Franklin Gothic Book"/>
                          <a:ea typeface="Franklin Gothic Book"/>
                          <a:cs typeface="Franklin Gothic Book"/>
                        </a:rPr>
                        <a:t>.keras y .json</a:t>
                      </a:r>
                    </a:p>
                  </a:txBody>
                  <a:tcPr marL="91440" marR="91440" marT="45720" marB="45720" anchor="ctr">
                    <a:lnR w="9525">
                      <a:solidFill>
                        <a:srgbClr val="D8E1EF"/>
                      </a:solidFill>
                      <a:prstDash val="solid"/>
                    </a:lnR>
                    <a:lnB w="9525">
                      <a:solidFill>
                        <a:srgbClr val="D8E1EF"/>
                      </a:solidFill>
                      <a:prstDash val="solid"/>
                    </a:lnB>
                    <a:solidFill>
                      <a:srgbClr val="FFFFFF"/>
                    </a:solidFill>
                  </a:tcPr>
                </a:tc>
                <a:tc>
                  <a:txBody>
                    <a:bodyPr lIns="114300" tIns="114300" rIns="114300" bIns="114300"/>
                    <a:lstStyle/>
                    <a:p>
                      <a:r>
                        <a:rPr sz="2025" b="0">
                          <a:solidFill>
                            <a:srgbClr val="252C3B"/>
                          </a:solidFill>
                          <a:latin typeface="Franklin Gothic Book"/>
                          <a:ea typeface="Franklin Gothic Book"/>
                          <a:cs typeface="Franklin Gothic Book"/>
                        </a:rPr>
                        <a:t>Modelo, etiquetas y umbrales</a:t>
                      </a:r>
                    </a:p>
                  </a:txBody>
                  <a:tcPr marL="91440" marR="91440" marT="45720" marB="45720" anchor="ctr">
                    <a:lnR w="9525">
                      <a:solidFill>
                        <a:srgbClr val="D8E1EF"/>
                      </a:solidFill>
                      <a:prstDash val="solid"/>
                    </a:lnR>
                    <a:lnB w="9525">
                      <a:solidFill>
                        <a:srgbClr val="D8E1EF"/>
                      </a:solidFill>
                      <a:prstDash val="solid"/>
                    </a:lnB>
                    <a:solidFill>
                      <a:srgbClr val="FFFFFF"/>
                    </a:solidFill>
                  </a:tcPr>
                </a:tc>
              </a:tr>
            </a:tbl>
          </a:graphicData>
        </a:graphic>
      </p:graphicFrame>
      <p:sp>
        <p:nvSpPr>
          <p:cNvPr id="5" name="texto-2">
            <a:extLst xmlns:a="http://schemas.openxmlformats.org/drawingml/2006/main">
              <a:ext uri="{FF2B5EF4-FFF2-40B4-BE49-F238E27FC236}">
                <a16:creationId xmlns:a16="http://schemas.microsoft.com/office/drawing/2014/main" id="{FD259E9C-B102-4385-8874-6EB0EDAFD03F}"/>
              </a:ext>
            </a:extLst>
          </p:cNvPr>
          <p:cNvSpPr>
            <a:spLocks xmlns:a="http://schemas.openxmlformats.org/drawingml/2006/main" noGrp="1"/>
          </p:cNvSpPr>
          <p:nvPr/>
        </p:nvSpPr>
        <p:spPr>
          <a:xfrm xmlns:a="http://schemas.openxmlformats.org/drawingml/2006/main">
            <a:off x="962025" y="49530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252C3B"/>
                </a:solidFill>
                <a:latin typeface="Franklin Gothic Book"/>
                <a:ea typeface="Franklin Gothic Book"/>
                <a:cs typeface="Franklin Gothic Book"/>
              </a:defRPr>
            </a:defPPr>
            <a:lvl1pPr>
              <a:buNone/>
              <a:defRPr sz="2250" b="0">
                <a:solidFill>
                  <a:srgbClr val="252C3B"/>
                </a:solidFill>
                <a:latin typeface="Franklin Gothic Book"/>
                <a:ea typeface="Franklin Gothic Book"/>
                <a:cs typeface="Franklin Gothic Book"/>
              </a:defRPr>
            </a:lvl1pPr>
            <a:lvl2pPr>
              <a:buNone/>
              <a:defRPr sz="2250" b="0">
                <a:solidFill>
                  <a:srgbClr val="252C3B"/>
                </a:solidFill>
                <a:latin typeface="Franklin Gothic Book"/>
                <a:ea typeface="Franklin Gothic Book"/>
                <a:cs typeface="Franklin Gothic Book"/>
              </a:defRPr>
            </a:lvl2pPr>
            <a:lvl3pPr>
              <a:buNone/>
              <a:defRPr sz="2250" b="0">
                <a:solidFill>
                  <a:srgbClr val="252C3B"/>
                </a:solidFill>
                <a:latin typeface="Franklin Gothic Book"/>
                <a:ea typeface="Franklin Gothic Book"/>
                <a:cs typeface="Franklin Gothic Book"/>
              </a:defRPr>
            </a:lvl3pPr>
            <a:lvl4pPr>
              <a:buNone/>
              <a:defRPr sz="2250" b="0">
                <a:solidFill>
                  <a:srgbClr val="252C3B"/>
                </a:solidFill>
                <a:latin typeface="Franklin Gothic Book"/>
                <a:ea typeface="Franklin Gothic Book"/>
                <a:cs typeface="Franklin Gothic Book"/>
              </a:defRPr>
            </a:lvl4pPr>
            <a:lvl5pPr>
              <a:buNone/>
              <a:defRPr sz="2250" b="0">
                <a:solidFill>
                  <a:srgbClr val="252C3B"/>
                </a:solidFill>
                <a:latin typeface="Franklin Gothic Book"/>
                <a:ea typeface="Franklin Gothic Book"/>
                <a:cs typeface="Franklin Gothic Book"/>
              </a:defRPr>
            </a:lvl5pPr>
            <a:lvl6pPr>
              <a:buNone/>
              <a:defRPr sz="2250" b="0">
                <a:solidFill>
                  <a:srgbClr val="252C3B"/>
                </a:solidFill>
                <a:latin typeface="Franklin Gothic Book"/>
                <a:ea typeface="Franklin Gothic Book"/>
                <a:cs typeface="Franklin Gothic Book"/>
              </a:defRPr>
            </a:lvl6pPr>
            <a:lvl7pPr>
              <a:buNone/>
              <a:defRPr sz="2250" b="0">
                <a:solidFill>
                  <a:srgbClr val="252C3B"/>
                </a:solidFill>
                <a:latin typeface="Franklin Gothic Book"/>
                <a:ea typeface="Franklin Gothic Book"/>
                <a:cs typeface="Franklin Gothic Book"/>
              </a:defRPr>
            </a:lvl7pPr>
            <a:lvl8pPr>
              <a:buNone/>
              <a:defRPr sz="2250" b="0">
                <a:solidFill>
                  <a:srgbClr val="252C3B"/>
                </a:solidFill>
                <a:latin typeface="Franklin Gothic Book"/>
                <a:ea typeface="Franklin Gothic Book"/>
                <a:cs typeface="Franklin Gothic Book"/>
              </a:defRPr>
            </a:lvl8pPr>
            <a:lvl9pPr>
              <a:buNone/>
              <a:defRPr sz="2250" b="0">
                <a:solidFill>
                  <a:srgbClr val="252C3B"/>
                </a:solidFill>
                <a:latin typeface="Franklin Gothic Book"/>
                <a:ea typeface="Franklin Gothic Book"/>
                <a:cs typeface="Franklin Gothic Book"/>
              </a:defRPr>
            </a:lvl9pPr>
          </a:lstStyle>
          <a:p xmlns:a="http://schemas.openxmlformats.org/drawingml/2006/main">
            <a:pPr>
              <a:buNone/>
              <a:defRPr sz="2250" b="0">
                <a:solidFill>
                  <a:srgbClr val="252C3B"/>
                </a:solidFill>
                <a:latin typeface="Franklin Gothic Book"/>
                <a:ea typeface="Franklin Gothic Book"/>
                <a:cs typeface="Franklin Gothic Book"/>
              </a:defRPr>
            </a:pPr>
            <a:r>
              <a:rPr sz="2250" b="0">
                <a:solidFill>
                  <a:srgbClr val="252C3B"/>
                </a:solidFill>
                <a:latin typeface="Franklin Gothic Book"/>
                <a:ea typeface="Franklin Gothic Book"/>
                <a:cs typeface="Franklin Gothic Book"/>
              </a:rPr>
              <a:t>La recarga reproduce las probabilidades de control.</a:t>
            </a:r>
          </a:p>
        </p:txBody>
      </p:sp>
      <p:sp>
        <p:nvSpPr>
          <p:cNvPr id="6" name="texto-3">
            <a:extLst xmlns:a="http://schemas.openxmlformats.org/drawingml/2006/main">
              <a:ext uri="{FF2B5EF4-FFF2-40B4-BE49-F238E27FC236}">
                <a16:creationId xmlns:a16="http://schemas.microsoft.com/office/drawing/2014/main" id="{827D8360-4DA1-4DBE-88FE-8A83C673ED98}"/>
              </a:ext>
            </a:extLst>
          </p:cNvPr>
          <p:cNvSpPr>
            <a:spLocks xmlns:a="http://schemas.openxmlformats.org/drawingml/2006/main" noGrp="1"/>
          </p:cNvSpPr>
          <p:nvPr/>
        </p:nvSpPr>
        <p:spPr>
          <a:xfrm xmlns:a="http://schemas.openxmlformats.org/drawingml/2006/main">
            <a:off x="962025" y="5715000"/>
            <a:ext cx="10287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250" b="0">
                <a:solidFill>
                  <a:srgbClr val="252C3B"/>
                </a:solidFill>
                <a:latin typeface="Franklin Gothic Book"/>
                <a:ea typeface="Franklin Gothic Book"/>
                <a:cs typeface="Franklin Gothic Book"/>
              </a:defRPr>
            </a:defPPr>
            <a:lvl1pPr>
              <a:buNone/>
              <a:defRPr sz="2250" b="0">
                <a:solidFill>
                  <a:srgbClr val="252C3B"/>
                </a:solidFill>
                <a:latin typeface="Franklin Gothic Book"/>
                <a:ea typeface="Franklin Gothic Book"/>
                <a:cs typeface="Franklin Gothic Book"/>
              </a:defRPr>
            </a:lvl1pPr>
            <a:lvl2pPr>
              <a:buNone/>
              <a:defRPr sz="2250" b="0">
                <a:solidFill>
                  <a:srgbClr val="252C3B"/>
                </a:solidFill>
                <a:latin typeface="Franklin Gothic Book"/>
                <a:ea typeface="Franklin Gothic Book"/>
                <a:cs typeface="Franklin Gothic Book"/>
              </a:defRPr>
            </a:lvl2pPr>
            <a:lvl3pPr>
              <a:buNone/>
              <a:defRPr sz="2250" b="0">
                <a:solidFill>
                  <a:srgbClr val="252C3B"/>
                </a:solidFill>
                <a:latin typeface="Franklin Gothic Book"/>
                <a:ea typeface="Franklin Gothic Book"/>
                <a:cs typeface="Franklin Gothic Book"/>
              </a:defRPr>
            </a:lvl3pPr>
            <a:lvl4pPr>
              <a:buNone/>
              <a:defRPr sz="2250" b="0">
                <a:solidFill>
                  <a:srgbClr val="252C3B"/>
                </a:solidFill>
                <a:latin typeface="Franklin Gothic Book"/>
                <a:ea typeface="Franklin Gothic Book"/>
                <a:cs typeface="Franklin Gothic Book"/>
              </a:defRPr>
            </a:lvl4pPr>
            <a:lvl5pPr>
              <a:buNone/>
              <a:defRPr sz="2250" b="0">
                <a:solidFill>
                  <a:srgbClr val="252C3B"/>
                </a:solidFill>
                <a:latin typeface="Franklin Gothic Book"/>
                <a:ea typeface="Franklin Gothic Book"/>
                <a:cs typeface="Franklin Gothic Book"/>
              </a:defRPr>
            </a:lvl5pPr>
            <a:lvl6pPr>
              <a:buNone/>
              <a:defRPr sz="2250" b="0">
                <a:solidFill>
                  <a:srgbClr val="252C3B"/>
                </a:solidFill>
                <a:latin typeface="Franklin Gothic Book"/>
                <a:ea typeface="Franklin Gothic Book"/>
                <a:cs typeface="Franklin Gothic Book"/>
              </a:defRPr>
            </a:lvl6pPr>
            <a:lvl7pPr>
              <a:buNone/>
              <a:defRPr sz="2250" b="0">
                <a:solidFill>
                  <a:srgbClr val="252C3B"/>
                </a:solidFill>
                <a:latin typeface="Franklin Gothic Book"/>
                <a:ea typeface="Franklin Gothic Book"/>
                <a:cs typeface="Franklin Gothic Book"/>
              </a:defRPr>
            </a:lvl7pPr>
            <a:lvl8pPr>
              <a:buNone/>
              <a:defRPr sz="2250" b="0">
                <a:solidFill>
                  <a:srgbClr val="252C3B"/>
                </a:solidFill>
                <a:latin typeface="Franklin Gothic Book"/>
                <a:ea typeface="Franklin Gothic Book"/>
                <a:cs typeface="Franklin Gothic Book"/>
              </a:defRPr>
            </a:lvl8pPr>
            <a:lvl9pPr>
              <a:buNone/>
              <a:defRPr sz="2250" b="0">
                <a:solidFill>
                  <a:srgbClr val="252C3B"/>
                </a:solidFill>
                <a:latin typeface="Franklin Gothic Book"/>
                <a:ea typeface="Franklin Gothic Book"/>
                <a:cs typeface="Franklin Gothic Book"/>
              </a:defRPr>
            </a:lvl9pPr>
          </a:lstStyle>
          <a:p xmlns:a="http://schemas.openxmlformats.org/drawingml/2006/main">
            <a:pPr>
              <a:buNone/>
              <a:defRPr sz="2250" b="0">
                <a:solidFill>
                  <a:srgbClr val="252C3B"/>
                </a:solidFill>
                <a:latin typeface="Franklin Gothic Book"/>
                <a:ea typeface="Franklin Gothic Book"/>
                <a:cs typeface="Franklin Gothic Book"/>
              </a:defRPr>
            </a:pPr>
            <a:r>
              <a:rPr sz="2250" b="0">
                <a:solidFill>
                  <a:srgbClr val="252C3B"/>
                </a:solidFill>
                <a:latin typeface="Franklin Gothic Book"/>
                <a:ea typeface="Franklin Gothic Book"/>
                <a:cs typeface="Franklin Gothic Book"/>
              </a:rPr>
              <a:t>La demostración utiliza una imagen del conjunto de prueba.</a:t>
            </a:r>
          </a:p>
        </p:txBody>
      </p:sp>
    </p:spTree>
    <p:extLst>
      <p:ext uri="{BB962C8B-B14F-4D97-AF65-F5344CB8AC3E}">
        <p14:creationId xmlns:p14="http://schemas.microsoft.com/office/powerpoint/2010/main" val="4038712202"/>
      </p:ext>
    </p:extLst>
  </p:cSld>
</p:sld>
</file>

<file path=ppt/slides/slide21.xml><?xml version="1.0" encoding="utf-8"?>
<p:sld xmlns:p="http://schemas.openxmlformats.org/presentationml/2006/main">
  <p:cSld>
    <p:bg>
      <p:bgPr>
        <a:blipFill xmlns:a="http://schemas.openxmlformats.org/drawingml/2006/main" rotWithShape="1">
          <a:blip xmlns:r="http://schemas.openxmlformats.org/officeDocument/2006/relationships" r:embed="R501bf3feea9c4a64">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6. CONCLUSIONES</a:t>
            </a:r>
          </a:p>
        </p:txBody>
      </p:sp>
      <p:sp>
        <p:nvSpPr>
          <p:cNvPr id="3" name="texto-1">
            <a:extLst xmlns:a="http://schemas.openxmlformats.org/drawingml/2006/main">
              <a:ext uri="{FF2B5EF4-FFF2-40B4-BE49-F238E27FC236}">
                <a16:creationId xmlns:a16="http://schemas.microsoft.com/office/drawing/2014/main" id="{C6503388-D22B-4E0A-867A-F16F1F718D25}"/>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Resultados y límites de la comparación</a:t>
            </a:r>
          </a:p>
        </p:txBody>
      </p:sp>
      <p:sp>
        <p:nvSpPr>
          <p:cNvPr id="4" name="texto-2">
            <a:extLst xmlns:a="http://schemas.openxmlformats.org/drawingml/2006/main">
              <a:ext uri="{FF2B5EF4-FFF2-40B4-BE49-F238E27FC236}">
                <a16:creationId xmlns:a16="http://schemas.microsoft.com/office/drawing/2014/main" id="{5769CBE7-D144-465E-B6BC-3DA8334050D1}"/>
              </a:ext>
            </a:extLst>
          </p:cNvPr>
          <p:cNvSpPr>
            <a:spLocks xmlns:a="http://schemas.openxmlformats.org/drawingml/2006/main" noGrp="1"/>
          </p:cNvSpPr>
          <p:nvPr/>
        </p:nvSpPr>
        <p:spPr>
          <a:xfrm xmlns:a="http://schemas.openxmlformats.org/drawingml/2006/main">
            <a:off x="962025" y="2238375"/>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52C3B"/>
                </a:solidFill>
                <a:latin typeface="Franklin Gothic Book"/>
                <a:ea typeface="Franklin Gothic Book"/>
                <a:cs typeface="Franklin Gothic Book"/>
              </a:defRPr>
            </a:defPPr>
            <a:lvl1pPr>
              <a:buNone/>
              <a:defRPr sz="2100" b="0">
                <a:solidFill>
                  <a:srgbClr val="252C3B"/>
                </a:solidFill>
                <a:latin typeface="Franklin Gothic Book"/>
                <a:ea typeface="Franklin Gothic Book"/>
                <a:cs typeface="Franklin Gothic Book"/>
              </a:defRPr>
            </a:lvl1pPr>
            <a:lvl2pPr>
              <a:buNone/>
              <a:defRPr sz="2100" b="0">
                <a:solidFill>
                  <a:srgbClr val="252C3B"/>
                </a:solidFill>
                <a:latin typeface="Franklin Gothic Book"/>
                <a:ea typeface="Franklin Gothic Book"/>
                <a:cs typeface="Franklin Gothic Book"/>
              </a:defRPr>
            </a:lvl2pPr>
            <a:lvl3pPr>
              <a:buNone/>
              <a:defRPr sz="2100" b="0">
                <a:solidFill>
                  <a:srgbClr val="252C3B"/>
                </a:solidFill>
                <a:latin typeface="Franklin Gothic Book"/>
                <a:ea typeface="Franklin Gothic Book"/>
                <a:cs typeface="Franklin Gothic Book"/>
              </a:defRPr>
            </a:lvl3pPr>
            <a:lvl4pPr>
              <a:buNone/>
              <a:defRPr sz="2100" b="0">
                <a:solidFill>
                  <a:srgbClr val="252C3B"/>
                </a:solidFill>
                <a:latin typeface="Franklin Gothic Book"/>
                <a:ea typeface="Franklin Gothic Book"/>
                <a:cs typeface="Franklin Gothic Book"/>
              </a:defRPr>
            </a:lvl4pPr>
            <a:lvl5pPr>
              <a:buNone/>
              <a:defRPr sz="2100" b="0">
                <a:solidFill>
                  <a:srgbClr val="252C3B"/>
                </a:solidFill>
                <a:latin typeface="Franklin Gothic Book"/>
                <a:ea typeface="Franklin Gothic Book"/>
                <a:cs typeface="Franklin Gothic Book"/>
              </a:defRPr>
            </a:lvl5pPr>
            <a:lvl6pPr>
              <a:buNone/>
              <a:defRPr sz="2100" b="0">
                <a:solidFill>
                  <a:srgbClr val="252C3B"/>
                </a:solidFill>
                <a:latin typeface="Franklin Gothic Book"/>
                <a:ea typeface="Franklin Gothic Book"/>
                <a:cs typeface="Franklin Gothic Book"/>
              </a:defRPr>
            </a:lvl6pPr>
            <a:lvl7pPr>
              <a:buNone/>
              <a:defRPr sz="2100" b="0">
                <a:solidFill>
                  <a:srgbClr val="252C3B"/>
                </a:solidFill>
                <a:latin typeface="Franklin Gothic Book"/>
                <a:ea typeface="Franklin Gothic Book"/>
                <a:cs typeface="Franklin Gothic Book"/>
              </a:defRPr>
            </a:lvl7pPr>
            <a:lvl8pPr>
              <a:buNone/>
              <a:defRPr sz="2100" b="0">
                <a:solidFill>
                  <a:srgbClr val="252C3B"/>
                </a:solidFill>
                <a:latin typeface="Franklin Gothic Book"/>
                <a:ea typeface="Franklin Gothic Book"/>
                <a:cs typeface="Franklin Gothic Book"/>
              </a:defRPr>
            </a:lvl8pPr>
            <a:lvl9pPr>
              <a:buNone/>
              <a:defRPr sz="2100" b="0">
                <a:solidFill>
                  <a:srgbClr val="252C3B"/>
                </a:solidFill>
                <a:latin typeface="Franklin Gothic Book"/>
                <a:ea typeface="Franklin Gothic Book"/>
                <a:cs typeface="Franklin Gothic Book"/>
              </a:defRPr>
            </a:lvl9pPr>
          </a:lstStyle>
          <a:p xmlns:a="http://schemas.openxmlformats.org/drawingml/2006/main">
            <a:pPr>
              <a:buNone/>
              <a:defRPr sz="2100" b="0">
                <a:solidFill>
                  <a:srgbClr val="252C3B"/>
                </a:solidFill>
                <a:latin typeface="Franklin Gothic Book"/>
                <a:ea typeface="Franklin Gothic Book"/>
                <a:cs typeface="Franklin Gothic Book"/>
              </a:defRPr>
            </a:pPr>
            <a:r>
              <a:rPr sz="2100" b="0">
                <a:solidFill>
                  <a:srgbClr val="252C3B"/>
                </a:solidFill>
                <a:latin typeface="Franklin Gothic Book"/>
                <a:ea typeface="Franklin Gothic Book"/>
                <a:cs typeface="Franklin Gothic Book"/>
              </a:rPr>
              <a:t>La VGG compacta seleccionada supera a la RNA evaluada en AUC macro y F1 con umbrales ajustados.</a:t>
            </a:r>
          </a:p>
        </p:txBody>
      </p:sp>
      <p:sp>
        <p:nvSpPr>
          <p:cNvPr id="5" name="texto-3">
            <a:extLst xmlns:a="http://schemas.openxmlformats.org/drawingml/2006/main">
              <a:ext uri="{FF2B5EF4-FFF2-40B4-BE49-F238E27FC236}">
                <a16:creationId xmlns:a16="http://schemas.microsoft.com/office/drawing/2014/main" id="{1ACA3135-C739-45B0-BF69-8CF18526603D}"/>
              </a:ext>
            </a:extLst>
          </p:cNvPr>
          <p:cNvSpPr>
            <a:spLocks xmlns:a="http://schemas.openxmlformats.org/drawingml/2006/main" noGrp="1"/>
          </p:cNvSpPr>
          <p:nvPr/>
        </p:nvSpPr>
        <p:spPr>
          <a:xfrm xmlns:a="http://schemas.openxmlformats.org/drawingml/2006/main">
            <a:off x="962025" y="3209925"/>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52C3B"/>
                </a:solidFill>
                <a:latin typeface="Franklin Gothic Book"/>
                <a:ea typeface="Franklin Gothic Book"/>
                <a:cs typeface="Franklin Gothic Book"/>
              </a:defRPr>
            </a:defPPr>
            <a:lvl1pPr>
              <a:buNone/>
              <a:defRPr sz="2100" b="0">
                <a:solidFill>
                  <a:srgbClr val="252C3B"/>
                </a:solidFill>
                <a:latin typeface="Franklin Gothic Book"/>
                <a:ea typeface="Franklin Gothic Book"/>
                <a:cs typeface="Franklin Gothic Book"/>
              </a:defRPr>
            </a:lvl1pPr>
            <a:lvl2pPr>
              <a:buNone/>
              <a:defRPr sz="2100" b="0">
                <a:solidFill>
                  <a:srgbClr val="252C3B"/>
                </a:solidFill>
                <a:latin typeface="Franklin Gothic Book"/>
                <a:ea typeface="Franklin Gothic Book"/>
                <a:cs typeface="Franklin Gothic Book"/>
              </a:defRPr>
            </a:lvl2pPr>
            <a:lvl3pPr>
              <a:buNone/>
              <a:defRPr sz="2100" b="0">
                <a:solidFill>
                  <a:srgbClr val="252C3B"/>
                </a:solidFill>
                <a:latin typeface="Franklin Gothic Book"/>
                <a:ea typeface="Franklin Gothic Book"/>
                <a:cs typeface="Franklin Gothic Book"/>
              </a:defRPr>
            </a:lvl3pPr>
            <a:lvl4pPr>
              <a:buNone/>
              <a:defRPr sz="2100" b="0">
                <a:solidFill>
                  <a:srgbClr val="252C3B"/>
                </a:solidFill>
                <a:latin typeface="Franklin Gothic Book"/>
                <a:ea typeface="Franklin Gothic Book"/>
                <a:cs typeface="Franklin Gothic Book"/>
              </a:defRPr>
            </a:lvl4pPr>
            <a:lvl5pPr>
              <a:buNone/>
              <a:defRPr sz="2100" b="0">
                <a:solidFill>
                  <a:srgbClr val="252C3B"/>
                </a:solidFill>
                <a:latin typeface="Franklin Gothic Book"/>
                <a:ea typeface="Franklin Gothic Book"/>
                <a:cs typeface="Franklin Gothic Book"/>
              </a:defRPr>
            </a:lvl5pPr>
            <a:lvl6pPr>
              <a:buNone/>
              <a:defRPr sz="2100" b="0">
                <a:solidFill>
                  <a:srgbClr val="252C3B"/>
                </a:solidFill>
                <a:latin typeface="Franklin Gothic Book"/>
                <a:ea typeface="Franklin Gothic Book"/>
                <a:cs typeface="Franklin Gothic Book"/>
              </a:defRPr>
            </a:lvl6pPr>
            <a:lvl7pPr>
              <a:buNone/>
              <a:defRPr sz="2100" b="0">
                <a:solidFill>
                  <a:srgbClr val="252C3B"/>
                </a:solidFill>
                <a:latin typeface="Franklin Gothic Book"/>
                <a:ea typeface="Franklin Gothic Book"/>
                <a:cs typeface="Franklin Gothic Book"/>
              </a:defRPr>
            </a:lvl7pPr>
            <a:lvl8pPr>
              <a:buNone/>
              <a:defRPr sz="2100" b="0">
                <a:solidFill>
                  <a:srgbClr val="252C3B"/>
                </a:solidFill>
                <a:latin typeface="Franklin Gothic Book"/>
                <a:ea typeface="Franklin Gothic Book"/>
                <a:cs typeface="Franklin Gothic Book"/>
              </a:defRPr>
            </a:lvl8pPr>
            <a:lvl9pPr>
              <a:buNone/>
              <a:defRPr sz="2100" b="0">
                <a:solidFill>
                  <a:srgbClr val="252C3B"/>
                </a:solidFill>
                <a:latin typeface="Franklin Gothic Book"/>
                <a:ea typeface="Franklin Gothic Book"/>
                <a:cs typeface="Franklin Gothic Book"/>
              </a:defRPr>
            </a:lvl9pPr>
          </a:lstStyle>
          <a:p xmlns:a="http://schemas.openxmlformats.org/drawingml/2006/main">
            <a:pPr>
              <a:buNone/>
              <a:defRPr sz="2100" b="0">
                <a:solidFill>
                  <a:srgbClr val="252C3B"/>
                </a:solidFill>
                <a:latin typeface="Franklin Gothic Book"/>
                <a:ea typeface="Franklin Gothic Book"/>
                <a:cs typeface="Franklin Gothic Book"/>
              </a:defRPr>
            </a:pPr>
            <a:r>
              <a:rPr sz="2100" b="0">
                <a:solidFill>
                  <a:srgbClr val="252C3B"/>
                </a:solidFill>
                <a:latin typeface="Franklin Gothic Book"/>
                <a:ea typeface="Franklin Gothic Book"/>
                <a:cs typeface="Franklin Gothic Book"/>
              </a:rPr>
              <a:t>El recall aumenta al reducir los umbrales, pero la baja precisión limita la utilidad de las predicciones.</a:t>
            </a:r>
          </a:p>
        </p:txBody>
      </p:sp>
      <p:sp>
        <p:nvSpPr>
          <p:cNvPr id="6" name="texto-4">
            <a:extLst xmlns:a="http://schemas.openxmlformats.org/drawingml/2006/main">
              <a:ext uri="{FF2B5EF4-FFF2-40B4-BE49-F238E27FC236}">
                <a16:creationId xmlns:a16="http://schemas.microsoft.com/office/drawing/2014/main" id="{EBB1CBEB-D4BC-4DA6-A06D-50C61705E5EE}"/>
              </a:ext>
            </a:extLst>
          </p:cNvPr>
          <p:cNvSpPr>
            <a:spLocks xmlns:a="http://schemas.openxmlformats.org/drawingml/2006/main" noGrp="1"/>
          </p:cNvSpPr>
          <p:nvPr/>
        </p:nvSpPr>
        <p:spPr>
          <a:xfrm xmlns:a="http://schemas.openxmlformats.org/drawingml/2006/main">
            <a:off x="962025" y="4181475"/>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52C3B"/>
                </a:solidFill>
                <a:latin typeface="Franklin Gothic Book"/>
                <a:ea typeface="Franklin Gothic Book"/>
                <a:cs typeface="Franklin Gothic Book"/>
              </a:defRPr>
            </a:defPPr>
            <a:lvl1pPr>
              <a:buNone/>
              <a:defRPr sz="2100" b="0">
                <a:solidFill>
                  <a:srgbClr val="252C3B"/>
                </a:solidFill>
                <a:latin typeface="Franklin Gothic Book"/>
                <a:ea typeface="Franklin Gothic Book"/>
                <a:cs typeface="Franklin Gothic Book"/>
              </a:defRPr>
            </a:lvl1pPr>
            <a:lvl2pPr>
              <a:buNone/>
              <a:defRPr sz="2100" b="0">
                <a:solidFill>
                  <a:srgbClr val="252C3B"/>
                </a:solidFill>
                <a:latin typeface="Franklin Gothic Book"/>
                <a:ea typeface="Franklin Gothic Book"/>
                <a:cs typeface="Franklin Gothic Book"/>
              </a:defRPr>
            </a:lvl2pPr>
            <a:lvl3pPr>
              <a:buNone/>
              <a:defRPr sz="2100" b="0">
                <a:solidFill>
                  <a:srgbClr val="252C3B"/>
                </a:solidFill>
                <a:latin typeface="Franklin Gothic Book"/>
                <a:ea typeface="Franklin Gothic Book"/>
                <a:cs typeface="Franklin Gothic Book"/>
              </a:defRPr>
            </a:lvl3pPr>
            <a:lvl4pPr>
              <a:buNone/>
              <a:defRPr sz="2100" b="0">
                <a:solidFill>
                  <a:srgbClr val="252C3B"/>
                </a:solidFill>
                <a:latin typeface="Franklin Gothic Book"/>
                <a:ea typeface="Franklin Gothic Book"/>
                <a:cs typeface="Franklin Gothic Book"/>
              </a:defRPr>
            </a:lvl4pPr>
            <a:lvl5pPr>
              <a:buNone/>
              <a:defRPr sz="2100" b="0">
                <a:solidFill>
                  <a:srgbClr val="252C3B"/>
                </a:solidFill>
                <a:latin typeface="Franklin Gothic Book"/>
                <a:ea typeface="Franklin Gothic Book"/>
                <a:cs typeface="Franklin Gothic Book"/>
              </a:defRPr>
            </a:lvl5pPr>
            <a:lvl6pPr>
              <a:buNone/>
              <a:defRPr sz="2100" b="0">
                <a:solidFill>
                  <a:srgbClr val="252C3B"/>
                </a:solidFill>
                <a:latin typeface="Franklin Gothic Book"/>
                <a:ea typeface="Franklin Gothic Book"/>
                <a:cs typeface="Franklin Gothic Book"/>
              </a:defRPr>
            </a:lvl6pPr>
            <a:lvl7pPr>
              <a:buNone/>
              <a:defRPr sz="2100" b="0">
                <a:solidFill>
                  <a:srgbClr val="252C3B"/>
                </a:solidFill>
                <a:latin typeface="Franklin Gothic Book"/>
                <a:ea typeface="Franklin Gothic Book"/>
                <a:cs typeface="Franklin Gothic Book"/>
              </a:defRPr>
            </a:lvl7pPr>
            <a:lvl8pPr>
              <a:buNone/>
              <a:defRPr sz="2100" b="0">
                <a:solidFill>
                  <a:srgbClr val="252C3B"/>
                </a:solidFill>
                <a:latin typeface="Franklin Gothic Book"/>
                <a:ea typeface="Franklin Gothic Book"/>
                <a:cs typeface="Franklin Gothic Book"/>
              </a:defRPr>
            </a:lvl8pPr>
            <a:lvl9pPr>
              <a:buNone/>
              <a:defRPr sz="2100" b="0">
                <a:solidFill>
                  <a:srgbClr val="252C3B"/>
                </a:solidFill>
                <a:latin typeface="Franklin Gothic Book"/>
                <a:ea typeface="Franklin Gothic Book"/>
                <a:cs typeface="Franklin Gothic Book"/>
              </a:defRPr>
            </a:lvl9pPr>
          </a:lstStyle>
          <a:p xmlns:a="http://schemas.openxmlformats.org/drawingml/2006/main">
            <a:pPr>
              <a:buNone/>
              <a:defRPr sz="2100" b="0">
                <a:solidFill>
                  <a:srgbClr val="252C3B"/>
                </a:solidFill>
                <a:latin typeface="Franklin Gothic Book"/>
                <a:ea typeface="Franklin Gothic Book"/>
                <a:cs typeface="Franklin Gothic Book"/>
              </a:defRPr>
            </a:pPr>
            <a:r>
              <a:rPr sz="2100" b="0">
                <a:solidFill>
                  <a:srgbClr val="252C3B"/>
                </a:solidFill>
                <a:latin typeface="Franklin Gothic Book"/>
                <a:ea typeface="Franklin Gothic Book"/>
                <a:cs typeface="Franklin Gothic Book"/>
              </a:rPr>
              <a:t>La comparación cubre una configuración de RNA frente a nueve ejecuciones CNN, con imágenes de 28 × 28.</a:t>
            </a:r>
          </a:p>
        </p:txBody>
      </p:sp>
      <p:sp>
        <p:nvSpPr>
          <p:cNvPr id="7" name="texto-5">
            <a:extLst xmlns:a="http://schemas.openxmlformats.org/drawingml/2006/main">
              <a:ext uri="{FF2B5EF4-FFF2-40B4-BE49-F238E27FC236}">
                <a16:creationId xmlns:a16="http://schemas.microsoft.com/office/drawing/2014/main" id="{3E87641A-CA66-416B-ABDC-D02A69664D34}"/>
              </a:ext>
            </a:extLst>
          </p:cNvPr>
          <p:cNvSpPr>
            <a:spLocks xmlns:a="http://schemas.openxmlformats.org/drawingml/2006/main" noGrp="1"/>
          </p:cNvSpPr>
          <p:nvPr/>
        </p:nvSpPr>
        <p:spPr>
          <a:xfrm xmlns:a="http://schemas.openxmlformats.org/drawingml/2006/main">
            <a:off x="962025" y="5153025"/>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00" b="0">
                <a:solidFill>
                  <a:srgbClr val="252C3B"/>
                </a:solidFill>
                <a:latin typeface="Franklin Gothic Book"/>
                <a:ea typeface="Franklin Gothic Book"/>
                <a:cs typeface="Franklin Gothic Book"/>
              </a:defRPr>
            </a:defPPr>
            <a:lvl1pPr>
              <a:buNone/>
              <a:defRPr sz="2100" b="0">
                <a:solidFill>
                  <a:srgbClr val="252C3B"/>
                </a:solidFill>
                <a:latin typeface="Franklin Gothic Book"/>
                <a:ea typeface="Franklin Gothic Book"/>
                <a:cs typeface="Franklin Gothic Book"/>
              </a:defRPr>
            </a:lvl1pPr>
            <a:lvl2pPr>
              <a:buNone/>
              <a:defRPr sz="2100" b="0">
                <a:solidFill>
                  <a:srgbClr val="252C3B"/>
                </a:solidFill>
                <a:latin typeface="Franklin Gothic Book"/>
                <a:ea typeface="Franklin Gothic Book"/>
                <a:cs typeface="Franklin Gothic Book"/>
              </a:defRPr>
            </a:lvl2pPr>
            <a:lvl3pPr>
              <a:buNone/>
              <a:defRPr sz="2100" b="0">
                <a:solidFill>
                  <a:srgbClr val="252C3B"/>
                </a:solidFill>
                <a:latin typeface="Franklin Gothic Book"/>
                <a:ea typeface="Franklin Gothic Book"/>
                <a:cs typeface="Franklin Gothic Book"/>
              </a:defRPr>
            </a:lvl3pPr>
            <a:lvl4pPr>
              <a:buNone/>
              <a:defRPr sz="2100" b="0">
                <a:solidFill>
                  <a:srgbClr val="252C3B"/>
                </a:solidFill>
                <a:latin typeface="Franklin Gothic Book"/>
                <a:ea typeface="Franklin Gothic Book"/>
                <a:cs typeface="Franklin Gothic Book"/>
              </a:defRPr>
            </a:lvl4pPr>
            <a:lvl5pPr>
              <a:buNone/>
              <a:defRPr sz="2100" b="0">
                <a:solidFill>
                  <a:srgbClr val="252C3B"/>
                </a:solidFill>
                <a:latin typeface="Franklin Gothic Book"/>
                <a:ea typeface="Franklin Gothic Book"/>
                <a:cs typeface="Franklin Gothic Book"/>
              </a:defRPr>
            </a:lvl5pPr>
            <a:lvl6pPr>
              <a:buNone/>
              <a:defRPr sz="2100" b="0">
                <a:solidFill>
                  <a:srgbClr val="252C3B"/>
                </a:solidFill>
                <a:latin typeface="Franklin Gothic Book"/>
                <a:ea typeface="Franklin Gothic Book"/>
                <a:cs typeface="Franklin Gothic Book"/>
              </a:defRPr>
            </a:lvl6pPr>
            <a:lvl7pPr>
              <a:buNone/>
              <a:defRPr sz="2100" b="0">
                <a:solidFill>
                  <a:srgbClr val="252C3B"/>
                </a:solidFill>
                <a:latin typeface="Franklin Gothic Book"/>
                <a:ea typeface="Franklin Gothic Book"/>
                <a:cs typeface="Franklin Gothic Book"/>
              </a:defRPr>
            </a:lvl7pPr>
            <a:lvl8pPr>
              <a:buNone/>
              <a:defRPr sz="2100" b="0">
                <a:solidFill>
                  <a:srgbClr val="252C3B"/>
                </a:solidFill>
                <a:latin typeface="Franklin Gothic Book"/>
                <a:ea typeface="Franklin Gothic Book"/>
                <a:cs typeface="Franklin Gothic Book"/>
              </a:defRPr>
            </a:lvl8pPr>
            <a:lvl9pPr>
              <a:buNone/>
              <a:defRPr sz="2100" b="0">
                <a:solidFill>
                  <a:srgbClr val="252C3B"/>
                </a:solidFill>
                <a:latin typeface="Franklin Gothic Book"/>
                <a:ea typeface="Franklin Gothic Book"/>
                <a:cs typeface="Franklin Gothic Book"/>
              </a:defRPr>
            </a:lvl9pPr>
          </a:lstStyle>
          <a:p xmlns:a="http://schemas.openxmlformats.org/drawingml/2006/main">
            <a:pPr>
              <a:buNone/>
              <a:defRPr sz="2100" b="0">
                <a:solidFill>
                  <a:srgbClr val="252C3B"/>
                </a:solidFill>
                <a:latin typeface="Franklin Gothic Book"/>
                <a:ea typeface="Franklin Gothic Book"/>
                <a:cs typeface="Franklin Gothic Book"/>
              </a:defRPr>
            </a:pPr>
            <a:r>
              <a:rPr sz="2100" b="0">
                <a:solidFill>
                  <a:srgbClr val="252C3B"/>
                </a:solidFill>
                <a:latin typeface="Franklin Gothic Book"/>
                <a:ea typeface="Franklin Gothic Book"/>
                <a:cs typeface="Franklin Gothic Book"/>
              </a:rPr>
              <a:t>No hay validación externa. RNA consultó prueba en una versión anterior y existen coincidencias de píxeles entre particiones.</a:t>
            </a:r>
          </a:p>
        </p:txBody>
      </p:sp>
    </p:spTree>
    <p:extLst>
      <p:ext uri="{BB962C8B-B14F-4D97-AF65-F5344CB8AC3E}">
        <p14:creationId xmlns:p14="http://schemas.microsoft.com/office/powerpoint/2010/main" val="4038712202"/>
      </p:ext>
    </p:extLst>
  </p:cSld>
</p:sld>
</file>

<file path=ppt/slides/slide22.xml><?xml version="1.0" encoding="utf-8"?>
<p:sld xmlns:p="http://schemas.openxmlformats.org/presentationml/2006/main">
  <p:cSld>
    <p:bg>
      <p:bgPr>
        <a:blipFill xmlns:a="http://schemas.openxmlformats.org/drawingml/2006/main" rotWithShape="1">
          <a:blip xmlns:r="http://schemas.openxmlformats.org/officeDocument/2006/relationships" r:embed="R9f6c01aff0014009">
            <a:lum/>
          </a:blip>
          <a:srcRect l="0" t="0" r="0" b="0"/>
          <a:stretch>
            <a:fillRect l="0" t="0" r="0" b="0"/>
          </a:stretch>
        </a:blipFill>
      </p:bgPr>
    </p:bg>
    <p:spTree>
      <p:nvGrpSpPr>
        <p:cNvPr id="1" name=""/>
        <p:cNvGrpSpPr/>
        <p:nvPr/>
      </p:nvGrpSpPr>
      <p:grpSpPr>
        <a:xfrm xmlns:a="http://schemas.openxmlformats.org/drawingml/2006/main"/>
      </p:grpSpPr>
      <p:sp>
        <p:nvSpPr>
          <p:cNvPr id="2" name="Título 1">
            <a:extLst xmlns:a="http://schemas.openxmlformats.org/drawingml/2006/main">
              <a:ext uri="{FF2B5EF4-FFF2-40B4-BE49-F238E27FC236}">
                <a16:creationId xmlns:a16="http://schemas.microsoft.com/office/drawing/2014/main" id="{70408CDB-AF99-23DA-5783-49C6FB105570}"/>
              </a:ext>
            </a:extLst>
          </p:cNvPr>
          <p:cNvSpPr>
            <a:spLocks xmlns:a="http://schemas.openxmlformats.org/drawingml/2006/main" noGrp="1"/>
          </p:cNvSpPr>
          <p:nvPr>
            <p:ph type="title" idx="0"/>
          </p:nvPr>
        </p:nvSpPr>
        <p:spPr>
          <a:xfrm xmlns:a="http://schemas.openxmlformats.org/drawingml/2006/main">
            <a:off x="838200" y="303341"/>
            <a:ext cx="9662984" cy="1325563"/>
          </a:xfrm>
        </p:spPr>
        <p:txBody>
          <a:bodyPr xmlns:a="http://schemas.openxmlformats.org/drawingml/2006/main">
            <a:normAutofit fontScale="100000"/>
          </a:bodyPr>
          <a:lstStyle xmlns:a="http://schemas.openxmlformats.org/drawingml/2006/main"/>
          <a:p xmlns:a="http://schemas.openxmlformats.org/drawingml/2006/main">
            <a:r>
              <a:rPr sz="4000">
                <a:solidFill>
                  <a:srgbClr val="143393"/>
                </a:solidFill>
                <a:latin typeface="Franklin Gothic Medium"/>
                <a:ea typeface="Franklin Gothic Medium"/>
                <a:cs typeface="Franklin Gothic Medium"/>
              </a:rPr>
              <a:t>REFERENCIAS</a:t>
            </a:r>
          </a:p>
        </p:txBody>
      </p:sp>
      <p:sp>
        <p:nvSpPr>
          <p:cNvPr id="3" name="texto-1">
            <a:extLst xmlns:a="http://schemas.openxmlformats.org/drawingml/2006/main">
              <a:ext uri="{FF2B5EF4-FFF2-40B4-BE49-F238E27FC236}">
                <a16:creationId xmlns:a16="http://schemas.microsoft.com/office/drawing/2014/main" id="{B8602E8E-1C0D-4ADF-9232-1BAD47B97D0F}"/>
              </a:ext>
            </a:extLst>
          </p:cNvPr>
          <p:cNvSpPr>
            <a:spLocks xmlns:a="http://schemas.openxmlformats.org/drawingml/2006/main" noGrp="1"/>
          </p:cNvSpPr>
          <p:nvPr/>
        </p:nvSpPr>
        <p:spPr>
          <a:xfrm xmlns:a="http://schemas.openxmlformats.org/drawingml/2006/main">
            <a:off x="957929" y="1628870"/>
            <a:ext cx="1038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625" b="0">
                <a:solidFill>
                  <a:srgbClr val="143393"/>
                </a:solidFill>
                <a:latin typeface="Franklin Gothic Book"/>
                <a:ea typeface="Franklin Gothic Book"/>
                <a:cs typeface="Franklin Gothic Book"/>
              </a:defRPr>
            </a:defPPr>
            <a:lvl1pPr>
              <a:buNone/>
              <a:defRPr sz="2625" b="0">
                <a:solidFill>
                  <a:srgbClr val="143393"/>
                </a:solidFill>
                <a:latin typeface="Franklin Gothic Book"/>
                <a:ea typeface="Franklin Gothic Book"/>
                <a:cs typeface="Franklin Gothic Book"/>
              </a:defRPr>
            </a:lvl1pPr>
            <a:lvl2pPr>
              <a:buNone/>
              <a:defRPr sz="2625" b="0">
                <a:solidFill>
                  <a:srgbClr val="143393"/>
                </a:solidFill>
                <a:latin typeface="Franklin Gothic Book"/>
                <a:ea typeface="Franklin Gothic Book"/>
                <a:cs typeface="Franklin Gothic Book"/>
              </a:defRPr>
            </a:lvl2pPr>
            <a:lvl3pPr>
              <a:buNone/>
              <a:defRPr sz="2625" b="0">
                <a:solidFill>
                  <a:srgbClr val="143393"/>
                </a:solidFill>
                <a:latin typeface="Franklin Gothic Book"/>
                <a:ea typeface="Franklin Gothic Book"/>
                <a:cs typeface="Franklin Gothic Book"/>
              </a:defRPr>
            </a:lvl3pPr>
            <a:lvl4pPr>
              <a:buNone/>
              <a:defRPr sz="2625" b="0">
                <a:solidFill>
                  <a:srgbClr val="143393"/>
                </a:solidFill>
                <a:latin typeface="Franklin Gothic Book"/>
                <a:ea typeface="Franklin Gothic Book"/>
                <a:cs typeface="Franklin Gothic Book"/>
              </a:defRPr>
            </a:lvl4pPr>
            <a:lvl5pPr>
              <a:buNone/>
              <a:defRPr sz="2625" b="0">
                <a:solidFill>
                  <a:srgbClr val="143393"/>
                </a:solidFill>
                <a:latin typeface="Franklin Gothic Book"/>
                <a:ea typeface="Franklin Gothic Book"/>
                <a:cs typeface="Franklin Gothic Book"/>
              </a:defRPr>
            </a:lvl5pPr>
            <a:lvl6pPr>
              <a:buNone/>
              <a:defRPr sz="2625" b="0">
                <a:solidFill>
                  <a:srgbClr val="143393"/>
                </a:solidFill>
                <a:latin typeface="Franklin Gothic Book"/>
                <a:ea typeface="Franklin Gothic Book"/>
                <a:cs typeface="Franklin Gothic Book"/>
              </a:defRPr>
            </a:lvl6pPr>
            <a:lvl7pPr>
              <a:buNone/>
              <a:defRPr sz="2625" b="0">
                <a:solidFill>
                  <a:srgbClr val="143393"/>
                </a:solidFill>
                <a:latin typeface="Franklin Gothic Book"/>
                <a:ea typeface="Franklin Gothic Book"/>
                <a:cs typeface="Franklin Gothic Book"/>
              </a:defRPr>
            </a:lvl7pPr>
            <a:lvl8pPr>
              <a:buNone/>
              <a:defRPr sz="2625" b="0">
                <a:solidFill>
                  <a:srgbClr val="143393"/>
                </a:solidFill>
                <a:latin typeface="Franklin Gothic Book"/>
                <a:ea typeface="Franklin Gothic Book"/>
                <a:cs typeface="Franklin Gothic Book"/>
              </a:defRPr>
            </a:lvl8pPr>
            <a:lvl9pPr>
              <a:buNone/>
              <a:defRPr sz="2625" b="0">
                <a:solidFill>
                  <a:srgbClr val="143393"/>
                </a:solidFill>
                <a:latin typeface="Franklin Gothic Book"/>
                <a:ea typeface="Franklin Gothic Book"/>
                <a:cs typeface="Franklin Gothic Book"/>
              </a:defRPr>
            </a:lvl9pPr>
          </a:lstStyle>
          <a:p xmlns:a="http://schemas.openxmlformats.org/drawingml/2006/main">
            <a:pPr>
              <a:buNone/>
              <a:defRPr sz="2625" b="0">
                <a:solidFill>
                  <a:srgbClr val="143393"/>
                </a:solidFill>
                <a:latin typeface="Franklin Gothic Book"/>
                <a:ea typeface="Franklin Gothic Book"/>
                <a:cs typeface="Franklin Gothic Book"/>
              </a:defRPr>
            </a:pPr>
            <a:r>
              <a:rPr sz="2625" b="0">
                <a:solidFill>
                  <a:srgbClr val="143393"/>
                </a:solidFill>
                <a:latin typeface="Franklin Gothic Book"/>
                <a:ea typeface="Franklin Gothic Book"/>
                <a:cs typeface="Franklin Gothic Book"/>
              </a:rPr>
              <a:t>Materiales utilizados en el proyecto</a:t>
            </a:r>
          </a:p>
        </p:txBody>
      </p:sp>
      <p:sp>
        <p:nvSpPr>
          <p:cNvPr id="4" name="texto-2">
            <a:extLst xmlns:a="http://schemas.openxmlformats.org/drawingml/2006/main">
              <a:ext uri="{FF2B5EF4-FFF2-40B4-BE49-F238E27FC236}">
                <a16:creationId xmlns:a16="http://schemas.microsoft.com/office/drawing/2014/main" id="{D5810898-526B-42AF-A3D1-D1E4B566596D}"/>
              </a:ext>
            </a:extLst>
          </p:cNvPr>
          <p:cNvSpPr>
            <a:spLocks xmlns:a="http://schemas.openxmlformats.org/drawingml/2006/main" noGrp="1"/>
          </p:cNvSpPr>
          <p:nvPr/>
        </p:nvSpPr>
        <p:spPr>
          <a:xfrm xmlns:a="http://schemas.openxmlformats.org/drawingml/2006/main">
            <a:off x="962025" y="2238375"/>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Notebooks del equipo: ChestMNIST_RNA_HOG(2) y ChestMNIST_CNN_TensorFlow(1).</a:t>
            </a:r>
          </a:p>
        </p:txBody>
      </p:sp>
      <p:sp>
        <p:nvSpPr>
          <p:cNvPr id="5" name="texto-3">
            <a:extLst xmlns:a="http://schemas.openxmlformats.org/drawingml/2006/main">
              <a:ext uri="{FF2B5EF4-FFF2-40B4-BE49-F238E27FC236}">
                <a16:creationId xmlns:a16="http://schemas.microsoft.com/office/drawing/2014/main" id="{280C7142-29CB-41D8-937F-30CE73B25A7C}"/>
              </a:ext>
            </a:extLst>
          </p:cNvPr>
          <p:cNvSpPr>
            <a:spLocks xmlns:a="http://schemas.openxmlformats.org/drawingml/2006/main" noGrp="1"/>
          </p:cNvSpPr>
          <p:nvPr/>
        </p:nvSpPr>
        <p:spPr>
          <a:xfrm xmlns:a="http://schemas.openxmlformats.org/drawingml/2006/main">
            <a:off x="962025" y="3171825"/>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Dataset: MedMNIST, medmnist.com.</a:t>
            </a:r>
          </a:p>
        </p:txBody>
      </p:sp>
      <p:sp>
        <p:nvSpPr>
          <p:cNvPr id="6" name="texto-4">
            <a:extLst xmlns:a="http://schemas.openxmlformats.org/drawingml/2006/main">
              <a:ext uri="{FF2B5EF4-FFF2-40B4-BE49-F238E27FC236}">
                <a16:creationId xmlns:a16="http://schemas.microsoft.com/office/drawing/2014/main" id="{F6A5BB03-6526-4F7A-A68C-645D4ECF3270}"/>
              </a:ext>
            </a:extLst>
          </p:cNvPr>
          <p:cNvSpPr>
            <a:spLocks xmlns:a="http://schemas.openxmlformats.org/drawingml/2006/main" noGrp="1"/>
          </p:cNvSpPr>
          <p:nvPr/>
        </p:nvSpPr>
        <p:spPr>
          <a:xfrm xmlns:a="http://schemas.openxmlformats.org/drawingml/2006/main">
            <a:off x="962025" y="4105275"/>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Guías docentes: Retina_RNA y Retina_CNN_II_2026.</a:t>
            </a:r>
          </a:p>
        </p:txBody>
      </p:sp>
      <p:sp>
        <p:nvSpPr>
          <p:cNvPr id="7" name="texto-5">
            <a:extLst xmlns:a="http://schemas.openxmlformats.org/drawingml/2006/main">
              <a:ext uri="{FF2B5EF4-FFF2-40B4-BE49-F238E27FC236}">
                <a16:creationId xmlns:a16="http://schemas.microsoft.com/office/drawing/2014/main" id="{424672B3-122F-4596-B224-EE3A8565ED72}"/>
              </a:ext>
            </a:extLst>
          </p:cNvPr>
          <p:cNvSpPr>
            <a:spLocks xmlns:a="http://schemas.openxmlformats.org/drawingml/2006/main" noGrp="1"/>
          </p:cNvSpPr>
          <p:nvPr/>
        </p:nvSpPr>
        <p:spPr>
          <a:xfrm xmlns:a="http://schemas.openxmlformats.org/drawingml/2006/main">
            <a:off x="962025" y="5038725"/>
            <a:ext cx="10287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defPPr>
              <a:defRPr sz="2175" b="0">
                <a:solidFill>
                  <a:srgbClr val="252C3B"/>
                </a:solidFill>
                <a:latin typeface="Franklin Gothic Book"/>
                <a:ea typeface="Franklin Gothic Book"/>
                <a:cs typeface="Franklin Gothic Book"/>
              </a:defRPr>
            </a:defPPr>
            <a:lvl1pPr>
              <a:buNone/>
              <a:defRPr sz="2175" b="0">
                <a:solidFill>
                  <a:srgbClr val="252C3B"/>
                </a:solidFill>
                <a:latin typeface="Franklin Gothic Book"/>
                <a:ea typeface="Franklin Gothic Book"/>
                <a:cs typeface="Franklin Gothic Book"/>
              </a:defRPr>
            </a:lvl1pPr>
            <a:lvl2pPr>
              <a:buNone/>
              <a:defRPr sz="2175" b="0">
                <a:solidFill>
                  <a:srgbClr val="252C3B"/>
                </a:solidFill>
                <a:latin typeface="Franklin Gothic Book"/>
                <a:ea typeface="Franklin Gothic Book"/>
                <a:cs typeface="Franklin Gothic Book"/>
              </a:defRPr>
            </a:lvl2pPr>
            <a:lvl3pPr>
              <a:buNone/>
              <a:defRPr sz="2175" b="0">
                <a:solidFill>
                  <a:srgbClr val="252C3B"/>
                </a:solidFill>
                <a:latin typeface="Franklin Gothic Book"/>
                <a:ea typeface="Franklin Gothic Book"/>
                <a:cs typeface="Franklin Gothic Book"/>
              </a:defRPr>
            </a:lvl3pPr>
            <a:lvl4pPr>
              <a:buNone/>
              <a:defRPr sz="2175" b="0">
                <a:solidFill>
                  <a:srgbClr val="252C3B"/>
                </a:solidFill>
                <a:latin typeface="Franklin Gothic Book"/>
                <a:ea typeface="Franklin Gothic Book"/>
                <a:cs typeface="Franklin Gothic Book"/>
              </a:defRPr>
            </a:lvl4pPr>
            <a:lvl5pPr>
              <a:buNone/>
              <a:defRPr sz="2175" b="0">
                <a:solidFill>
                  <a:srgbClr val="252C3B"/>
                </a:solidFill>
                <a:latin typeface="Franklin Gothic Book"/>
                <a:ea typeface="Franklin Gothic Book"/>
                <a:cs typeface="Franklin Gothic Book"/>
              </a:defRPr>
            </a:lvl5pPr>
            <a:lvl6pPr>
              <a:buNone/>
              <a:defRPr sz="2175" b="0">
                <a:solidFill>
                  <a:srgbClr val="252C3B"/>
                </a:solidFill>
                <a:latin typeface="Franklin Gothic Book"/>
                <a:ea typeface="Franklin Gothic Book"/>
                <a:cs typeface="Franklin Gothic Book"/>
              </a:defRPr>
            </a:lvl6pPr>
            <a:lvl7pPr>
              <a:buNone/>
              <a:defRPr sz="2175" b="0">
                <a:solidFill>
                  <a:srgbClr val="252C3B"/>
                </a:solidFill>
                <a:latin typeface="Franklin Gothic Book"/>
                <a:ea typeface="Franklin Gothic Book"/>
                <a:cs typeface="Franklin Gothic Book"/>
              </a:defRPr>
            </a:lvl7pPr>
            <a:lvl8pPr>
              <a:buNone/>
              <a:defRPr sz="2175" b="0">
                <a:solidFill>
                  <a:srgbClr val="252C3B"/>
                </a:solidFill>
                <a:latin typeface="Franklin Gothic Book"/>
                <a:ea typeface="Franklin Gothic Book"/>
                <a:cs typeface="Franklin Gothic Book"/>
              </a:defRPr>
            </a:lvl8pPr>
            <a:lvl9pPr>
              <a:buNone/>
              <a:defRPr sz="2175" b="0">
                <a:solidFill>
                  <a:srgbClr val="252C3B"/>
                </a:solidFill>
                <a:latin typeface="Franklin Gothic Book"/>
                <a:ea typeface="Franklin Gothic Book"/>
                <a:cs typeface="Franklin Gothic Book"/>
              </a:defRPr>
            </a:lvl9pPr>
          </a:lstStyle>
          <a:p xmlns:a="http://schemas.openxmlformats.org/drawingml/2006/main">
            <a:pPr>
              <a:buNone/>
              <a:defRPr sz="2175" b="0">
                <a:solidFill>
                  <a:srgbClr val="252C3B"/>
                </a:solidFill>
                <a:latin typeface="Franklin Gothic Book"/>
                <a:ea typeface="Franklin Gothic Book"/>
                <a:cs typeface="Franklin Gothic Book"/>
              </a:defRPr>
            </a:pPr>
            <a:r>
              <a:rPr sz="2175" b="0">
                <a:solidFill>
                  <a:srgbClr val="252C3B"/>
                </a:solidFill>
                <a:latin typeface="Franklin Gothic Book"/>
                <a:ea typeface="Franklin Gothic Book"/>
                <a:cs typeface="Franklin Gothic Book"/>
              </a:rPr>
              <a:t>Referencias del compañero: BreastMNIST_2_CNN_CLAHE y BreastMNIST_final-FINAL.</a:t>
            </a:r>
          </a:p>
        </p:txBody>
      </p:sp>
    </p:spTree>
    <p:extLst>
      <p:ext uri="{BB962C8B-B14F-4D97-AF65-F5344CB8AC3E}">
        <p14:creationId xmlns:p14="http://schemas.microsoft.com/office/powerpoint/2010/main" val="4038712202"/>
      </p:ext>
    </p:extLst>
  </p:cSld>
</p:sld>
</file>

<file path=ppt/slides/slide23.xml><?xml version="1.0" encoding="utf-8"?>
<p:sld xmlns:p="http://schemas.openxmlformats.org/presentationml/2006/main">
  <p:cSld>
    <p:bg>
      <p:bgPr>
        <a:blipFill xmlns:a="http://schemas.openxmlformats.org/drawingml/2006/main" rotWithShape="1">
          <a:blip xmlns:r="http://schemas.openxmlformats.org/officeDocument/2006/relationships" r:embed="Re822179c0a924d65">
            <a:lum/>
          </a:blip>
          <a:srcRect l="0" t="0" r="0" b="0"/>
          <a:stretch>
            <a:fillRect l="0" t="0" r="0" b="0"/>
          </a:stretch>
        </a:blip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55146AE-C846-4B7F-B1C0-CF3C629A9E8F}"/>
              </a:ext>
            </a:extLst>
          </p:cNvPr>
          <p:cNvSpPr>
            <a:spLocks xmlns:a="http://schemas.openxmlformats.org/drawingml/2006/main" noGrp="1"/>
          </p:cNvSpPr>
          <p:nvPr/>
        </p:nvSpPr>
        <p:spPr>
          <a:xfrm xmlns:a="http://schemas.openxmlformats.org/drawingml/2006/main">
            <a:off x="2857500" y="666750"/>
            <a:ext cx="647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3000">
                <a:solidFill>
                  <a:srgbClr val="FFFFFF"/>
                </a:solidFill>
                <a:latin typeface="Franklin Gothic Medium"/>
                <a:ea typeface="Franklin Gothic Medium"/>
                <a:cs typeface="Franklin Gothic Medium"/>
              </a:defRPr>
            </a:defPPr>
            <a:lvl1pPr algn="ctr">
              <a:defRPr sz="3000">
                <a:solidFill>
                  <a:srgbClr val="FFFFFF"/>
                </a:solidFill>
                <a:latin typeface="Franklin Gothic Medium"/>
                <a:ea typeface="Franklin Gothic Medium"/>
                <a:cs typeface="Franklin Gothic Medium"/>
              </a:defRPr>
            </a:lvl1pPr>
            <a:lvl2pPr algn="ctr">
              <a:defRPr sz="3000">
                <a:solidFill>
                  <a:srgbClr val="FFFFFF"/>
                </a:solidFill>
                <a:latin typeface="Franklin Gothic Medium"/>
                <a:ea typeface="Franklin Gothic Medium"/>
                <a:cs typeface="Franklin Gothic Medium"/>
              </a:defRPr>
            </a:lvl2pPr>
            <a:lvl3pPr algn="ctr">
              <a:defRPr sz="3000">
                <a:solidFill>
                  <a:srgbClr val="FFFFFF"/>
                </a:solidFill>
                <a:latin typeface="Franklin Gothic Medium"/>
                <a:ea typeface="Franklin Gothic Medium"/>
                <a:cs typeface="Franklin Gothic Medium"/>
              </a:defRPr>
            </a:lvl3pPr>
            <a:lvl4pPr algn="ctr">
              <a:defRPr sz="3000">
                <a:solidFill>
                  <a:srgbClr val="FFFFFF"/>
                </a:solidFill>
                <a:latin typeface="Franklin Gothic Medium"/>
                <a:ea typeface="Franklin Gothic Medium"/>
                <a:cs typeface="Franklin Gothic Medium"/>
              </a:defRPr>
            </a:lvl4pPr>
            <a:lvl5pPr algn="ctr">
              <a:defRPr sz="3000">
                <a:solidFill>
                  <a:srgbClr val="FFFFFF"/>
                </a:solidFill>
                <a:latin typeface="Franklin Gothic Medium"/>
                <a:ea typeface="Franklin Gothic Medium"/>
                <a:cs typeface="Franklin Gothic Medium"/>
              </a:defRPr>
            </a:lvl5pPr>
            <a:lvl6pPr algn="ctr">
              <a:defRPr sz="3000">
                <a:solidFill>
                  <a:srgbClr val="FFFFFF"/>
                </a:solidFill>
                <a:latin typeface="Franklin Gothic Medium"/>
                <a:ea typeface="Franklin Gothic Medium"/>
                <a:cs typeface="Franklin Gothic Medium"/>
              </a:defRPr>
            </a:lvl6pPr>
            <a:lvl7pPr algn="ctr">
              <a:defRPr sz="3000">
                <a:solidFill>
                  <a:srgbClr val="FFFFFF"/>
                </a:solidFill>
                <a:latin typeface="Franklin Gothic Medium"/>
                <a:ea typeface="Franklin Gothic Medium"/>
                <a:cs typeface="Franklin Gothic Medium"/>
              </a:defRPr>
            </a:lvl7pPr>
            <a:lvl8pPr algn="ctr">
              <a:defRPr sz="3000">
                <a:solidFill>
                  <a:srgbClr val="FFFFFF"/>
                </a:solidFill>
                <a:latin typeface="Franklin Gothic Medium"/>
                <a:ea typeface="Franklin Gothic Medium"/>
                <a:cs typeface="Franklin Gothic Medium"/>
              </a:defRPr>
            </a:lvl8pPr>
            <a:lvl9pPr algn="ctr">
              <a:defRPr sz="3000">
                <a:solidFill>
                  <a:srgbClr val="FFFFFF"/>
                </a:solidFill>
                <a:latin typeface="Franklin Gothic Medium"/>
                <a:ea typeface="Franklin Gothic Medium"/>
                <a:cs typeface="Franklin Gothic Medium"/>
              </a:defRPr>
            </a:lvl9pPr>
          </a:lstStyle>
          <a:p xmlns:a="http://schemas.openxmlformats.org/drawingml/2006/main">
            <a:pPr algn="ctr">
              <a:defRPr sz="3000">
                <a:solidFill>
                  <a:srgbClr val="FFFFFF"/>
                </a:solidFill>
                <a:latin typeface="Franklin Gothic Medium"/>
                <a:ea typeface="Franklin Gothic Medium"/>
                <a:cs typeface="Franklin Gothic Medium"/>
              </a:defRPr>
            </a:pPr>
            <a:r>
              <a:rPr sz="3000">
                <a:solidFill>
                  <a:srgbClr val="FFFFFF"/>
                </a:solidFill>
                <a:latin typeface="Franklin Gothic Medium"/>
                <a:ea typeface="Franklin Gothic Medium"/>
                <a:cs typeface="Franklin Gothic Medium"/>
              </a:rPr>
              <a:t>Preguntas</a:t>
            </a:r>
          </a:p>
        </p:txBody>
      </p:sp>
    </p:spTree>
    <p:extLst>
      <p:ext uri="{BB962C8B-B14F-4D97-AF65-F5344CB8AC3E}">
        <p14:creationId xmlns:p14="http://schemas.microsoft.com/office/powerpoint/2010/main" val="762635621"/>
      </p:ext>
    </p:extLst>
  </p:cSl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2026-10-19T14:43:26.5950000Z</dcterms:created>
  <dcterms:modified xsi:type="dcterms:W3CDTF">2026-10-19T14:43:26.5950000Z</dcterms:modified>
</coreProperties>
</file>